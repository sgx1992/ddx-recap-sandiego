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image" Target="../media/image-3-7.jp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jp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jpg"/><Relationship Id="rId5" Type="http://schemas.openxmlformats.org/officeDocument/2006/relationships/image" Target="../media/image-6-5.png"/><Relationship Id="rId6" Type="http://schemas.openxmlformats.org/officeDocument/2006/relationships/image" Target="../media/image-6-6.jp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jp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jp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jp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jp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hero.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50505">
              <a:alpha val="38000"/>
            </a:srgbClr>
          </a:solidFill>
          <a:ln w="12700">
            <a:solidFill>
              <a:srgbClr val="050505"/>
            </a:solidFill>
            <a:prstDash val="solid"/>
          </a:ln>
        </p:spPr>
      </p:sp>
      <p:sp>
        <p:nvSpPr>
          <p:cNvPr id="4" name="Shape 1"/>
          <p:cNvSpPr/>
          <p:nvPr/>
        </p:nvSpPr>
        <p:spPr>
          <a:xfrm>
            <a:off x="0" y="3429000"/>
            <a:ext cx="12191695" cy="3429000"/>
          </a:xfrm>
          <a:prstGeom prst="rect">
            <a:avLst/>
          </a:prstGeom>
          <a:solidFill>
            <a:srgbClr val="050505">
              <a:alpha val="55000"/>
            </a:srgbClr>
          </a:solidFill>
          <a:ln w="12700">
            <a:solidFill>
              <a:srgbClr val="050505"/>
            </a:solidFill>
            <a:prstDash val="solid"/>
          </a:ln>
        </p:spPr>
      </p:sp>
      <p:pic>
        <p:nvPicPr>
          <p:cNvPr id="5" name="Image 1" descr="/private/tmp/claude-501/-Users-sebastiangier-Documents-Claude-Projects-FastForward-Global/e79bb229-0b18-47a3-8b64-a4a670addca8/scratchpad/pptx/img/ddx-wordmark.png">    </p:cNvPr>
          <p:cNvPicPr>
            <a:picLocks noChangeAspect="1"/>
          </p:cNvPicPr>
          <p:nvPr/>
        </p:nvPicPr>
        <p:blipFill>
          <a:blip r:embed="rId2"/>
          <a:stretch>
            <a:fillRect/>
          </a:stretch>
        </p:blipFill>
        <p:spPr>
          <a:xfrm>
            <a:off x="761981" y="507987"/>
            <a:ext cx="952476" cy="413514"/>
          </a:xfrm>
          <a:prstGeom prst="rect">
            <a:avLst/>
          </a:prstGeom>
        </p:spPr>
      </p:pic>
      <p:sp>
        <p:nvSpPr>
          <p:cNvPr id="6" name="Shape 2"/>
          <p:cNvSpPr/>
          <p:nvPr/>
        </p:nvSpPr>
        <p:spPr>
          <a:xfrm>
            <a:off x="761981" y="1962101"/>
            <a:ext cx="190495" cy="19050"/>
          </a:xfrm>
          <a:prstGeom prst="rect">
            <a:avLst/>
          </a:prstGeom>
          <a:solidFill>
            <a:srgbClr val="FFF204"/>
          </a:solidFill>
          <a:ln w="12700">
            <a:solidFill>
              <a:srgbClr val="FFF204"/>
            </a:solidFill>
            <a:prstDash val="solid"/>
          </a:ln>
        </p:spPr>
      </p:sp>
      <p:sp>
        <p:nvSpPr>
          <p:cNvPr id="7" name="Text 3"/>
          <p:cNvSpPr txBox="1"/>
          <p:nvPr/>
        </p:nvSpPr>
        <p:spPr>
          <a:xfrm>
            <a:off x="1041374" y="1904952"/>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CONFERENCE RECAP</a:t>
            </a:r>
            <a:pPr indent="0" marL="0">
              <a:buNone/>
            </a:pPr>
            <a:r>
              <a:rPr lang="en-US" sz="1000" b="1" spc="500" kern="0" dirty="0">
                <a:solidFill>
                  <a:srgbClr val="A6A6A6"/>
                </a:solidFill>
                <a:latin typeface="Arial" pitchFamily="34" charset="0"/>
                <a:ea typeface="Arial" pitchFamily="34" charset="-122"/>
                <a:cs typeface="Arial" pitchFamily="34" charset="-120"/>
              </a:rPr>
              <a:t>   17 SEPTEMBER 2026</a:t>
            </a:r>
            <a:endParaRPr lang="en-US" sz="1000" dirty="0"/>
          </a:p>
        </p:txBody>
      </p:sp>
      <p:sp>
        <p:nvSpPr>
          <p:cNvPr id="8" name="Text 4"/>
          <p:cNvSpPr txBox="1"/>
          <p:nvPr/>
        </p:nvSpPr>
        <p:spPr>
          <a:xfrm>
            <a:off x="761981" y="2095448"/>
            <a:ext cx="10667733" cy="3555911"/>
          </a:xfrm>
          <a:prstGeom prst="rect">
            <a:avLst/>
          </a:prstGeom>
          <a:noFill/>
          <a:ln/>
        </p:spPr>
        <p:txBody>
          <a:bodyPr wrap="square" lIns="0" tIns="0" rIns="0" bIns="0" rtlCol="0" anchor="t"/>
          <a:lstStyle/>
          <a:p>
            <a:pPr indent="0" marL="0">
              <a:lnSpc>
                <a:spcPct val="84000"/>
              </a:lnSpc>
              <a:buNone/>
            </a:pPr>
            <a:r>
              <a:rPr lang="en-US" sz="11200" b="1" spc="-600" kern="0" dirty="0">
                <a:solidFill>
                  <a:srgbClr val="FFFFFF"/>
                </a:solidFill>
                <a:latin typeface="Arial" pitchFamily="34" charset="0"/>
                <a:ea typeface="Arial" pitchFamily="34" charset="-122"/>
                <a:cs typeface="Arial" pitchFamily="34" charset="-120"/>
              </a:rPr>
              <a:t>THE
INFLECTION
</a:t>
            </a:r>
            <a:pPr indent="0" marL="0">
              <a:lnSpc>
                <a:spcPct val="84000"/>
              </a:lnSpc>
              <a:buNone/>
            </a:pPr>
            <a:r>
              <a:rPr lang="en-US" sz="11200" b="1" spc="-600" kern="0" dirty="0">
                <a:solidFill>
                  <a:srgbClr val="FFF204"/>
                </a:solidFill>
                <a:latin typeface="Arial" pitchFamily="34" charset="0"/>
                <a:ea typeface="Arial" pitchFamily="34" charset="-122"/>
                <a:cs typeface="Arial" pitchFamily="34" charset="-120"/>
              </a:rPr>
              <a:t>POINT</a:t>
            </a:r>
            <a:endParaRPr lang="en-US" sz="11200" dirty="0"/>
          </a:p>
        </p:txBody>
      </p:sp>
      <p:sp>
        <p:nvSpPr>
          <p:cNvPr id="9" name="Text 5"/>
          <p:cNvSpPr txBox="1"/>
          <p:nvPr/>
        </p:nvSpPr>
        <p:spPr>
          <a:xfrm>
            <a:off x="761981" y="5714857"/>
            <a:ext cx="10667733" cy="25399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DDX’26 San Diego</a:t>
            </a:r>
            <a:pPr indent="0" marL="0">
              <a:buNone/>
            </a:pPr>
            <a:r>
              <a:rPr lang="en-US" sz="1300" dirty="0">
                <a:solidFill>
                  <a:srgbClr val="DDDDDD"/>
                </a:solidFill>
                <a:latin typeface="Arial" pitchFamily="34" charset="0"/>
                <a:ea typeface="Arial" pitchFamily="34" charset="-122"/>
                <a:cs typeface="Arial" pitchFamily="34" charset="-120"/>
              </a:rPr>
              <a:t>      UC San Diego Park &amp; Market      Design &amp; Product Leaders Exchange on the Future of Digital Innovation</a:t>
            </a:r>
            <a:endParaRPr lang="en-US" sz="1300" dirty="0"/>
          </a:p>
        </p:txBody>
      </p:sp>
      <p:sp>
        <p:nvSpPr>
          <p:cNvPr id="10" name="Shape 6"/>
          <p:cNvSpPr/>
          <p:nvPr/>
        </p:nvSpPr>
        <p:spPr>
          <a:xfrm>
            <a:off x="761981" y="6095848"/>
            <a:ext cx="10667733" cy="0"/>
          </a:xfrm>
          <a:prstGeom prst="line">
            <a:avLst/>
          </a:prstGeom>
          <a:noFill/>
          <a:ln w="9525">
            <a:solidFill>
              <a:srgbClr val="555555"/>
            </a:solidFill>
            <a:prstDash val="solid"/>
          </a:ln>
        </p:spPr>
      </p:sp>
      <p:sp>
        <p:nvSpPr>
          <p:cNvPr id="11" name="Text 7"/>
          <p:cNvSpPr txBox="1"/>
          <p:nvPr/>
        </p:nvSpPr>
        <p:spPr>
          <a:xfrm>
            <a:off x="761981" y="6254594"/>
            <a:ext cx="571486" cy="317492"/>
          </a:xfrm>
          <a:prstGeom prst="rect">
            <a:avLst/>
          </a:prstGeom>
          <a:noFill/>
          <a:ln/>
        </p:spPr>
        <p:txBody>
          <a:bodyPr wrap="square" lIns="0" tIns="0" rIns="0" bIns="0" rtlCol="0" anchor="ctr"/>
          <a:lstStyle/>
          <a:p>
            <a:pPr indent="0" marL="0">
              <a:buNone/>
            </a:pPr>
            <a:r>
              <a:rPr lang="en-US" sz="750" spc="400" kern="0" dirty="0">
                <a:solidFill>
                  <a:srgbClr val="A6A6A6"/>
                </a:solidFill>
                <a:latin typeface="Arial" pitchFamily="34" charset="0"/>
                <a:ea typeface="Arial" pitchFamily="34" charset="-122"/>
                <a:cs typeface="Arial" pitchFamily="34" charset="-120"/>
              </a:rPr>
              <a:t>WITH</a:t>
            </a:r>
            <a:endParaRPr lang="en-US" sz="750" dirty="0"/>
          </a:p>
        </p:txBody>
      </p:sp>
      <p:pic>
        <p:nvPicPr>
          <p:cNvPr id="12" name="Image 2" descr="/private/tmp/claude-501/-Users-sebastiangier-Documents-Claude-Projects-FastForward-Global/e79bb229-0b18-47a3-8b64-a4a670addca8/scratchpad/pptx/img/freshform.png">    </p:cNvPr>
          <p:cNvPicPr>
            <a:picLocks noChangeAspect="1"/>
          </p:cNvPicPr>
          <p:nvPr/>
        </p:nvPicPr>
        <p:blipFill>
          <a:blip r:embed="rId3"/>
          <a:stretch>
            <a:fillRect/>
          </a:stretch>
        </p:blipFill>
        <p:spPr>
          <a:xfrm>
            <a:off x="1714457" y="6286343"/>
            <a:ext cx="1218376" cy="253994"/>
          </a:xfrm>
          <a:prstGeom prst="rect">
            <a:avLst/>
          </a:prstGeom>
        </p:spPr>
      </p:pic>
      <p:pic>
        <p:nvPicPr>
          <p:cNvPr id="13" name="Image 3" descr="/private/tmp/claude-501/-Users-sebastiangier-Documents-Claude-Projects-FastForward-Global/e79bb229-0b18-47a3-8b64-a4a670addca8/scratchpad/pptx/img/bcca.png">    </p:cNvPr>
          <p:cNvPicPr>
            <a:picLocks noChangeAspect="1"/>
          </p:cNvPicPr>
          <p:nvPr/>
        </p:nvPicPr>
        <p:blipFill>
          <a:blip r:embed="rId4"/>
          <a:stretch>
            <a:fillRect/>
          </a:stretch>
        </p:blipFill>
        <p:spPr>
          <a:xfrm>
            <a:off x="3263025" y="6203795"/>
            <a:ext cx="798817" cy="419090"/>
          </a:xfrm>
          <a:prstGeom prst="rect">
            <a:avLst/>
          </a:prstGeom>
        </p:spPr>
      </p:pic>
      <p:pic>
        <p:nvPicPr>
          <p:cNvPr id="14" name="Image 4" descr="/private/tmp/claude-501/-Users-sebastiangier-Documents-Claude-Projects-FastForward-Global/e79bb229-0b18-47a3-8b64-a4a670addca8/scratchpad/pptx/img/sd-design-week.png">    </p:cNvPr>
          <p:cNvPicPr>
            <a:picLocks noChangeAspect="1"/>
          </p:cNvPicPr>
          <p:nvPr/>
        </p:nvPicPr>
        <p:blipFill>
          <a:blip r:embed="rId5"/>
          <a:stretch>
            <a:fillRect/>
          </a:stretch>
        </p:blipFill>
        <p:spPr>
          <a:xfrm>
            <a:off x="4392033" y="6203795"/>
            <a:ext cx="427713" cy="419090"/>
          </a:xfrm>
          <a:prstGeom prst="rect">
            <a:avLst/>
          </a:prstGeom>
        </p:spPr>
      </p:pic>
      <p:pic>
        <p:nvPicPr>
          <p:cNvPr id="15" name="Image 5" descr="/private/tmp/claude-501/-Users-sebastiangier-Documents-Claude-Projects-FastForward-Global/e79bb229-0b18-47a3-8b64-a4a670addca8/scratchpad/pptx/img/dscout.png">    </p:cNvPr>
          <p:cNvPicPr>
            <a:picLocks noChangeAspect="1"/>
          </p:cNvPicPr>
          <p:nvPr/>
        </p:nvPicPr>
        <p:blipFill>
          <a:blip r:embed="rId6"/>
          <a:stretch>
            <a:fillRect/>
          </a:stretch>
        </p:blipFill>
        <p:spPr>
          <a:xfrm>
            <a:off x="5149938" y="6311742"/>
            <a:ext cx="1062866" cy="203195"/>
          </a:xfrm>
          <a:prstGeom prst="rect">
            <a:avLst/>
          </a:prstGeom>
        </p:spPr>
      </p:pic>
      <p:pic>
        <p:nvPicPr>
          <p:cNvPr id="16" name="Image 6" descr="/private/tmp/claude-501/-Users-sebastiangier-Documents-Claude-Projects-FastForward-Global/e79bb229-0b18-47a3-8b64-a4a670addca8/scratchpad/pptx/img/gain.png">    </p:cNvPr>
          <p:cNvPicPr>
            <a:picLocks noChangeAspect="1"/>
          </p:cNvPicPr>
          <p:nvPr/>
        </p:nvPicPr>
        <p:blipFill>
          <a:blip r:embed="rId7"/>
          <a:stretch>
            <a:fillRect/>
          </a:stretch>
        </p:blipFill>
        <p:spPr>
          <a:xfrm>
            <a:off x="6542995" y="6311742"/>
            <a:ext cx="1430180" cy="203195"/>
          </a:xfrm>
          <a:prstGeom prst="rect">
            <a:avLst/>
          </a:prstGeom>
        </p:spPr>
      </p:pic>
      <p:pic>
        <p:nvPicPr>
          <p:cNvPr id="17" name="Image 7" descr="/private/tmp/claude-501/-Users-sebastiangier-Documents-Claude-Projects-FastForward-Global/e79bb229-0b18-47a3-8b64-a4a670addca8/scratchpad/pptx/img/marvin.png">    </p:cNvPr>
          <p:cNvPicPr>
            <a:picLocks noChangeAspect="1"/>
          </p:cNvPicPr>
          <p:nvPr/>
        </p:nvPicPr>
        <p:blipFill>
          <a:blip r:embed="rId8"/>
          <a:stretch>
            <a:fillRect/>
          </a:stretch>
        </p:blipFill>
        <p:spPr>
          <a:xfrm>
            <a:off x="8303367" y="6286343"/>
            <a:ext cx="927278" cy="253994"/>
          </a:xfrm>
          <a:prstGeom prst="rect">
            <a:avLst/>
          </a:prstGeom>
        </p:spPr>
      </p:pic>
      <p:pic>
        <p:nvPicPr>
          <p:cNvPr id="18" name="Image 8" descr="/private/tmp/claude-501/-Users-sebastiangier-Documents-Claude-Projects-FastForward-Global/e79bb229-0b18-47a3-8b64-a4a670addca8/scratchpad/pptx/img/askable.png">    </p:cNvPr>
          <p:cNvPicPr>
            <a:picLocks noChangeAspect="1"/>
          </p:cNvPicPr>
          <p:nvPr/>
        </p:nvPicPr>
        <p:blipFill>
          <a:blip r:embed="rId9"/>
          <a:stretch>
            <a:fillRect/>
          </a:stretch>
        </p:blipFill>
        <p:spPr>
          <a:xfrm>
            <a:off x="9560837" y="6311742"/>
            <a:ext cx="886861" cy="203195"/>
          </a:xfrm>
          <a:prstGeom prst="rect">
            <a:avLst/>
          </a:prstGeom>
        </p:spPr>
      </p:pic>
      <p:pic>
        <p:nvPicPr>
          <p:cNvPr id="19" name="Image 9" descr="/private/tmp/claude-501/-Users-sebastiangier-Documents-Claude-Projects-FastForward-Global/e79bb229-0b18-47a3-8b64-a4a670addca8/scratchpad/pptx/img/mondo-robot.png">    </p:cNvPr>
          <p:cNvPicPr>
            <a:picLocks noChangeAspect="1"/>
          </p:cNvPicPr>
          <p:nvPr/>
        </p:nvPicPr>
        <p:blipFill>
          <a:blip r:embed="rId10"/>
          <a:stretch>
            <a:fillRect/>
          </a:stretch>
        </p:blipFill>
        <p:spPr>
          <a:xfrm>
            <a:off x="10777890" y="6286343"/>
            <a:ext cx="638735" cy="2539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02</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IN BRIEF</a:t>
            </a:r>
            <a:endParaRPr lang="en-US" sz="1000" dirty="0"/>
          </a:p>
        </p:txBody>
      </p:sp>
      <p:sp>
        <p:nvSpPr>
          <p:cNvPr id="7" name="Text 4"/>
          <p:cNvSpPr txBox="1"/>
          <p:nvPr/>
        </p:nvSpPr>
        <p:spPr>
          <a:xfrm>
            <a:off x="761981" y="863578"/>
            <a:ext cx="10667733" cy="1254729"/>
          </a:xfrm>
          <a:prstGeom prst="rect">
            <a:avLst/>
          </a:prstGeom>
          <a:noFill/>
          <a:ln/>
        </p:spPr>
        <p:txBody>
          <a:bodyPr wrap="square" lIns="0" tIns="0" rIns="0" bIns="0" rtlCol="0" anchor="t"/>
          <a:lstStyle/>
          <a:p>
            <a:pPr indent="0" marL="0">
              <a:lnSpc>
                <a:spcPct val="92000"/>
              </a:lnSpc>
              <a:buNone/>
            </a:pPr>
            <a:r>
              <a:rPr lang="en-US" sz="5200" b="1" spc="-400" kern="0" dirty="0">
                <a:solidFill>
                  <a:srgbClr val="FFFFFF"/>
                </a:solidFill>
                <a:latin typeface="Arial" pitchFamily="34" charset="0"/>
                <a:ea typeface="Arial" pitchFamily="34" charset="-122"/>
                <a:cs typeface="Arial" pitchFamily="34" charset="-120"/>
              </a:rPr>
              <a:t>ONE DAY, THREE STAGES,</a:t>
            </a:r>
            <a:endParaRPr lang="en-US" sz="5200" dirty="0"/>
          </a:p>
          <a:p>
            <a:pPr indent="0" marL="0">
              <a:lnSpc>
                <a:spcPct val="92000"/>
              </a:lnSpc>
              <a:buNone/>
            </a:pPr>
            <a:r>
              <a:rPr lang="en-US" sz="5200" b="1" spc="-400" kern="0" dirty="0">
                <a:solidFill>
                  <a:srgbClr val="FFFFFF"/>
                </a:solidFill>
                <a:latin typeface="Arial" pitchFamily="34" charset="0"/>
                <a:ea typeface="Arial" pitchFamily="34" charset="-122"/>
                <a:cs typeface="Arial" pitchFamily="34" charset="-120"/>
              </a:rPr>
              <a:t>ONE QUESTION</a:t>
            </a:r>
            <a:endParaRPr lang="en-US" sz="5200" dirty="0"/>
          </a:p>
        </p:txBody>
      </p:sp>
      <p:sp>
        <p:nvSpPr>
          <p:cNvPr id="8" name="Text 5"/>
          <p:cNvSpPr txBox="1"/>
          <p:nvPr/>
        </p:nvSpPr>
        <p:spPr>
          <a:xfrm>
            <a:off x="761981" y="2387540"/>
            <a:ext cx="4825879" cy="1269968"/>
          </a:xfrm>
          <a:prstGeom prst="rect">
            <a:avLst/>
          </a:prstGeom>
          <a:noFill/>
          <a:ln/>
        </p:spPr>
        <p:txBody>
          <a:bodyPr wrap="square" lIns="0" tIns="0" rIns="0" bIns="0" rtlCol="0" anchor="t"/>
          <a:lstStyle/>
          <a:p>
            <a:pPr indent="0" marL="0">
              <a:lnSpc>
                <a:spcPct val="120000"/>
              </a:lnSpc>
              <a:buNone/>
            </a:pPr>
            <a:r>
              <a:rPr lang="en-US" sz="1700" dirty="0">
                <a:solidFill>
                  <a:srgbClr val="FFFFFF"/>
                </a:solidFill>
                <a:latin typeface="Arial" pitchFamily="34" charset="0"/>
                <a:ea typeface="Arial" pitchFamily="34" charset="-122"/>
                <a:cs typeface="Arial" pitchFamily="34" charset="-120"/>
              </a:rPr>
              <a:t>If AI can produce “good enough” design on demand, what is the job of a design and product leader now?</a:t>
            </a:r>
            <a:endParaRPr lang="en-US" sz="1700" dirty="0"/>
          </a:p>
        </p:txBody>
      </p:sp>
      <p:sp>
        <p:nvSpPr>
          <p:cNvPr id="9" name="Text 6"/>
          <p:cNvSpPr txBox="1"/>
          <p:nvPr/>
        </p:nvSpPr>
        <p:spPr>
          <a:xfrm>
            <a:off x="761981" y="3721007"/>
            <a:ext cx="4825879" cy="1650959"/>
          </a:xfrm>
          <a:prstGeom prst="rect">
            <a:avLst/>
          </a:prstGeom>
          <a:noFill/>
          <a:ln/>
        </p:spPr>
        <p:txBody>
          <a:bodyPr wrap="square" lIns="0" tIns="0" rIns="0" bIns="0" rtlCol="0" anchor="t"/>
          <a:lstStyle/>
          <a:p>
            <a:pPr indent="0" marL="0">
              <a:lnSpc>
                <a:spcPct val="125000"/>
              </a:lnSpc>
              <a:buNone/>
            </a:pPr>
            <a:r>
              <a:rPr lang="en-US" sz="1150" dirty="0">
                <a:solidFill>
                  <a:srgbClr val="BBBBBB"/>
                </a:solidFill>
                <a:latin typeface="Arial" pitchFamily="34" charset="0"/>
                <a:ea typeface="Arial" pitchFamily="34" charset="-122"/>
                <a:cs typeface="Arial" pitchFamily="34" charset="-120"/>
              </a:rPr>
              <a:t>Twenty-five leaders from Adobe, Google, IDEO, Webflow, Otter.ai, Target, Netflix, Careem, TaylorMade, Marvin, Dscout and the Obama White House took the question to a room that came to argue back. Don Norman opened the day; three enterprise design leaders closed it by comparing the expectations of the role with its reality in 2026.</a:t>
            </a:r>
            <a:endParaRPr lang="en-US" sz="1150" dirty="0"/>
          </a:p>
        </p:txBody>
      </p:sp>
      <p:sp>
        <p:nvSpPr>
          <p:cNvPr id="10" name="Shape 7"/>
          <p:cNvSpPr/>
          <p:nvPr/>
        </p:nvSpPr>
        <p:spPr>
          <a:xfrm>
            <a:off x="6984825" y="2387540"/>
            <a:ext cx="2254194" cy="1047724"/>
          </a:xfrm>
          <a:prstGeom prst="rect">
            <a:avLst/>
          </a:prstGeom>
          <a:solidFill>
            <a:srgbClr val="050505"/>
          </a:solidFill>
          <a:ln w="9525">
            <a:solidFill>
              <a:srgbClr val="242424"/>
            </a:solidFill>
            <a:prstDash val="solid"/>
          </a:ln>
        </p:spPr>
      </p:sp>
      <p:sp>
        <p:nvSpPr>
          <p:cNvPr id="11" name="Text 8"/>
          <p:cNvSpPr txBox="1"/>
          <p:nvPr/>
        </p:nvSpPr>
        <p:spPr>
          <a:xfrm>
            <a:off x="7162621" y="2539937"/>
            <a:ext cx="2000200" cy="507987"/>
          </a:xfrm>
          <a:prstGeom prst="rect">
            <a:avLst/>
          </a:prstGeom>
          <a:noFill/>
          <a:ln/>
        </p:spPr>
        <p:txBody>
          <a:bodyPr wrap="square" lIns="0" tIns="0" rIns="0" bIns="0" rtlCol="0" anchor="t"/>
          <a:lstStyle/>
          <a:p>
            <a:pPr indent="0" marL="0">
              <a:buNone/>
            </a:pPr>
            <a:r>
              <a:rPr lang="en-US" sz="3800" spc="-200" kern="0" dirty="0">
                <a:solidFill>
                  <a:srgbClr val="FFF204"/>
                </a:solidFill>
                <a:latin typeface="Arial" pitchFamily="34" charset="0"/>
                <a:ea typeface="Arial" pitchFamily="34" charset="-122"/>
                <a:cs typeface="Arial" pitchFamily="34" charset="-120"/>
              </a:rPr>
              <a:t>25</a:t>
            </a:r>
            <a:endParaRPr lang="en-US" sz="3800" dirty="0"/>
          </a:p>
        </p:txBody>
      </p:sp>
      <p:sp>
        <p:nvSpPr>
          <p:cNvPr id="12" name="Text 9"/>
          <p:cNvSpPr txBox="1"/>
          <p:nvPr/>
        </p:nvSpPr>
        <p:spPr>
          <a:xfrm>
            <a:off x="7162621" y="3098723"/>
            <a:ext cx="2000200" cy="190495"/>
          </a:xfrm>
          <a:prstGeom prst="rect">
            <a:avLst/>
          </a:prstGeom>
          <a:noFill/>
          <a:ln/>
        </p:spPr>
        <p:txBody>
          <a:bodyPr wrap="square" lIns="0" tIns="0" rIns="0" bIns="0" rtlCol="0" anchor="ctr"/>
          <a:lstStyle/>
          <a:p>
            <a:pPr indent="0" marL="0">
              <a:buNone/>
            </a:pPr>
            <a:r>
              <a:rPr lang="en-US" sz="800" spc="300" kern="0" dirty="0">
                <a:solidFill>
                  <a:srgbClr val="9A9A9A"/>
                </a:solidFill>
                <a:latin typeface="Arial" pitchFamily="34" charset="0"/>
                <a:ea typeface="Arial" pitchFamily="34" charset="-122"/>
                <a:cs typeface="Arial" pitchFamily="34" charset="-120"/>
              </a:rPr>
              <a:t>SPEAKERS ON STAGE</a:t>
            </a:r>
            <a:endParaRPr lang="en-US" sz="800" dirty="0"/>
          </a:p>
        </p:txBody>
      </p:sp>
      <p:sp>
        <p:nvSpPr>
          <p:cNvPr id="13" name="Shape 10"/>
          <p:cNvSpPr/>
          <p:nvPr/>
        </p:nvSpPr>
        <p:spPr>
          <a:xfrm>
            <a:off x="9239019" y="2387540"/>
            <a:ext cx="2254194" cy="1047724"/>
          </a:xfrm>
          <a:prstGeom prst="rect">
            <a:avLst/>
          </a:prstGeom>
          <a:solidFill>
            <a:srgbClr val="050505"/>
          </a:solidFill>
          <a:ln w="9525">
            <a:solidFill>
              <a:srgbClr val="242424"/>
            </a:solidFill>
            <a:prstDash val="solid"/>
          </a:ln>
        </p:spPr>
      </p:sp>
      <p:sp>
        <p:nvSpPr>
          <p:cNvPr id="14" name="Text 11"/>
          <p:cNvSpPr txBox="1"/>
          <p:nvPr/>
        </p:nvSpPr>
        <p:spPr>
          <a:xfrm>
            <a:off x="9416815" y="2539937"/>
            <a:ext cx="2000200" cy="507987"/>
          </a:xfrm>
          <a:prstGeom prst="rect">
            <a:avLst/>
          </a:prstGeom>
          <a:noFill/>
          <a:ln/>
        </p:spPr>
        <p:txBody>
          <a:bodyPr wrap="square" lIns="0" tIns="0" rIns="0" bIns="0" rtlCol="0" anchor="t"/>
          <a:lstStyle/>
          <a:p>
            <a:pPr indent="0" marL="0">
              <a:buNone/>
            </a:pPr>
            <a:r>
              <a:rPr lang="en-US" sz="3800" spc="-200" kern="0" dirty="0">
                <a:solidFill>
                  <a:srgbClr val="FFFFFF"/>
                </a:solidFill>
                <a:latin typeface="Arial" pitchFamily="34" charset="0"/>
                <a:ea typeface="Arial" pitchFamily="34" charset="-122"/>
                <a:cs typeface="Arial" pitchFamily="34" charset="-120"/>
              </a:rPr>
              <a:t>3</a:t>
            </a:r>
            <a:endParaRPr lang="en-US" sz="3800" dirty="0"/>
          </a:p>
        </p:txBody>
      </p:sp>
      <p:sp>
        <p:nvSpPr>
          <p:cNvPr id="15" name="Text 12"/>
          <p:cNvSpPr txBox="1"/>
          <p:nvPr/>
        </p:nvSpPr>
        <p:spPr>
          <a:xfrm>
            <a:off x="9416815" y="3098723"/>
            <a:ext cx="2000200" cy="190495"/>
          </a:xfrm>
          <a:prstGeom prst="rect">
            <a:avLst/>
          </a:prstGeom>
          <a:noFill/>
          <a:ln/>
        </p:spPr>
        <p:txBody>
          <a:bodyPr wrap="square" lIns="0" tIns="0" rIns="0" bIns="0" rtlCol="0" anchor="ctr"/>
          <a:lstStyle/>
          <a:p>
            <a:pPr indent="0" marL="0">
              <a:buNone/>
            </a:pPr>
            <a:r>
              <a:rPr lang="en-US" sz="800" spc="300" kern="0" dirty="0">
                <a:solidFill>
                  <a:srgbClr val="9A9A9A"/>
                </a:solidFill>
                <a:latin typeface="Arial" pitchFamily="34" charset="0"/>
                <a:ea typeface="Arial" pitchFamily="34" charset="-122"/>
                <a:cs typeface="Arial" pitchFamily="34" charset="-120"/>
              </a:rPr>
              <a:t>STAGES IN PARALLEL</a:t>
            </a:r>
            <a:endParaRPr lang="en-US" sz="800" dirty="0"/>
          </a:p>
        </p:txBody>
      </p:sp>
      <p:sp>
        <p:nvSpPr>
          <p:cNvPr id="16" name="Shape 13"/>
          <p:cNvSpPr/>
          <p:nvPr/>
        </p:nvSpPr>
        <p:spPr>
          <a:xfrm>
            <a:off x="6984825" y="3435264"/>
            <a:ext cx="2254194" cy="1047724"/>
          </a:xfrm>
          <a:prstGeom prst="rect">
            <a:avLst/>
          </a:prstGeom>
          <a:solidFill>
            <a:srgbClr val="050505"/>
          </a:solidFill>
          <a:ln w="9525">
            <a:solidFill>
              <a:srgbClr val="242424"/>
            </a:solidFill>
            <a:prstDash val="solid"/>
          </a:ln>
        </p:spPr>
      </p:sp>
      <p:sp>
        <p:nvSpPr>
          <p:cNvPr id="17" name="Text 14"/>
          <p:cNvSpPr txBox="1"/>
          <p:nvPr/>
        </p:nvSpPr>
        <p:spPr>
          <a:xfrm>
            <a:off x="7162621" y="3587660"/>
            <a:ext cx="2000200" cy="507987"/>
          </a:xfrm>
          <a:prstGeom prst="rect">
            <a:avLst/>
          </a:prstGeom>
          <a:noFill/>
          <a:ln/>
        </p:spPr>
        <p:txBody>
          <a:bodyPr wrap="square" lIns="0" tIns="0" rIns="0" bIns="0" rtlCol="0" anchor="t"/>
          <a:lstStyle/>
          <a:p>
            <a:pPr indent="0" marL="0">
              <a:buNone/>
            </a:pPr>
            <a:r>
              <a:rPr lang="en-US" sz="3800" spc="-200" kern="0" dirty="0">
                <a:solidFill>
                  <a:srgbClr val="FFFFFF"/>
                </a:solidFill>
                <a:latin typeface="Arial" pitchFamily="34" charset="0"/>
                <a:ea typeface="Arial" pitchFamily="34" charset="-122"/>
                <a:cs typeface="Arial" pitchFamily="34" charset="-120"/>
              </a:rPr>
              <a:t>3 · 6</a:t>
            </a:r>
            <a:endParaRPr lang="en-US" sz="3800" dirty="0"/>
          </a:p>
        </p:txBody>
      </p:sp>
      <p:sp>
        <p:nvSpPr>
          <p:cNvPr id="18" name="Text 15"/>
          <p:cNvSpPr txBox="1"/>
          <p:nvPr/>
        </p:nvSpPr>
        <p:spPr>
          <a:xfrm>
            <a:off x="7162621" y="4146446"/>
            <a:ext cx="2000200" cy="190495"/>
          </a:xfrm>
          <a:prstGeom prst="rect">
            <a:avLst/>
          </a:prstGeom>
          <a:noFill/>
          <a:ln/>
        </p:spPr>
        <p:txBody>
          <a:bodyPr wrap="square" lIns="0" tIns="0" rIns="0" bIns="0" rtlCol="0" anchor="ctr"/>
          <a:lstStyle/>
          <a:p>
            <a:pPr indent="0" marL="0">
              <a:buNone/>
            </a:pPr>
            <a:r>
              <a:rPr lang="en-US" sz="800" spc="300" kern="0" dirty="0">
                <a:solidFill>
                  <a:srgbClr val="9A9A9A"/>
                </a:solidFill>
                <a:latin typeface="Arial" pitchFamily="34" charset="0"/>
                <a:ea typeface="Arial" pitchFamily="34" charset="-122"/>
                <a:cs typeface="Arial" pitchFamily="34" charset="-120"/>
              </a:rPr>
              <a:t>PANELS · WORKSHOPS</a:t>
            </a:r>
            <a:endParaRPr lang="en-US" sz="800" dirty="0"/>
          </a:p>
        </p:txBody>
      </p:sp>
      <p:sp>
        <p:nvSpPr>
          <p:cNvPr id="19" name="Shape 16"/>
          <p:cNvSpPr/>
          <p:nvPr/>
        </p:nvSpPr>
        <p:spPr>
          <a:xfrm>
            <a:off x="9239019" y="3435264"/>
            <a:ext cx="2254194" cy="1047724"/>
          </a:xfrm>
          <a:prstGeom prst="rect">
            <a:avLst/>
          </a:prstGeom>
          <a:solidFill>
            <a:srgbClr val="050505"/>
          </a:solidFill>
          <a:ln w="9525">
            <a:solidFill>
              <a:srgbClr val="242424"/>
            </a:solidFill>
            <a:prstDash val="solid"/>
          </a:ln>
        </p:spPr>
      </p:sp>
      <p:sp>
        <p:nvSpPr>
          <p:cNvPr id="20" name="Text 17"/>
          <p:cNvSpPr txBox="1"/>
          <p:nvPr/>
        </p:nvSpPr>
        <p:spPr>
          <a:xfrm>
            <a:off x="9416815" y="3587660"/>
            <a:ext cx="2000200" cy="507987"/>
          </a:xfrm>
          <a:prstGeom prst="rect">
            <a:avLst/>
          </a:prstGeom>
          <a:noFill/>
          <a:ln/>
        </p:spPr>
        <p:txBody>
          <a:bodyPr wrap="square" lIns="0" tIns="0" rIns="0" bIns="0" rtlCol="0" anchor="t"/>
          <a:lstStyle/>
          <a:p>
            <a:pPr indent="0" marL="0">
              <a:buNone/>
            </a:pPr>
            <a:r>
              <a:rPr lang="en-US" sz="3800" spc="-200" kern="0" dirty="0">
                <a:solidFill>
                  <a:srgbClr val="FFFFFF"/>
                </a:solidFill>
                <a:latin typeface="Arial" pitchFamily="34" charset="0"/>
                <a:ea typeface="Arial" pitchFamily="34" charset="-122"/>
                <a:cs typeface="Arial" pitchFamily="34" charset="-120"/>
              </a:rPr>
              <a:t>9</a:t>
            </a:r>
            <a:endParaRPr lang="en-US" sz="3800" dirty="0"/>
          </a:p>
        </p:txBody>
      </p:sp>
      <p:sp>
        <p:nvSpPr>
          <p:cNvPr id="21" name="Text 18"/>
          <p:cNvSpPr txBox="1"/>
          <p:nvPr/>
        </p:nvSpPr>
        <p:spPr>
          <a:xfrm>
            <a:off x="9416815" y="4146446"/>
            <a:ext cx="2000200" cy="190495"/>
          </a:xfrm>
          <a:prstGeom prst="rect">
            <a:avLst/>
          </a:prstGeom>
          <a:noFill/>
          <a:ln/>
        </p:spPr>
        <p:txBody>
          <a:bodyPr wrap="square" lIns="0" tIns="0" rIns="0" bIns="0" rtlCol="0" anchor="ctr"/>
          <a:lstStyle/>
          <a:p>
            <a:pPr indent="0" marL="0">
              <a:buNone/>
            </a:pPr>
            <a:r>
              <a:rPr lang="en-US" sz="800" spc="300" kern="0" dirty="0">
                <a:solidFill>
                  <a:srgbClr val="9A9A9A"/>
                </a:solidFill>
                <a:latin typeface="Arial" pitchFamily="34" charset="0"/>
                <a:ea typeface="Arial" pitchFamily="34" charset="-122"/>
                <a:cs typeface="Arial" pitchFamily="34" charset="-120"/>
              </a:rPr>
              <a:t>TABLE TALKS</a:t>
            </a:r>
            <a:endParaRPr lang="en-US" sz="800" dirty="0"/>
          </a:p>
        </p:txBody>
      </p:sp>
      <p:sp>
        <p:nvSpPr>
          <p:cNvPr id="22" name="Shape 19"/>
          <p:cNvSpPr/>
          <p:nvPr/>
        </p:nvSpPr>
        <p:spPr>
          <a:xfrm>
            <a:off x="6984825" y="4482988"/>
            <a:ext cx="2254194" cy="1047724"/>
          </a:xfrm>
          <a:prstGeom prst="rect">
            <a:avLst/>
          </a:prstGeom>
          <a:solidFill>
            <a:srgbClr val="050505"/>
          </a:solidFill>
          <a:ln w="9525">
            <a:solidFill>
              <a:srgbClr val="242424"/>
            </a:solidFill>
            <a:prstDash val="solid"/>
          </a:ln>
        </p:spPr>
      </p:sp>
      <p:sp>
        <p:nvSpPr>
          <p:cNvPr id="23" name="Text 20"/>
          <p:cNvSpPr txBox="1"/>
          <p:nvPr/>
        </p:nvSpPr>
        <p:spPr>
          <a:xfrm>
            <a:off x="7162621" y="4635384"/>
            <a:ext cx="2000200" cy="507987"/>
          </a:xfrm>
          <a:prstGeom prst="rect">
            <a:avLst/>
          </a:prstGeom>
          <a:noFill/>
          <a:ln/>
        </p:spPr>
        <p:txBody>
          <a:bodyPr wrap="square" lIns="0" tIns="0" rIns="0" bIns="0" rtlCol="0" anchor="t"/>
          <a:lstStyle/>
          <a:p>
            <a:pPr indent="0" marL="0">
              <a:buNone/>
            </a:pPr>
            <a:r>
              <a:rPr lang="en-US" sz="3800" spc="-200" kern="0" dirty="0">
                <a:solidFill>
                  <a:srgbClr val="FFF204"/>
                </a:solidFill>
                <a:latin typeface="Arial" pitchFamily="34" charset="0"/>
                <a:ea typeface="Arial" pitchFamily="34" charset="-122"/>
                <a:cs typeface="Arial" pitchFamily="34" charset="-120"/>
              </a:rPr>
              <a:t>400+</a:t>
            </a:r>
            <a:endParaRPr lang="en-US" sz="3800" dirty="0"/>
          </a:p>
        </p:txBody>
      </p:sp>
      <p:sp>
        <p:nvSpPr>
          <p:cNvPr id="24" name="Text 21"/>
          <p:cNvSpPr txBox="1"/>
          <p:nvPr/>
        </p:nvSpPr>
        <p:spPr>
          <a:xfrm>
            <a:off x="7162621" y="5194170"/>
            <a:ext cx="2000200" cy="190495"/>
          </a:xfrm>
          <a:prstGeom prst="rect">
            <a:avLst/>
          </a:prstGeom>
          <a:noFill/>
          <a:ln/>
        </p:spPr>
        <p:txBody>
          <a:bodyPr wrap="square" lIns="0" tIns="0" rIns="0" bIns="0" rtlCol="0" anchor="ctr"/>
          <a:lstStyle/>
          <a:p>
            <a:pPr indent="0" marL="0">
              <a:buNone/>
            </a:pPr>
            <a:r>
              <a:rPr lang="en-US" sz="800" spc="300" kern="0" dirty="0">
                <a:solidFill>
                  <a:srgbClr val="9A9A9A"/>
                </a:solidFill>
                <a:latin typeface="Arial" pitchFamily="34" charset="0"/>
                <a:ea typeface="Arial" pitchFamily="34" charset="-122"/>
                <a:cs typeface="Arial" pitchFamily="34" charset="-120"/>
              </a:rPr>
              <a:t>LEADERS REGISTERED</a:t>
            </a:r>
            <a:endParaRPr lang="en-US" sz="800" dirty="0"/>
          </a:p>
        </p:txBody>
      </p:sp>
      <p:sp>
        <p:nvSpPr>
          <p:cNvPr id="25" name="Shape 22"/>
          <p:cNvSpPr/>
          <p:nvPr/>
        </p:nvSpPr>
        <p:spPr>
          <a:xfrm>
            <a:off x="9239019" y="4482988"/>
            <a:ext cx="2254194" cy="1047724"/>
          </a:xfrm>
          <a:prstGeom prst="rect">
            <a:avLst/>
          </a:prstGeom>
          <a:solidFill>
            <a:srgbClr val="050505"/>
          </a:solidFill>
          <a:ln w="9525">
            <a:solidFill>
              <a:srgbClr val="242424"/>
            </a:solidFill>
            <a:prstDash val="solid"/>
          </a:ln>
        </p:spPr>
      </p:sp>
      <p:sp>
        <p:nvSpPr>
          <p:cNvPr id="26" name="Text 23"/>
          <p:cNvSpPr txBox="1"/>
          <p:nvPr/>
        </p:nvSpPr>
        <p:spPr>
          <a:xfrm>
            <a:off x="9416815" y="4635384"/>
            <a:ext cx="2000200" cy="507987"/>
          </a:xfrm>
          <a:prstGeom prst="rect">
            <a:avLst/>
          </a:prstGeom>
          <a:noFill/>
          <a:ln/>
        </p:spPr>
        <p:txBody>
          <a:bodyPr wrap="square" lIns="0" tIns="0" rIns="0" bIns="0" rtlCol="0" anchor="t"/>
          <a:lstStyle/>
          <a:p>
            <a:pPr indent="0" marL="0">
              <a:buNone/>
            </a:pPr>
            <a:r>
              <a:rPr lang="en-US" sz="3800" spc="-200" kern="0" dirty="0">
                <a:solidFill>
                  <a:srgbClr val="FFFFFF"/>
                </a:solidFill>
                <a:latin typeface="Arial" pitchFamily="34" charset="0"/>
                <a:ea typeface="Arial" pitchFamily="34" charset="-122"/>
                <a:cs typeface="Arial" pitchFamily="34" charset="-120"/>
              </a:rPr>
              <a:t>4,000+</a:t>
            </a:r>
            <a:endParaRPr lang="en-US" sz="3800" dirty="0"/>
          </a:p>
        </p:txBody>
      </p:sp>
      <p:sp>
        <p:nvSpPr>
          <p:cNvPr id="27" name="Text 24"/>
          <p:cNvSpPr txBox="1"/>
          <p:nvPr/>
        </p:nvSpPr>
        <p:spPr>
          <a:xfrm>
            <a:off x="9416815" y="5194170"/>
            <a:ext cx="2000200" cy="190495"/>
          </a:xfrm>
          <a:prstGeom prst="rect">
            <a:avLst/>
          </a:prstGeom>
          <a:noFill/>
          <a:ln/>
        </p:spPr>
        <p:txBody>
          <a:bodyPr wrap="square" lIns="0" tIns="0" rIns="0" bIns="0" rtlCol="0" anchor="ctr"/>
          <a:lstStyle/>
          <a:p>
            <a:pPr indent="0" marL="0">
              <a:buNone/>
            </a:pPr>
            <a:r>
              <a:rPr lang="en-US" sz="800" spc="300" kern="0" dirty="0">
                <a:solidFill>
                  <a:srgbClr val="9A9A9A"/>
                </a:solidFill>
                <a:latin typeface="Arial" pitchFamily="34" charset="0"/>
                <a:ea typeface="Arial" pitchFamily="34" charset="-122"/>
                <a:cs typeface="Arial" pitchFamily="34" charset="-120"/>
              </a:rPr>
              <a:t>DDX ALUMNI WORLDWIDE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03</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THE ROOM</a:t>
            </a:r>
            <a:pPr indent="0" marL="0">
              <a:buNone/>
            </a:pPr>
            <a:r>
              <a:rPr lang="en-US" sz="1000" b="1" spc="500" kern="0" dirty="0">
                <a:solidFill>
                  <a:srgbClr val="A6A6A6"/>
                </a:solidFill>
                <a:latin typeface="Arial" pitchFamily="34" charset="0"/>
                <a:ea typeface="Arial" pitchFamily="34" charset="-122"/>
                <a:cs typeface="Arial" pitchFamily="34" charset="-120"/>
              </a:rPr>
              <a:t>   PHOTOS BY DESMOND CHUA AND NICOLE GOSÉ</a:t>
            </a:r>
            <a:endParaRPr lang="en-US" sz="1000" dirty="0"/>
          </a:p>
        </p:txBody>
      </p:sp>
      <p:pic>
        <p:nvPicPr>
          <p:cNvPr id="7" name="Image 1" descr="/private/tmp/claude-501/-Users-sebastiangier-Documents-Claude-Projects-FastForward-Global/e79bb229-0b18-47a3-8b64-a4a670addca8/scratchpad/pptx/img/DSC09601.jpg">    </p:cNvPr>
          <p:cNvPicPr>
            <a:picLocks noChangeAspect="1"/>
          </p:cNvPicPr>
          <p:nvPr/>
        </p:nvPicPr>
        <p:blipFill>
          <a:blip r:embed="rId2"/>
          <a:srcRect l="0" r="0" t="0" b="0"/>
          <a:stretch/>
        </p:blipFill>
        <p:spPr>
          <a:xfrm>
            <a:off x="761981" y="1054074"/>
            <a:ext cx="5295768" cy="2438339"/>
          </a:xfrm>
          <a:prstGeom prst="rect">
            <a:avLst/>
          </a:prstGeom>
        </p:spPr>
      </p:pic>
      <p:sp>
        <p:nvSpPr>
          <p:cNvPr id="8" name="Shape 4"/>
          <p:cNvSpPr/>
          <p:nvPr/>
        </p:nvSpPr>
        <p:spPr>
          <a:xfrm>
            <a:off x="761981" y="3111422"/>
            <a:ext cx="5295768" cy="380990"/>
          </a:xfrm>
          <a:prstGeom prst="rect">
            <a:avLst/>
          </a:prstGeom>
          <a:solidFill>
            <a:srgbClr val="000000">
              <a:alpha val="55000"/>
            </a:srgbClr>
          </a:solidFill>
          <a:ln w="12700">
            <a:solidFill>
              <a:srgbClr val="000000"/>
            </a:solidFill>
            <a:prstDash val="solid"/>
          </a:ln>
        </p:spPr>
      </p:sp>
      <p:sp>
        <p:nvSpPr>
          <p:cNvPr id="9" name="Text 5"/>
          <p:cNvSpPr txBox="1"/>
          <p:nvPr/>
        </p:nvSpPr>
        <p:spPr>
          <a:xfrm>
            <a:off x="876278" y="3136822"/>
            <a:ext cx="5067173" cy="317492"/>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Drive, Play, Eat panel</a:t>
            </a:r>
            <a:endParaRPr lang="en-US" sz="850" dirty="0"/>
          </a:p>
        </p:txBody>
      </p:sp>
      <p:pic>
        <p:nvPicPr>
          <p:cNvPr id="10" name="Image 2" descr="/private/tmp/claude-501/-Users-sebastiangier-Documents-Claude-Projects-FastForward-Global/e79bb229-0b18-47a3-8b64-a4a670addca8/scratchpad/pptx/img/DSC09472.jpg">    </p:cNvPr>
          <p:cNvPicPr>
            <a:picLocks noChangeAspect="1"/>
          </p:cNvPicPr>
          <p:nvPr/>
        </p:nvPicPr>
        <p:blipFill>
          <a:blip r:embed="rId3"/>
          <a:srcRect l="0" r="0" t="0" b="0"/>
          <a:stretch/>
        </p:blipFill>
        <p:spPr>
          <a:xfrm>
            <a:off x="6133947" y="1054074"/>
            <a:ext cx="3505112" cy="2438339"/>
          </a:xfrm>
          <a:prstGeom prst="rect">
            <a:avLst/>
          </a:prstGeom>
        </p:spPr>
      </p:pic>
      <p:sp>
        <p:nvSpPr>
          <p:cNvPr id="11" name="Shape 6"/>
          <p:cNvSpPr/>
          <p:nvPr/>
        </p:nvSpPr>
        <p:spPr>
          <a:xfrm>
            <a:off x="6133947" y="3111422"/>
            <a:ext cx="3505112" cy="380990"/>
          </a:xfrm>
          <a:prstGeom prst="rect">
            <a:avLst/>
          </a:prstGeom>
          <a:solidFill>
            <a:srgbClr val="000000">
              <a:alpha val="55000"/>
            </a:srgbClr>
          </a:solidFill>
          <a:ln w="12700">
            <a:solidFill>
              <a:srgbClr val="000000"/>
            </a:solidFill>
            <a:prstDash val="solid"/>
          </a:ln>
        </p:spPr>
      </p:sp>
      <p:sp>
        <p:nvSpPr>
          <p:cNvPr id="12" name="Text 7"/>
          <p:cNvSpPr txBox="1"/>
          <p:nvPr/>
        </p:nvSpPr>
        <p:spPr>
          <a:xfrm>
            <a:off x="6248244" y="3136822"/>
            <a:ext cx="3276518" cy="317492"/>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Park &amp; Market atrium</a:t>
            </a:r>
            <a:endParaRPr lang="en-US" sz="850" dirty="0"/>
          </a:p>
        </p:txBody>
      </p:sp>
      <p:pic>
        <p:nvPicPr>
          <p:cNvPr id="13" name="Image 3" descr="/private/tmp/claude-501/-Users-sebastiangier-Documents-Claude-Projects-FastForward-Global/e79bb229-0b18-47a3-8b64-a4a670addca8/scratchpad/pptx/img/DSC09562.jpg">    </p:cNvPr>
          <p:cNvPicPr>
            <a:picLocks noChangeAspect="1"/>
          </p:cNvPicPr>
          <p:nvPr/>
        </p:nvPicPr>
        <p:blipFill>
          <a:blip r:embed="rId4"/>
          <a:srcRect l="0" r="0" t="0" b="0"/>
          <a:stretch/>
        </p:blipFill>
        <p:spPr>
          <a:xfrm>
            <a:off x="9715257" y="1054074"/>
            <a:ext cx="1714457" cy="2438339"/>
          </a:xfrm>
          <a:prstGeom prst="rect">
            <a:avLst/>
          </a:prstGeom>
        </p:spPr>
      </p:pic>
      <p:sp>
        <p:nvSpPr>
          <p:cNvPr id="14" name="Shape 8"/>
          <p:cNvSpPr/>
          <p:nvPr/>
        </p:nvSpPr>
        <p:spPr>
          <a:xfrm>
            <a:off x="9715257" y="3111422"/>
            <a:ext cx="1714457" cy="380990"/>
          </a:xfrm>
          <a:prstGeom prst="rect">
            <a:avLst/>
          </a:prstGeom>
          <a:solidFill>
            <a:srgbClr val="000000">
              <a:alpha val="55000"/>
            </a:srgbClr>
          </a:solidFill>
          <a:ln w="12700">
            <a:solidFill>
              <a:srgbClr val="000000"/>
            </a:solidFill>
            <a:prstDash val="solid"/>
          </a:ln>
        </p:spPr>
      </p:sp>
      <p:sp>
        <p:nvSpPr>
          <p:cNvPr id="15" name="Text 9"/>
          <p:cNvSpPr txBox="1"/>
          <p:nvPr/>
        </p:nvSpPr>
        <p:spPr>
          <a:xfrm>
            <a:off x="9829554" y="3136822"/>
            <a:ext cx="1485863" cy="317492"/>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Stephanie Mencarelli</a:t>
            </a:r>
            <a:endParaRPr lang="en-US" sz="850" dirty="0"/>
          </a:p>
        </p:txBody>
      </p:sp>
      <p:pic>
        <p:nvPicPr>
          <p:cNvPr id="16" name="Image 4" descr="/private/tmp/claude-501/-Users-sebastiangier-Documents-Claude-Projects-FastForward-Global/e79bb229-0b18-47a3-8b64-a4a670addca8/scratchpad/pptx/img/DSC09649.jpg">    </p:cNvPr>
          <p:cNvPicPr>
            <a:picLocks noChangeAspect="1"/>
          </p:cNvPicPr>
          <p:nvPr/>
        </p:nvPicPr>
        <p:blipFill>
          <a:blip r:embed="rId5"/>
          <a:srcRect l="0" r="0" t="0" b="0"/>
          <a:stretch/>
        </p:blipFill>
        <p:spPr>
          <a:xfrm>
            <a:off x="761981" y="3568611"/>
            <a:ext cx="3505112" cy="2438339"/>
          </a:xfrm>
          <a:prstGeom prst="rect">
            <a:avLst/>
          </a:prstGeom>
        </p:spPr>
      </p:pic>
      <p:sp>
        <p:nvSpPr>
          <p:cNvPr id="17" name="Shape 10"/>
          <p:cNvSpPr/>
          <p:nvPr/>
        </p:nvSpPr>
        <p:spPr>
          <a:xfrm>
            <a:off x="761981" y="5625959"/>
            <a:ext cx="3505112" cy="380990"/>
          </a:xfrm>
          <a:prstGeom prst="rect">
            <a:avLst/>
          </a:prstGeom>
          <a:solidFill>
            <a:srgbClr val="000000">
              <a:alpha val="55000"/>
            </a:srgbClr>
          </a:solidFill>
          <a:ln w="12700">
            <a:solidFill>
              <a:srgbClr val="000000"/>
            </a:solidFill>
            <a:prstDash val="solid"/>
          </a:ln>
        </p:spPr>
      </p:sp>
      <p:sp>
        <p:nvSpPr>
          <p:cNvPr id="18" name="Text 11"/>
          <p:cNvSpPr txBox="1"/>
          <p:nvPr/>
        </p:nvSpPr>
        <p:spPr>
          <a:xfrm>
            <a:off x="876278" y="5651359"/>
            <a:ext cx="3276518" cy="317492"/>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Table talks in the breaks</a:t>
            </a:r>
            <a:endParaRPr lang="en-US" sz="850" dirty="0"/>
          </a:p>
        </p:txBody>
      </p:sp>
      <p:pic>
        <p:nvPicPr>
          <p:cNvPr id="19" name="Image 5" descr="/private/tmp/claude-501/-Users-sebastiangier-Documents-Claude-Projects-FastForward-Global/e79bb229-0b18-47a3-8b64-a4a670addca8/scratchpad/pptx/img/DSC09551.jpg">    </p:cNvPr>
          <p:cNvPicPr>
            <a:picLocks noChangeAspect="1"/>
          </p:cNvPicPr>
          <p:nvPr/>
        </p:nvPicPr>
        <p:blipFill>
          <a:blip r:embed="rId6"/>
          <a:srcRect l="0" r="0" t="0" b="0"/>
          <a:stretch/>
        </p:blipFill>
        <p:spPr>
          <a:xfrm>
            <a:off x="4343291" y="3568611"/>
            <a:ext cx="3505112" cy="2438339"/>
          </a:xfrm>
          <a:prstGeom prst="rect">
            <a:avLst/>
          </a:prstGeom>
        </p:spPr>
      </p:pic>
      <p:sp>
        <p:nvSpPr>
          <p:cNvPr id="20" name="Shape 12"/>
          <p:cNvSpPr/>
          <p:nvPr/>
        </p:nvSpPr>
        <p:spPr>
          <a:xfrm>
            <a:off x="4343291" y="5625959"/>
            <a:ext cx="3505112" cy="380990"/>
          </a:xfrm>
          <a:prstGeom prst="rect">
            <a:avLst/>
          </a:prstGeom>
          <a:solidFill>
            <a:srgbClr val="000000">
              <a:alpha val="55000"/>
            </a:srgbClr>
          </a:solidFill>
          <a:ln w="12700">
            <a:solidFill>
              <a:srgbClr val="000000"/>
            </a:solidFill>
            <a:prstDash val="solid"/>
          </a:ln>
        </p:spPr>
      </p:sp>
      <p:sp>
        <p:nvSpPr>
          <p:cNvPr id="21" name="Text 13"/>
          <p:cNvSpPr txBox="1"/>
          <p:nvPr/>
        </p:nvSpPr>
        <p:spPr>
          <a:xfrm>
            <a:off x="4457589" y="5651359"/>
            <a:ext cx="3276518" cy="317492"/>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Don Norman signing</a:t>
            </a:r>
            <a:endParaRPr lang="en-US" sz="850" dirty="0"/>
          </a:p>
        </p:txBody>
      </p:sp>
      <p:pic>
        <p:nvPicPr>
          <p:cNvPr id="22" name="Image 6" descr="/private/tmp/claude-501/-Users-sebastiangier-Documents-Claude-Projects-FastForward-Global/e79bb229-0b18-47a3-8b64-a4a670addca8/scratchpad/pptx/img/DSC09732.jpg">    </p:cNvPr>
          <p:cNvPicPr>
            <a:picLocks noChangeAspect="1"/>
          </p:cNvPicPr>
          <p:nvPr/>
        </p:nvPicPr>
        <p:blipFill>
          <a:blip r:embed="rId7"/>
          <a:srcRect l="0" r="0" t="0" b="0"/>
          <a:stretch/>
        </p:blipFill>
        <p:spPr>
          <a:xfrm>
            <a:off x="7924602" y="3568611"/>
            <a:ext cx="3505112" cy="2438339"/>
          </a:xfrm>
          <a:prstGeom prst="rect">
            <a:avLst/>
          </a:prstGeom>
        </p:spPr>
      </p:pic>
      <p:sp>
        <p:nvSpPr>
          <p:cNvPr id="23" name="Shape 14"/>
          <p:cNvSpPr/>
          <p:nvPr/>
        </p:nvSpPr>
        <p:spPr>
          <a:xfrm>
            <a:off x="7924602" y="5625959"/>
            <a:ext cx="3505112" cy="380990"/>
          </a:xfrm>
          <a:prstGeom prst="rect">
            <a:avLst/>
          </a:prstGeom>
          <a:solidFill>
            <a:srgbClr val="000000">
              <a:alpha val="55000"/>
            </a:srgbClr>
          </a:solidFill>
          <a:ln w="12700">
            <a:solidFill>
              <a:srgbClr val="000000"/>
            </a:solidFill>
            <a:prstDash val="solid"/>
          </a:ln>
        </p:spPr>
      </p:sp>
      <p:sp>
        <p:nvSpPr>
          <p:cNvPr id="24" name="Text 15"/>
          <p:cNvSpPr txBox="1"/>
          <p:nvPr/>
        </p:nvSpPr>
        <p:spPr>
          <a:xfrm>
            <a:off x="8038899" y="5651359"/>
            <a:ext cx="3276518" cy="317492"/>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Happy hour by Marvin &amp; Dscout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04</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WHAT THE ROOM AGREED ON</a:t>
            </a:r>
            <a:endParaRPr lang="en-US" sz="1000" dirty="0"/>
          </a:p>
        </p:txBody>
      </p:sp>
      <p:sp>
        <p:nvSpPr>
          <p:cNvPr id="7" name="Text 4"/>
          <p:cNvSpPr txBox="1"/>
          <p:nvPr/>
        </p:nvSpPr>
        <p:spPr>
          <a:xfrm>
            <a:off x="761981" y="863578"/>
            <a:ext cx="10667733" cy="1254729"/>
          </a:xfrm>
          <a:prstGeom prst="rect">
            <a:avLst/>
          </a:prstGeom>
          <a:noFill/>
          <a:ln/>
        </p:spPr>
        <p:txBody>
          <a:bodyPr wrap="square" lIns="0" tIns="0" rIns="0" bIns="0" rtlCol="0" anchor="t"/>
          <a:lstStyle/>
          <a:p>
            <a:pPr indent="0" marL="0">
              <a:lnSpc>
                <a:spcPct val="92000"/>
              </a:lnSpc>
              <a:buNone/>
            </a:pPr>
            <a:r>
              <a:rPr lang="en-US" sz="5200" b="1" spc="-400" kern="0" dirty="0">
                <a:solidFill>
                  <a:srgbClr val="FFFFFF"/>
                </a:solidFill>
                <a:latin typeface="Arial" pitchFamily="34" charset="0"/>
                <a:ea typeface="Arial" pitchFamily="34" charset="-122"/>
                <a:cs typeface="Arial" pitchFamily="34" charset="-120"/>
              </a:rPr>
              <a:t>THE FLOOR ROSE.</a:t>
            </a:r>
            <a:endParaRPr lang="en-US" sz="5200" dirty="0"/>
          </a:p>
          <a:p>
            <a:pPr indent="0" marL="0">
              <a:lnSpc>
                <a:spcPct val="92000"/>
              </a:lnSpc>
              <a:buNone/>
            </a:pPr>
            <a:r>
              <a:rPr lang="en-US" sz="5200" b="1" spc="-400" kern="0" dirty="0">
                <a:solidFill>
                  <a:srgbClr val="FFFFFF"/>
                </a:solidFill>
                <a:latin typeface="Arial" pitchFamily="34" charset="0"/>
                <a:ea typeface="Arial" pitchFamily="34" charset="-122"/>
                <a:cs typeface="Arial" pitchFamily="34" charset="-120"/>
              </a:rPr>
              <a:t>THE CEILING DIDN’T MOVE.</a:t>
            </a:r>
            <a:endParaRPr lang="en-US" sz="5200" dirty="0"/>
          </a:p>
        </p:txBody>
      </p:sp>
      <p:sp>
        <p:nvSpPr>
          <p:cNvPr id="8" name="Shape 5"/>
          <p:cNvSpPr/>
          <p:nvPr/>
        </p:nvSpPr>
        <p:spPr>
          <a:xfrm>
            <a:off x="761981" y="2451039"/>
            <a:ext cx="10667733" cy="0"/>
          </a:xfrm>
          <a:prstGeom prst="line">
            <a:avLst/>
          </a:prstGeom>
          <a:noFill/>
          <a:ln w="9525">
            <a:solidFill>
              <a:srgbClr val="242424"/>
            </a:solidFill>
            <a:prstDash val="solid"/>
          </a:ln>
        </p:spPr>
      </p:sp>
      <p:sp>
        <p:nvSpPr>
          <p:cNvPr id="9" name="Shape 6"/>
          <p:cNvSpPr/>
          <p:nvPr/>
        </p:nvSpPr>
        <p:spPr>
          <a:xfrm>
            <a:off x="761981" y="2451039"/>
            <a:ext cx="0" cy="3555911"/>
          </a:xfrm>
          <a:prstGeom prst="line">
            <a:avLst/>
          </a:prstGeom>
          <a:noFill/>
          <a:ln w="9525">
            <a:solidFill>
              <a:srgbClr val="242424"/>
            </a:solidFill>
            <a:prstDash val="solid"/>
          </a:ln>
        </p:spPr>
      </p:sp>
      <p:sp>
        <p:nvSpPr>
          <p:cNvPr id="10" name="Text 7"/>
          <p:cNvSpPr txBox="1"/>
          <p:nvPr/>
        </p:nvSpPr>
        <p:spPr>
          <a:xfrm>
            <a:off x="952476" y="2666933"/>
            <a:ext cx="1752556" cy="1904952"/>
          </a:xfrm>
          <a:prstGeom prst="rect">
            <a:avLst/>
          </a:prstGeom>
          <a:noFill/>
          <a:ln/>
        </p:spPr>
        <p:txBody>
          <a:bodyPr wrap="square" lIns="0" tIns="0" rIns="0" bIns="0" rtlCol="0" anchor="t"/>
          <a:lstStyle/>
          <a:p>
            <a:pPr indent="0" marL="0">
              <a:lnSpc>
                <a:spcPct val="105000"/>
              </a:lnSpc>
              <a:buNone/>
            </a:pPr>
            <a:r>
              <a:rPr lang="en-US" sz="1700" b="1" spc="-100" kern="0" dirty="0">
                <a:solidFill>
                  <a:srgbClr val="FFFFFF"/>
                </a:solidFill>
                <a:latin typeface="Arial" pitchFamily="34" charset="0"/>
                <a:ea typeface="Arial" pitchFamily="34" charset="-122"/>
                <a:cs typeface="Arial" pitchFamily="34" charset="-120"/>
              </a:rPr>
              <a:t>Good is free now. </a:t>
            </a:r>
            <a:pPr indent="0" marL="0">
              <a:lnSpc>
                <a:spcPct val="105000"/>
              </a:lnSpc>
              <a:buNone/>
            </a:pPr>
            <a:r>
              <a:rPr lang="en-US" sz="1700" b="1" spc="-100" kern="0" dirty="0">
                <a:solidFill>
                  <a:srgbClr val="FFF204"/>
                </a:solidFill>
                <a:latin typeface="Arial" pitchFamily="34" charset="0"/>
                <a:ea typeface="Arial" pitchFamily="34" charset="-122"/>
                <a:cs typeface="Arial" pitchFamily="34" charset="-120"/>
              </a:rPr>
              <a:t>Great is the job.</a:t>
            </a:r>
            <a:endParaRPr lang="en-US" sz="1700" dirty="0"/>
          </a:p>
        </p:txBody>
      </p:sp>
      <p:sp>
        <p:nvSpPr>
          <p:cNvPr id="11" name="Text 8"/>
          <p:cNvSpPr txBox="1"/>
          <p:nvPr/>
        </p:nvSpPr>
        <p:spPr>
          <a:xfrm>
            <a:off x="952476" y="5117972"/>
            <a:ext cx="1752556" cy="761981"/>
          </a:xfrm>
          <a:prstGeom prst="rect">
            <a:avLst/>
          </a:prstGeom>
          <a:noFill/>
          <a:ln/>
        </p:spPr>
        <p:txBody>
          <a:bodyPr wrap="square" lIns="0" tIns="0" rIns="0" bIns="0" rtlCol="0" anchor="b"/>
          <a:lstStyle/>
          <a:p>
            <a:pPr indent="0" marL="0">
              <a:lnSpc>
                <a:spcPct val="120000"/>
              </a:lnSpc>
              <a:buNone/>
            </a:pPr>
            <a:r>
              <a:rPr lang="en-US" sz="950" dirty="0">
                <a:solidFill>
                  <a:srgbClr val="9A9A9A"/>
                </a:solidFill>
                <a:latin typeface="Arial" pitchFamily="34" charset="0"/>
                <a:ea typeface="Arial" pitchFamily="34" charset="-122"/>
                <a:cs typeface="Arial" pitchFamily="34" charset="-120"/>
              </a:rPr>
              <a:t>Taste, judgment and a durable point of view are what AI cannot generate.</a:t>
            </a:r>
            <a:endParaRPr lang="en-US" sz="950" dirty="0"/>
          </a:p>
        </p:txBody>
      </p:sp>
      <p:sp>
        <p:nvSpPr>
          <p:cNvPr id="12" name="Shape 9"/>
          <p:cNvSpPr/>
          <p:nvPr/>
        </p:nvSpPr>
        <p:spPr>
          <a:xfrm>
            <a:off x="2895528" y="2451039"/>
            <a:ext cx="0" cy="3555911"/>
          </a:xfrm>
          <a:prstGeom prst="line">
            <a:avLst/>
          </a:prstGeom>
          <a:noFill/>
          <a:ln w="9525">
            <a:solidFill>
              <a:srgbClr val="242424"/>
            </a:solidFill>
            <a:prstDash val="solid"/>
          </a:ln>
        </p:spPr>
      </p:sp>
      <p:sp>
        <p:nvSpPr>
          <p:cNvPr id="13" name="Text 10"/>
          <p:cNvSpPr txBox="1"/>
          <p:nvPr/>
        </p:nvSpPr>
        <p:spPr>
          <a:xfrm>
            <a:off x="3086023" y="2666933"/>
            <a:ext cx="1752556" cy="1904952"/>
          </a:xfrm>
          <a:prstGeom prst="rect">
            <a:avLst/>
          </a:prstGeom>
          <a:noFill/>
          <a:ln/>
        </p:spPr>
        <p:txBody>
          <a:bodyPr wrap="square" lIns="0" tIns="0" rIns="0" bIns="0" rtlCol="0" anchor="t"/>
          <a:lstStyle/>
          <a:p>
            <a:pPr indent="0" marL="0">
              <a:lnSpc>
                <a:spcPct val="105000"/>
              </a:lnSpc>
              <a:buNone/>
            </a:pPr>
            <a:r>
              <a:rPr lang="en-US" sz="1700" b="1" spc="-100" kern="0" dirty="0">
                <a:solidFill>
                  <a:srgbClr val="FFFFFF"/>
                </a:solidFill>
                <a:latin typeface="Arial" pitchFamily="34" charset="0"/>
                <a:ea typeface="Arial" pitchFamily="34" charset="-122"/>
                <a:cs typeface="Arial" pitchFamily="34" charset="-120"/>
              </a:rPr>
              <a:t>Research stops being a project </a:t>
            </a:r>
            <a:pPr indent="0" marL="0">
              <a:lnSpc>
                <a:spcPct val="105000"/>
              </a:lnSpc>
              <a:buNone/>
            </a:pPr>
            <a:r>
              <a:rPr lang="en-US" sz="1700" b="1" spc="-100" kern="0" dirty="0">
                <a:solidFill>
                  <a:srgbClr val="FFF204"/>
                </a:solidFill>
                <a:latin typeface="Arial" pitchFamily="34" charset="0"/>
                <a:ea typeface="Arial" pitchFamily="34" charset="-122"/>
                <a:cs typeface="Arial" pitchFamily="34" charset="-120"/>
              </a:rPr>
              <a:t>and becomes a pulse.</a:t>
            </a:r>
            <a:endParaRPr lang="en-US" sz="1700" dirty="0"/>
          </a:p>
        </p:txBody>
      </p:sp>
      <p:sp>
        <p:nvSpPr>
          <p:cNvPr id="14" name="Text 11"/>
          <p:cNvSpPr txBox="1"/>
          <p:nvPr/>
        </p:nvSpPr>
        <p:spPr>
          <a:xfrm>
            <a:off x="3086023" y="5117972"/>
            <a:ext cx="1752556" cy="761981"/>
          </a:xfrm>
          <a:prstGeom prst="rect">
            <a:avLst/>
          </a:prstGeom>
          <a:noFill/>
          <a:ln/>
        </p:spPr>
        <p:txBody>
          <a:bodyPr wrap="square" lIns="0" tIns="0" rIns="0" bIns="0" rtlCol="0" anchor="b"/>
          <a:lstStyle/>
          <a:p>
            <a:pPr indent="0" marL="0">
              <a:lnSpc>
                <a:spcPct val="120000"/>
              </a:lnSpc>
              <a:buNone/>
            </a:pPr>
            <a:r>
              <a:rPr lang="en-US" sz="950" dirty="0">
                <a:solidFill>
                  <a:srgbClr val="9A9A9A"/>
                </a:solidFill>
                <a:latin typeface="Arial" pitchFamily="34" charset="0"/>
                <a:ea typeface="Arial" pitchFamily="34" charset="-122"/>
                <a:cs typeface="Arial" pitchFamily="34" charset="-120"/>
              </a:rPr>
              <a:t>When teams ship weekly, episodic studies arrive after the decision.</a:t>
            </a:r>
            <a:endParaRPr lang="en-US" sz="950" dirty="0"/>
          </a:p>
        </p:txBody>
      </p:sp>
      <p:sp>
        <p:nvSpPr>
          <p:cNvPr id="15" name="Shape 12"/>
          <p:cNvSpPr/>
          <p:nvPr/>
        </p:nvSpPr>
        <p:spPr>
          <a:xfrm>
            <a:off x="5029074" y="2451039"/>
            <a:ext cx="0" cy="3555911"/>
          </a:xfrm>
          <a:prstGeom prst="line">
            <a:avLst/>
          </a:prstGeom>
          <a:noFill/>
          <a:ln w="9525">
            <a:solidFill>
              <a:srgbClr val="242424"/>
            </a:solidFill>
            <a:prstDash val="solid"/>
          </a:ln>
        </p:spPr>
      </p:sp>
      <p:sp>
        <p:nvSpPr>
          <p:cNvPr id="16" name="Text 13"/>
          <p:cNvSpPr txBox="1"/>
          <p:nvPr/>
        </p:nvSpPr>
        <p:spPr>
          <a:xfrm>
            <a:off x="5219570" y="2666933"/>
            <a:ext cx="1752556" cy="1904952"/>
          </a:xfrm>
          <a:prstGeom prst="rect">
            <a:avLst/>
          </a:prstGeom>
          <a:noFill/>
          <a:ln/>
        </p:spPr>
        <p:txBody>
          <a:bodyPr wrap="square" lIns="0" tIns="0" rIns="0" bIns="0" rtlCol="0" anchor="t"/>
          <a:lstStyle/>
          <a:p>
            <a:pPr indent="0" marL="0">
              <a:lnSpc>
                <a:spcPct val="105000"/>
              </a:lnSpc>
              <a:buNone/>
            </a:pPr>
            <a:r>
              <a:rPr lang="en-US" sz="1700" b="1" spc="-100" kern="0" dirty="0">
                <a:solidFill>
                  <a:srgbClr val="FFFFFF"/>
                </a:solidFill>
                <a:latin typeface="Arial" pitchFamily="34" charset="0"/>
                <a:ea typeface="Arial" pitchFamily="34" charset="-122"/>
                <a:cs typeface="Arial" pitchFamily="34" charset="-120"/>
              </a:rPr>
              <a:t>Design leaves the screen: </a:t>
            </a:r>
            <a:pPr indent="0" marL="0">
              <a:lnSpc>
                <a:spcPct val="105000"/>
              </a:lnSpc>
              <a:buNone/>
            </a:pPr>
            <a:r>
              <a:rPr lang="en-US" sz="1700" b="1" spc="-100" kern="0" dirty="0">
                <a:solidFill>
                  <a:srgbClr val="FFF204"/>
                </a:solidFill>
                <a:latin typeface="Arial" pitchFamily="34" charset="0"/>
                <a:ea typeface="Arial" pitchFamily="34" charset="-122"/>
                <a:cs typeface="Arial" pitchFamily="34" charset="-120"/>
              </a:rPr>
              <a:t>decisions, systems, organisations.</a:t>
            </a:r>
            <a:endParaRPr lang="en-US" sz="1700" dirty="0"/>
          </a:p>
        </p:txBody>
      </p:sp>
      <p:sp>
        <p:nvSpPr>
          <p:cNvPr id="17" name="Text 14"/>
          <p:cNvSpPr txBox="1"/>
          <p:nvPr/>
        </p:nvSpPr>
        <p:spPr>
          <a:xfrm>
            <a:off x="5219570" y="5117972"/>
            <a:ext cx="1752556" cy="761981"/>
          </a:xfrm>
          <a:prstGeom prst="rect">
            <a:avLst/>
          </a:prstGeom>
          <a:noFill/>
          <a:ln/>
        </p:spPr>
        <p:txBody>
          <a:bodyPr wrap="square" lIns="0" tIns="0" rIns="0" bIns="0" rtlCol="0" anchor="b"/>
          <a:lstStyle/>
          <a:p>
            <a:pPr indent="0" marL="0">
              <a:lnSpc>
                <a:spcPct val="120000"/>
              </a:lnSpc>
              <a:buNone/>
            </a:pPr>
            <a:r>
              <a:rPr lang="en-US" sz="950" dirty="0">
                <a:solidFill>
                  <a:srgbClr val="9A9A9A"/>
                </a:solidFill>
                <a:latin typeface="Arial" pitchFamily="34" charset="0"/>
                <a:ea typeface="Arial" pitchFamily="34" charset="-122"/>
                <a:cs typeface="Arial" pitchFamily="34" charset="-120"/>
              </a:rPr>
              <a:t>Value is measured by influence on what gets built, not by deliverables.</a:t>
            </a:r>
            <a:endParaRPr lang="en-US" sz="950" dirty="0"/>
          </a:p>
        </p:txBody>
      </p:sp>
      <p:sp>
        <p:nvSpPr>
          <p:cNvPr id="18" name="Shape 15"/>
          <p:cNvSpPr/>
          <p:nvPr/>
        </p:nvSpPr>
        <p:spPr>
          <a:xfrm>
            <a:off x="7162621" y="2451039"/>
            <a:ext cx="0" cy="3555911"/>
          </a:xfrm>
          <a:prstGeom prst="line">
            <a:avLst/>
          </a:prstGeom>
          <a:noFill/>
          <a:ln w="9525">
            <a:solidFill>
              <a:srgbClr val="242424"/>
            </a:solidFill>
            <a:prstDash val="solid"/>
          </a:ln>
        </p:spPr>
      </p:sp>
      <p:sp>
        <p:nvSpPr>
          <p:cNvPr id="19" name="Text 16"/>
          <p:cNvSpPr txBox="1"/>
          <p:nvPr/>
        </p:nvSpPr>
        <p:spPr>
          <a:xfrm>
            <a:off x="7353116" y="2666933"/>
            <a:ext cx="1752556" cy="1904952"/>
          </a:xfrm>
          <a:prstGeom prst="rect">
            <a:avLst/>
          </a:prstGeom>
          <a:noFill/>
          <a:ln/>
        </p:spPr>
        <p:txBody>
          <a:bodyPr wrap="square" lIns="0" tIns="0" rIns="0" bIns="0" rtlCol="0" anchor="t"/>
          <a:lstStyle/>
          <a:p>
            <a:pPr indent="0" marL="0">
              <a:lnSpc>
                <a:spcPct val="105000"/>
              </a:lnSpc>
              <a:buNone/>
            </a:pPr>
            <a:r>
              <a:rPr lang="en-US" sz="1700" b="1" spc="-100" kern="0" dirty="0">
                <a:solidFill>
                  <a:srgbClr val="FFFFFF"/>
                </a:solidFill>
                <a:latin typeface="Arial" pitchFamily="34" charset="0"/>
                <a:ea typeface="Arial" pitchFamily="34" charset="-122"/>
                <a:cs typeface="Arial" pitchFamily="34" charset="-120"/>
              </a:rPr>
              <a:t>The human stays irrational, </a:t>
            </a:r>
            <a:pPr indent="0" marL="0">
              <a:lnSpc>
                <a:spcPct val="105000"/>
              </a:lnSpc>
              <a:buNone/>
            </a:pPr>
            <a:r>
              <a:rPr lang="en-US" sz="1700" b="1" spc="-100" kern="0" dirty="0">
                <a:solidFill>
                  <a:srgbClr val="FFF204"/>
                </a:solidFill>
                <a:latin typeface="Arial" pitchFamily="34" charset="0"/>
                <a:ea typeface="Arial" pitchFamily="34" charset="-122"/>
                <a:cs typeface="Arial" pitchFamily="34" charset="-120"/>
              </a:rPr>
              <a:t>and irreplaceable.</a:t>
            </a:r>
            <a:endParaRPr lang="en-US" sz="1700" dirty="0"/>
          </a:p>
        </p:txBody>
      </p:sp>
      <p:sp>
        <p:nvSpPr>
          <p:cNvPr id="20" name="Text 17"/>
          <p:cNvSpPr txBox="1"/>
          <p:nvPr/>
        </p:nvSpPr>
        <p:spPr>
          <a:xfrm>
            <a:off x="7353116" y="5117972"/>
            <a:ext cx="1752556" cy="761981"/>
          </a:xfrm>
          <a:prstGeom prst="rect">
            <a:avLst/>
          </a:prstGeom>
          <a:noFill/>
          <a:ln/>
        </p:spPr>
        <p:txBody>
          <a:bodyPr wrap="square" lIns="0" tIns="0" rIns="0" bIns="0" rtlCol="0" anchor="b"/>
          <a:lstStyle/>
          <a:p>
            <a:pPr indent="0" marL="0">
              <a:lnSpc>
                <a:spcPct val="120000"/>
              </a:lnSpc>
              <a:buNone/>
            </a:pPr>
            <a:r>
              <a:rPr lang="en-US" sz="950" dirty="0">
                <a:solidFill>
                  <a:srgbClr val="9A9A9A"/>
                </a:solidFill>
                <a:latin typeface="Arial" pitchFamily="34" charset="0"/>
                <a:ea typeface="Arial" pitchFamily="34" charset="-122"/>
                <a:cs typeface="Arial" pitchFamily="34" charset="-120"/>
              </a:rPr>
              <a:t>AI can read the deck. It cannot read the room.</a:t>
            </a:r>
            <a:endParaRPr lang="en-US" sz="950" dirty="0"/>
          </a:p>
        </p:txBody>
      </p:sp>
      <p:sp>
        <p:nvSpPr>
          <p:cNvPr id="21" name="Shape 18"/>
          <p:cNvSpPr/>
          <p:nvPr/>
        </p:nvSpPr>
        <p:spPr>
          <a:xfrm>
            <a:off x="9296168" y="2451039"/>
            <a:ext cx="0" cy="3555911"/>
          </a:xfrm>
          <a:prstGeom prst="line">
            <a:avLst/>
          </a:prstGeom>
          <a:noFill/>
          <a:ln w="9525">
            <a:solidFill>
              <a:srgbClr val="242424"/>
            </a:solidFill>
            <a:prstDash val="solid"/>
          </a:ln>
        </p:spPr>
      </p:sp>
      <p:sp>
        <p:nvSpPr>
          <p:cNvPr id="22" name="Text 19"/>
          <p:cNvSpPr txBox="1"/>
          <p:nvPr/>
        </p:nvSpPr>
        <p:spPr>
          <a:xfrm>
            <a:off x="9486663" y="2666933"/>
            <a:ext cx="1752556" cy="1904952"/>
          </a:xfrm>
          <a:prstGeom prst="rect">
            <a:avLst/>
          </a:prstGeom>
          <a:noFill/>
          <a:ln/>
        </p:spPr>
        <p:txBody>
          <a:bodyPr wrap="square" lIns="0" tIns="0" rIns="0" bIns="0" rtlCol="0" anchor="t"/>
          <a:lstStyle/>
          <a:p>
            <a:pPr indent="0" marL="0">
              <a:lnSpc>
                <a:spcPct val="105000"/>
              </a:lnSpc>
              <a:buNone/>
            </a:pPr>
            <a:r>
              <a:rPr lang="en-US" sz="1700" b="1" spc="-100" kern="0" dirty="0">
                <a:solidFill>
                  <a:srgbClr val="FFFFFF"/>
                </a:solidFill>
                <a:latin typeface="Arial" pitchFamily="34" charset="0"/>
                <a:ea typeface="Arial" pitchFamily="34" charset="-122"/>
                <a:cs typeface="Arial" pitchFamily="34" charset="-120"/>
              </a:rPr>
              <a:t>Context is the asset. </a:t>
            </a:r>
            <a:pPr indent="0" marL="0">
              <a:lnSpc>
                <a:spcPct val="105000"/>
              </a:lnSpc>
              <a:buNone/>
            </a:pPr>
            <a:r>
              <a:rPr lang="en-US" sz="1700" b="1" spc="-100" kern="0" dirty="0">
                <a:solidFill>
                  <a:srgbClr val="FFF204"/>
                </a:solidFill>
                <a:latin typeface="Arial" pitchFamily="34" charset="0"/>
                <a:ea typeface="Arial" pitchFamily="34" charset="-122"/>
                <a:cs typeface="Arial" pitchFamily="34" charset="-120"/>
              </a:rPr>
              <a:t>The experience is the business.</a:t>
            </a:r>
            <a:endParaRPr lang="en-US" sz="1700" dirty="0"/>
          </a:p>
        </p:txBody>
      </p:sp>
      <p:sp>
        <p:nvSpPr>
          <p:cNvPr id="23" name="Text 20"/>
          <p:cNvSpPr txBox="1"/>
          <p:nvPr/>
        </p:nvSpPr>
        <p:spPr>
          <a:xfrm>
            <a:off x="9486663" y="5117972"/>
            <a:ext cx="1752556" cy="761981"/>
          </a:xfrm>
          <a:prstGeom prst="rect">
            <a:avLst/>
          </a:prstGeom>
          <a:noFill/>
          <a:ln/>
        </p:spPr>
        <p:txBody>
          <a:bodyPr wrap="square" lIns="0" tIns="0" rIns="0" bIns="0" rtlCol="0" anchor="b"/>
          <a:lstStyle/>
          <a:p>
            <a:pPr indent="0" marL="0">
              <a:lnSpc>
                <a:spcPct val="120000"/>
              </a:lnSpc>
              <a:buNone/>
            </a:pPr>
            <a:r>
              <a:rPr lang="en-US" sz="950" dirty="0">
                <a:solidFill>
                  <a:srgbClr val="9A9A9A"/>
                </a:solidFill>
                <a:latin typeface="Arial" pitchFamily="34" charset="0"/>
                <a:ea typeface="Arial" pitchFamily="34" charset="-122"/>
                <a:cs typeface="Arial" pitchFamily="34" charset="-120"/>
              </a:rPr>
              <a:t>Tools change weekly; structured knowledge compounds.</a:t>
            </a:r>
            <a:endParaRPr lang="en-US" sz="950" dirty="0"/>
          </a:p>
        </p:txBody>
      </p:sp>
      <p:sp>
        <p:nvSpPr>
          <p:cNvPr id="24" name="Shape 21"/>
          <p:cNvSpPr/>
          <p:nvPr/>
        </p:nvSpPr>
        <p:spPr>
          <a:xfrm>
            <a:off x="11429714" y="2451039"/>
            <a:ext cx="0" cy="3555911"/>
          </a:xfrm>
          <a:prstGeom prst="line">
            <a:avLst/>
          </a:prstGeom>
          <a:noFill/>
          <a:ln w="9525">
            <a:solidFill>
              <a:srgbClr val="242424"/>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05</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THEME</a:t>
            </a:r>
            <a:pPr indent="0" marL="0">
              <a:buNone/>
            </a:pPr>
            <a:r>
              <a:rPr lang="en-US" sz="1000" b="1" spc="500" kern="0" dirty="0">
                <a:solidFill>
                  <a:srgbClr val="A6A6A6"/>
                </a:solidFill>
                <a:latin typeface="Arial" pitchFamily="34" charset="0"/>
                <a:ea typeface="Arial" pitchFamily="34" charset="-122"/>
                <a:cs typeface="Arial" pitchFamily="34" charset="-120"/>
              </a:rPr>
              <a:t>   CRAFT IN AN AI-NATIVE WORLD</a:t>
            </a:r>
            <a:endParaRPr lang="en-US" sz="1000" dirty="0"/>
          </a:p>
        </p:txBody>
      </p:sp>
      <p:sp>
        <p:nvSpPr>
          <p:cNvPr id="7" name="Text 4"/>
          <p:cNvSpPr txBox="1"/>
          <p:nvPr/>
        </p:nvSpPr>
        <p:spPr>
          <a:xfrm>
            <a:off x="761981" y="990575"/>
            <a:ext cx="5079873" cy="1650959"/>
          </a:xfrm>
          <a:prstGeom prst="rect">
            <a:avLst/>
          </a:prstGeom>
          <a:noFill/>
          <a:ln/>
        </p:spPr>
        <p:txBody>
          <a:bodyPr wrap="square" lIns="0" tIns="0" rIns="0" bIns="0" rtlCol="0" anchor="t"/>
          <a:lstStyle/>
          <a:p>
            <a:pPr indent="0" marL="0">
              <a:lnSpc>
                <a:spcPct val="98000"/>
              </a:lnSpc>
              <a:buNone/>
            </a:pPr>
            <a:r>
              <a:rPr lang="en-US" sz="3600" b="1" spc="-200" kern="0" dirty="0">
                <a:solidFill>
                  <a:srgbClr val="FFFFFF"/>
                </a:solidFill>
                <a:latin typeface="Arial" pitchFamily="34" charset="0"/>
                <a:ea typeface="Arial" pitchFamily="34" charset="-122"/>
                <a:cs typeface="Arial" pitchFamily="34" charset="-120"/>
              </a:rPr>
              <a:t>Good is free now. </a:t>
            </a:r>
            <a:pPr indent="0" marL="0">
              <a:lnSpc>
                <a:spcPct val="98000"/>
              </a:lnSpc>
              <a:buNone/>
            </a:pPr>
            <a:r>
              <a:rPr lang="en-US" sz="3600" b="1" spc="-200" kern="0" dirty="0">
                <a:solidFill>
                  <a:srgbClr val="FFF204"/>
                </a:solidFill>
                <a:latin typeface="Arial" pitchFamily="34" charset="0"/>
                <a:ea typeface="Arial" pitchFamily="34" charset="-122"/>
                <a:cs typeface="Arial" pitchFamily="34" charset="-120"/>
              </a:rPr>
              <a:t>Great is the job.</a:t>
            </a:r>
            <a:endParaRPr lang="en-US" sz="3600" dirty="0"/>
          </a:p>
        </p:txBody>
      </p:sp>
      <p:sp>
        <p:nvSpPr>
          <p:cNvPr id="8" name="Text 5"/>
          <p:cNvSpPr txBox="1"/>
          <p:nvPr/>
        </p:nvSpPr>
        <p:spPr>
          <a:xfrm>
            <a:off x="761981" y="2768531"/>
            <a:ext cx="5079873" cy="2095448"/>
          </a:xfrm>
          <a:prstGeom prst="rect">
            <a:avLst/>
          </a:prstGeom>
          <a:noFill/>
          <a:ln/>
        </p:spPr>
        <p:txBody>
          <a:bodyPr wrap="square" lIns="0" tIns="0" rIns="0" bIns="0" rtlCol="0" anchor="t"/>
          <a:lstStyle/>
          <a:p>
            <a:pPr indent="0" marL="0">
              <a:lnSpc>
                <a:spcPct val="125000"/>
              </a:lnSpc>
              <a:buNone/>
            </a:pPr>
            <a:r>
              <a:rPr lang="en-US" sz="1150" dirty="0">
                <a:solidFill>
                  <a:srgbClr val="C4C4C4"/>
                </a:solidFill>
                <a:latin typeface="Arial" pitchFamily="34" charset="0"/>
                <a:ea typeface="Arial" pitchFamily="34" charset="-122"/>
                <a:cs typeface="Arial" pitchFamily="34" charset="-120"/>
              </a:rPr>
              <a:t>Richard Ward called the “death of design” narrative backwards: when everyone can clear the bar for good, the differentiator is knowing what great looks like. Kevin Wong went further: AI has not changed design, it has exposed how little depth most organisations were designing with. At the tables, Jaleesa Chagan framed the edge as a shift “from capability to conviction”.</a:t>
            </a:r>
            <a:endParaRPr lang="en-US" sz="1150" dirty="0"/>
          </a:p>
        </p:txBody>
      </p:sp>
      <p:sp>
        <p:nvSpPr>
          <p:cNvPr id="9" name="Shape 6"/>
          <p:cNvSpPr/>
          <p:nvPr/>
        </p:nvSpPr>
        <p:spPr>
          <a:xfrm>
            <a:off x="761981" y="5054474"/>
            <a:ext cx="1974801" cy="355591"/>
          </a:xfrm>
          <a:prstGeom prst="roundRect">
            <a:avLst>
              <a:gd name="adj" fmla="val 50000"/>
            </a:avLst>
          </a:prstGeom>
          <a:solidFill>
            <a:srgbClr val="050505"/>
          </a:solidFill>
          <a:ln w="9525">
            <a:solidFill>
              <a:srgbClr val="242424"/>
            </a:solidFill>
            <a:prstDash val="solid"/>
          </a:ln>
        </p:spPr>
      </p:sp>
      <p:pic>
        <p:nvPicPr>
          <p:cNvPr id="10" name="Image 1" descr="/private/tmp/claude-501/-Users-sebastiangier-Documents-Claude-Projects-FastForward-Global/e79bb229-0b18-47a3-8b64-a4a670addca8/scratchpad/pptx/img/richard-ward.png">    </p:cNvPr>
          <p:cNvPicPr>
            <a:picLocks noChangeAspect="1"/>
          </p:cNvPicPr>
          <p:nvPr/>
        </p:nvPicPr>
        <p:blipFill>
          <a:blip r:embed="rId2"/>
          <a:srcRect l="0" r="0" t="0" b="0"/>
          <a:stretch/>
        </p:blipFill>
        <p:spPr>
          <a:xfrm>
            <a:off x="812780" y="5105272"/>
            <a:ext cx="253994" cy="253994"/>
          </a:xfrm>
          <a:prstGeom prst="ellipse">
            <a:avLst/>
          </a:prstGeom>
        </p:spPr>
      </p:pic>
      <p:sp>
        <p:nvSpPr>
          <p:cNvPr id="11" name="Text 7"/>
          <p:cNvSpPr txBox="1"/>
          <p:nvPr/>
        </p:nvSpPr>
        <p:spPr>
          <a:xfrm>
            <a:off x="1142971" y="5054474"/>
            <a:ext cx="1555711"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Richard Ward, Otter.ai</a:t>
            </a:r>
            <a:endParaRPr lang="en-US" sz="950" dirty="0"/>
          </a:p>
        </p:txBody>
      </p:sp>
      <p:sp>
        <p:nvSpPr>
          <p:cNvPr id="12" name="Shape 8"/>
          <p:cNvSpPr/>
          <p:nvPr/>
        </p:nvSpPr>
        <p:spPr>
          <a:xfrm>
            <a:off x="2800280" y="5054474"/>
            <a:ext cx="1774781" cy="355591"/>
          </a:xfrm>
          <a:prstGeom prst="roundRect">
            <a:avLst>
              <a:gd name="adj" fmla="val 50000"/>
            </a:avLst>
          </a:prstGeom>
          <a:solidFill>
            <a:srgbClr val="050505"/>
          </a:solidFill>
          <a:ln w="9525">
            <a:solidFill>
              <a:srgbClr val="242424"/>
            </a:solidFill>
            <a:prstDash val="solid"/>
          </a:ln>
        </p:spPr>
      </p:sp>
      <p:pic>
        <p:nvPicPr>
          <p:cNvPr id="13" name="Image 2" descr="/private/tmp/claude-501/-Users-sebastiangier-Documents-Claude-Projects-FastForward-Global/e79bb229-0b18-47a3-8b64-a4a670addca8/scratchpad/pptx/img/kevin-wong.png">    </p:cNvPr>
          <p:cNvPicPr>
            <a:picLocks noChangeAspect="1"/>
          </p:cNvPicPr>
          <p:nvPr/>
        </p:nvPicPr>
        <p:blipFill>
          <a:blip r:embed="rId3"/>
          <a:srcRect l="0" r="0" t="0" b="0"/>
          <a:stretch/>
        </p:blipFill>
        <p:spPr>
          <a:xfrm>
            <a:off x="2851079" y="5105272"/>
            <a:ext cx="253994" cy="253994"/>
          </a:xfrm>
          <a:prstGeom prst="ellipse">
            <a:avLst/>
          </a:prstGeom>
        </p:spPr>
      </p:pic>
      <p:sp>
        <p:nvSpPr>
          <p:cNvPr id="14" name="Text 9"/>
          <p:cNvSpPr txBox="1"/>
          <p:nvPr/>
        </p:nvSpPr>
        <p:spPr>
          <a:xfrm>
            <a:off x="3181270" y="5054474"/>
            <a:ext cx="1355691"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Kevin Wong, Webflow</a:t>
            </a:r>
            <a:endParaRPr lang="en-US" sz="950" dirty="0"/>
          </a:p>
        </p:txBody>
      </p:sp>
      <p:sp>
        <p:nvSpPr>
          <p:cNvPr id="15" name="Shape 10"/>
          <p:cNvSpPr/>
          <p:nvPr/>
        </p:nvSpPr>
        <p:spPr>
          <a:xfrm>
            <a:off x="761981" y="5473563"/>
            <a:ext cx="1841454" cy="355591"/>
          </a:xfrm>
          <a:prstGeom prst="roundRect">
            <a:avLst>
              <a:gd name="adj" fmla="val 50000"/>
            </a:avLst>
          </a:prstGeom>
          <a:solidFill>
            <a:srgbClr val="050505"/>
          </a:solidFill>
          <a:ln w="9525">
            <a:solidFill>
              <a:srgbClr val="242424"/>
            </a:solidFill>
            <a:prstDash val="solid"/>
          </a:ln>
        </p:spPr>
      </p:sp>
      <p:pic>
        <p:nvPicPr>
          <p:cNvPr id="16" name="Image 3" descr="/private/tmp/claude-501/-Users-sebastiangier-Documents-Claude-Projects-FastForward-Global/e79bb229-0b18-47a3-8b64-a4a670addca8/scratchpad/pptx/img/jaleesa-chagan.png">    </p:cNvPr>
          <p:cNvPicPr>
            <a:picLocks noChangeAspect="1"/>
          </p:cNvPicPr>
          <p:nvPr/>
        </p:nvPicPr>
        <p:blipFill>
          <a:blip r:embed="rId4"/>
          <a:srcRect l="0" r="0" t="0" b="0"/>
          <a:stretch/>
        </p:blipFill>
        <p:spPr>
          <a:xfrm>
            <a:off x="812780" y="5524362"/>
            <a:ext cx="253994" cy="253994"/>
          </a:xfrm>
          <a:prstGeom prst="ellipse">
            <a:avLst/>
          </a:prstGeom>
        </p:spPr>
      </p:pic>
      <p:sp>
        <p:nvSpPr>
          <p:cNvPr id="17" name="Text 11"/>
          <p:cNvSpPr txBox="1"/>
          <p:nvPr/>
        </p:nvSpPr>
        <p:spPr>
          <a:xfrm>
            <a:off x="1142971" y="5473563"/>
            <a:ext cx="1422364"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Jaleesa Chagan, GAIN</a:t>
            </a:r>
            <a:endParaRPr lang="en-US" sz="950" dirty="0"/>
          </a:p>
        </p:txBody>
      </p:sp>
      <p:pic>
        <p:nvPicPr>
          <p:cNvPr id="18" name="Image 4" descr="/private/tmp/claude-501/-Users-sebastiangier-Documents-Claude-Projects-FastForward-Global/e79bb229-0b18-47a3-8b64-a4a670addca8/scratchpad/pptx/img/DSC09616.jpg">    </p:cNvPr>
          <p:cNvPicPr>
            <a:picLocks noChangeAspect="1"/>
          </p:cNvPicPr>
          <p:nvPr/>
        </p:nvPicPr>
        <p:blipFill>
          <a:blip r:embed="rId5"/>
          <a:srcRect l="0" r="0" t="0" b="0"/>
          <a:stretch/>
        </p:blipFill>
        <p:spPr>
          <a:xfrm>
            <a:off x="6413340" y="990575"/>
            <a:ext cx="5016375" cy="2412940"/>
          </a:xfrm>
          <a:prstGeom prst="rect">
            <a:avLst/>
          </a:prstGeom>
        </p:spPr>
      </p:pic>
      <p:sp>
        <p:nvSpPr>
          <p:cNvPr id="19" name="Shape 12"/>
          <p:cNvSpPr/>
          <p:nvPr/>
        </p:nvSpPr>
        <p:spPr>
          <a:xfrm>
            <a:off x="6413340" y="3619410"/>
            <a:ext cx="19050" cy="1841454"/>
          </a:xfrm>
          <a:prstGeom prst="rect">
            <a:avLst/>
          </a:prstGeom>
          <a:solidFill>
            <a:srgbClr val="FFF204"/>
          </a:solidFill>
          <a:ln w="12700">
            <a:solidFill>
              <a:srgbClr val="FFF204"/>
            </a:solidFill>
            <a:prstDash val="solid"/>
          </a:ln>
        </p:spPr>
      </p:sp>
      <p:sp>
        <p:nvSpPr>
          <p:cNvPr id="20" name="Text 13"/>
          <p:cNvSpPr txBox="1"/>
          <p:nvPr/>
        </p:nvSpPr>
        <p:spPr>
          <a:xfrm>
            <a:off x="6565736" y="3619410"/>
            <a:ext cx="2228794" cy="126997"/>
          </a:xfrm>
          <a:prstGeom prst="rect">
            <a:avLst/>
          </a:prstGeom>
          <a:noFill/>
          <a:ln/>
        </p:spPr>
        <p:txBody>
          <a:bodyPr wrap="square" lIns="0" tIns="0" rIns="0" bIns="0" rtlCol="0" anchor="ctr"/>
          <a:lstStyle/>
          <a:p>
            <a:pPr indent="0" marL="0">
              <a:buNone/>
            </a:pPr>
            <a:r>
              <a:rPr lang="en-US" sz="750" spc="300" kern="0" dirty="0">
                <a:solidFill>
                  <a:srgbClr val="FFF204"/>
                </a:solidFill>
                <a:latin typeface="Arial" pitchFamily="34" charset="0"/>
                <a:ea typeface="Arial" pitchFamily="34" charset="-122"/>
                <a:cs typeface="Arial" pitchFamily="34" charset="-120"/>
              </a:rPr>
              <a:t>2026 EVIDENCE</a:t>
            </a:r>
            <a:endParaRPr lang="en-US" sz="750" dirty="0"/>
          </a:p>
        </p:txBody>
      </p:sp>
      <p:sp>
        <p:nvSpPr>
          <p:cNvPr id="21" name="Text 14"/>
          <p:cNvSpPr txBox="1"/>
          <p:nvPr/>
        </p:nvSpPr>
        <p:spPr>
          <a:xfrm>
            <a:off x="6565736" y="3771806"/>
            <a:ext cx="2228794" cy="571486"/>
          </a:xfrm>
          <a:prstGeom prst="rect">
            <a:avLst/>
          </a:prstGeom>
          <a:noFill/>
          <a:ln/>
        </p:spPr>
        <p:txBody>
          <a:bodyPr wrap="square" lIns="0" tIns="0" rIns="0" bIns="0" rtlCol="0" anchor="t"/>
          <a:lstStyle/>
          <a:p>
            <a:pPr indent="0" marL="0">
              <a:buNone/>
            </a:pPr>
            <a:r>
              <a:rPr lang="en-US" sz="4000" spc="-200" kern="0" dirty="0">
                <a:solidFill>
                  <a:srgbClr val="FFFFFF"/>
                </a:solidFill>
                <a:latin typeface="Arial" pitchFamily="34" charset="0"/>
                <a:ea typeface="Arial" pitchFamily="34" charset="-122"/>
                <a:cs typeface="Arial" pitchFamily="34" charset="-120"/>
              </a:rPr>
              <a:t>91%</a:t>
            </a:r>
            <a:endParaRPr lang="en-US" sz="4000" dirty="0"/>
          </a:p>
        </p:txBody>
      </p:sp>
      <p:sp>
        <p:nvSpPr>
          <p:cNvPr id="22" name="Text 15"/>
          <p:cNvSpPr txBox="1"/>
          <p:nvPr/>
        </p:nvSpPr>
        <p:spPr>
          <a:xfrm>
            <a:off x="6565736" y="4381390"/>
            <a:ext cx="2228794" cy="761981"/>
          </a:xfrm>
          <a:prstGeom prst="rect">
            <a:avLst/>
          </a:prstGeom>
          <a:noFill/>
          <a:ln/>
        </p:spPr>
        <p:txBody>
          <a:bodyPr wrap="square" lIns="0" tIns="0" rIns="0" bIns="0" rtlCol="0" anchor="t"/>
          <a:lstStyle/>
          <a:p>
            <a:pPr indent="0" marL="0">
              <a:lnSpc>
                <a:spcPct val="115000"/>
              </a:lnSpc>
              <a:buNone/>
            </a:pPr>
            <a:r>
              <a:rPr lang="en-US" sz="950" dirty="0">
                <a:solidFill>
                  <a:srgbClr val="CCCCCC"/>
                </a:solidFill>
                <a:latin typeface="Arial" pitchFamily="34" charset="0"/>
                <a:ea typeface="Arial" pitchFamily="34" charset="-122"/>
                <a:cs typeface="Arial" pitchFamily="34" charset="-120"/>
              </a:rPr>
              <a:t>of designers use AI for design tasks every week, up from 54% a year earlier.</a:t>
            </a:r>
            <a:endParaRPr lang="en-US" sz="950" dirty="0"/>
          </a:p>
        </p:txBody>
      </p:sp>
      <p:sp>
        <p:nvSpPr>
          <p:cNvPr id="23" name="Text 16"/>
          <p:cNvSpPr txBox="1"/>
          <p:nvPr/>
        </p:nvSpPr>
        <p:spPr>
          <a:xfrm>
            <a:off x="6565736" y="5168771"/>
            <a:ext cx="2228794" cy="253994"/>
          </a:xfrm>
          <a:prstGeom prst="rect">
            <a:avLst/>
          </a:prstGeom>
          <a:noFill/>
          <a:ln/>
        </p:spPr>
        <p:txBody>
          <a:bodyPr wrap="square" lIns="0" tIns="0" rIns="0" bIns="0" rtlCol="0" anchor="t"/>
          <a:lstStyle/>
          <a:p>
            <a:pPr indent="0" marL="0">
              <a:buNone/>
            </a:pPr>
            <a:r>
              <a:rPr lang="en-US" sz="750" dirty="0">
                <a:solidFill>
                  <a:srgbClr val="5C5C5C"/>
                </a:solidFill>
                <a:latin typeface="Arial" pitchFamily="34" charset="0"/>
                <a:ea typeface="Arial" pitchFamily="34" charset="-122"/>
                <a:cs typeface="Arial" pitchFamily="34" charset="-120"/>
              </a:rPr>
              <a:t>Designer Fund, AI in Design 2026, May 2026</a:t>
            </a:r>
            <a:endParaRPr lang="en-US" sz="750" dirty="0"/>
          </a:p>
        </p:txBody>
      </p:sp>
      <p:sp>
        <p:nvSpPr>
          <p:cNvPr id="24" name="Shape 17"/>
          <p:cNvSpPr/>
          <p:nvPr/>
        </p:nvSpPr>
        <p:spPr>
          <a:xfrm>
            <a:off x="9048524" y="3619410"/>
            <a:ext cx="19050" cy="1841454"/>
          </a:xfrm>
          <a:prstGeom prst="rect">
            <a:avLst/>
          </a:prstGeom>
          <a:solidFill>
            <a:srgbClr val="FFF204"/>
          </a:solidFill>
          <a:ln w="12700">
            <a:solidFill>
              <a:srgbClr val="FFF204"/>
            </a:solidFill>
            <a:prstDash val="solid"/>
          </a:ln>
        </p:spPr>
      </p:sp>
      <p:sp>
        <p:nvSpPr>
          <p:cNvPr id="25" name="Text 18"/>
          <p:cNvSpPr txBox="1"/>
          <p:nvPr/>
        </p:nvSpPr>
        <p:spPr>
          <a:xfrm>
            <a:off x="9200920" y="3619410"/>
            <a:ext cx="2228794" cy="126997"/>
          </a:xfrm>
          <a:prstGeom prst="rect">
            <a:avLst/>
          </a:prstGeom>
          <a:noFill/>
          <a:ln/>
        </p:spPr>
        <p:txBody>
          <a:bodyPr wrap="square" lIns="0" tIns="0" rIns="0" bIns="0" rtlCol="0" anchor="ctr"/>
          <a:lstStyle/>
          <a:p>
            <a:pPr indent="0" marL="0">
              <a:buNone/>
            </a:pPr>
            <a:r>
              <a:rPr lang="en-US" sz="750" spc="300" kern="0" dirty="0">
                <a:solidFill>
                  <a:srgbClr val="FFF204"/>
                </a:solidFill>
                <a:latin typeface="Arial" pitchFamily="34" charset="0"/>
                <a:ea typeface="Arial" pitchFamily="34" charset="-122"/>
                <a:cs typeface="Arial" pitchFamily="34" charset="-120"/>
              </a:rPr>
              <a:t>AND YET</a:t>
            </a:r>
            <a:endParaRPr lang="en-US" sz="750" dirty="0"/>
          </a:p>
        </p:txBody>
      </p:sp>
      <p:sp>
        <p:nvSpPr>
          <p:cNvPr id="26" name="Text 19"/>
          <p:cNvSpPr txBox="1"/>
          <p:nvPr/>
        </p:nvSpPr>
        <p:spPr>
          <a:xfrm>
            <a:off x="9200920" y="3771806"/>
            <a:ext cx="2228794" cy="571486"/>
          </a:xfrm>
          <a:prstGeom prst="rect">
            <a:avLst/>
          </a:prstGeom>
          <a:noFill/>
          <a:ln/>
        </p:spPr>
        <p:txBody>
          <a:bodyPr wrap="square" lIns="0" tIns="0" rIns="0" bIns="0" rtlCol="0" anchor="t"/>
          <a:lstStyle/>
          <a:p>
            <a:pPr indent="0" marL="0">
              <a:buNone/>
            </a:pPr>
            <a:r>
              <a:rPr lang="en-US" sz="4000" spc="-200" kern="0" dirty="0">
                <a:solidFill>
                  <a:srgbClr val="FFFFFF"/>
                </a:solidFill>
                <a:latin typeface="Arial" pitchFamily="34" charset="0"/>
                <a:ea typeface="Arial" pitchFamily="34" charset="-122"/>
                <a:cs typeface="Arial" pitchFamily="34" charset="-120"/>
              </a:rPr>
              <a:t>49%</a:t>
            </a:r>
            <a:endParaRPr lang="en-US" sz="4000" dirty="0"/>
          </a:p>
        </p:txBody>
      </p:sp>
      <p:sp>
        <p:nvSpPr>
          <p:cNvPr id="27" name="Text 20"/>
          <p:cNvSpPr txBox="1"/>
          <p:nvPr/>
        </p:nvSpPr>
        <p:spPr>
          <a:xfrm>
            <a:off x="9200920" y="4381390"/>
            <a:ext cx="2228794" cy="761981"/>
          </a:xfrm>
          <a:prstGeom prst="rect">
            <a:avLst/>
          </a:prstGeom>
          <a:noFill/>
          <a:ln/>
        </p:spPr>
        <p:txBody>
          <a:bodyPr wrap="square" lIns="0" tIns="0" rIns="0" bIns="0" rtlCol="0" anchor="t"/>
          <a:lstStyle/>
          <a:p>
            <a:pPr indent="0" marL="0">
              <a:lnSpc>
                <a:spcPct val="115000"/>
              </a:lnSpc>
              <a:buNone/>
            </a:pPr>
            <a:r>
              <a:rPr lang="en-US" sz="950" dirty="0">
                <a:solidFill>
                  <a:srgbClr val="CCCCCC"/>
                </a:solidFill>
                <a:latin typeface="Arial" pitchFamily="34" charset="0"/>
                <a:ea typeface="Arial" pitchFamily="34" charset="-122"/>
                <a:cs typeface="Arial" pitchFamily="34" charset="-120"/>
              </a:rPr>
              <a:t>of US consumers say generative AI has made content quality worse.</a:t>
            </a:r>
            <a:endParaRPr lang="en-US" sz="950" dirty="0"/>
          </a:p>
        </p:txBody>
      </p:sp>
      <p:sp>
        <p:nvSpPr>
          <p:cNvPr id="28" name="Text 21"/>
          <p:cNvSpPr txBox="1"/>
          <p:nvPr/>
        </p:nvSpPr>
        <p:spPr>
          <a:xfrm>
            <a:off x="9200920" y="5168771"/>
            <a:ext cx="2228794" cy="253994"/>
          </a:xfrm>
          <a:prstGeom prst="rect">
            <a:avLst/>
          </a:prstGeom>
          <a:noFill/>
          <a:ln/>
        </p:spPr>
        <p:txBody>
          <a:bodyPr wrap="square" lIns="0" tIns="0" rIns="0" bIns="0" rtlCol="0" anchor="t"/>
          <a:lstStyle/>
          <a:p>
            <a:pPr indent="0" marL="0">
              <a:buNone/>
            </a:pPr>
            <a:r>
              <a:rPr lang="en-US" sz="750" dirty="0">
                <a:solidFill>
                  <a:srgbClr val="5C5C5C"/>
                </a:solidFill>
                <a:latin typeface="Arial" pitchFamily="34" charset="0"/>
                <a:ea typeface="Arial" pitchFamily="34" charset="-122"/>
                <a:cs typeface="Arial" pitchFamily="34" charset="-120"/>
              </a:rPr>
              <a:t>Gartner, June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06</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THEME</a:t>
            </a:r>
            <a:pPr indent="0" marL="0">
              <a:buNone/>
            </a:pPr>
            <a:r>
              <a:rPr lang="en-US" sz="1000" b="1" spc="500" kern="0" dirty="0">
                <a:solidFill>
                  <a:srgbClr val="A6A6A6"/>
                </a:solidFill>
                <a:latin typeface="Arial" pitchFamily="34" charset="0"/>
                <a:ea typeface="Arial" pitchFamily="34" charset="-122"/>
                <a:cs typeface="Arial" pitchFamily="34" charset="-120"/>
              </a:rPr>
              <a:t>   RESEARCH AT THE SPEED OF SHIPPING</a:t>
            </a:r>
            <a:endParaRPr lang="en-US" sz="1000" dirty="0"/>
          </a:p>
        </p:txBody>
      </p:sp>
      <p:sp>
        <p:nvSpPr>
          <p:cNvPr id="7" name="Text 4"/>
          <p:cNvSpPr txBox="1"/>
          <p:nvPr/>
        </p:nvSpPr>
        <p:spPr>
          <a:xfrm>
            <a:off x="761981" y="990575"/>
            <a:ext cx="5079873" cy="1650959"/>
          </a:xfrm>
          <a:prstGeom prst="rect">
            <a:avLst/>
          </a:prstGeom>
          <a:noFill/>
          <a:ln/>
        </p:spPr>
        <p:txBody>
          <a:bodyPr wrap="square" lIns="0" tIns="0" rIns="0" bIns="0" rtlCol="0" anchor="t"/>
          <a:lstStyle/>
          <a:p>
            <a:pPr indent="0" marL="0">
              <a:lnSpc>
                <a:spcPct val="98000"/>
              </a:lnSpc>
              <a:buNone/>
            </a:pPr>
            <a:r>
              <a:rPr lang="en-US" sz="3600" b="1" spc="-200" kern="0" dirty="0">
                <a:solidFill>
                  <a:srgbClr val="FFFFFF"/>
                </a:solidFill>
                <a:latin typeface="Arial" pitchFamily="34" charset="0"/>
                <a:ea typeface="Arial" pitchFamily="34" charset="-122"/>
                <a:cs typeface="Arial" pitchFamily="34" charset="-120"/>
              </a:rPr>
              <a:t>Research stops being a project </a:t>
            </a:r>
            <a:pPr indent="0" marL="0">
              <a:lnSpc>
                <a:spcPct val="98000"/>
              </a:lnSpc>
              <a:buNone/>
            </a:pPr>
            <a:r>
              <a:rPr lang="en-US" sz="3600" b="1" spc="-200" kern="0" dirty="0">
                <a:solidFill>
                  <a:srgbClr val="FFF204"/>
                </a:solidFill>
                <a:latin typeface="Arial" pitchFamily="34" charset="0"/>
                <a:ea typeface="Arial" pitchFamily="34" charset="-122"/>
                <a:cs typeface="Arial" pitchFamily="34" charset="-120"/>
              </a:rPr>
              <a:t>and becomes a pulse.</a:t>
            </a:r>
            <a:endParaRPr lang="en-US" sz="3600" dirty="0"/>
          </a:p>
        </p:txBody>
      </p:sp>
      <p:sp>
        <p:nvSpPr>
          <p:cNvPr id="8" name="Text 5"/>
          <p:cNvSpPr txBox="1"/>
          <p:nvPr/>
        </p:nvSpPr>
        <p:spPr>
          <a:xfrm>
            <a:off x="761981" y="2768531"/>
            <a:ext cx="5079873" cy="2095448"/>
          </a:xfrm>
          <a:prstGeom prst="rect">
            <a:avLst/>
          </a:prstGeom>
          <a:noFill/>
          <a:ln/>
        </p:spPr>
        <p:txBody>
          <a:bodyPr wrap="square" lIns="0" tIns="0" rIns="0" bIns="0" rtlCol="0" anchor="t"/>
          <a:lstStyle/>
          <a:p>
            <a:pPr indent="0" marL="0">
              <a:lnSpc>
                <a:spcPct val="125000"/>
              </a:lnSpc>
              <a:buNone/>
            </a:pPr>
            <a:r>
              <a:rPr lang="en-US" sz="1150" dirty="0">
                <a:solidFill>
                  <a:srgbClr val="C4C4C4"/>
                </a:solidFill>
                <a:latin typeface="Arial" pitchFamily="34" charset="0"/>
                <a:ea typeface="Arial" pitchFamily="34" charset="-122"/>
                <a:cs typeface="Arial" pitchFamily="34" charset="-120"/>
              </a:rPr>
              <a:t>Prayag Narula made the case for always-on research. Harriet Swan and Katie Niles showed it in practice with TaylorMade’s AI caddie, CHIP: exploratory research to decide what it should say and do, A/B tests to find what moved engagement, and evaluative research to catch what the tests could not, inconclusive results included. Bhavik Gandecha’s table put it in one line: AI moves fast, research still has to lead.</a:t>
            </a:r>
            <a:endParaRPr lang="en-US" sz="1150" dirty="0"/>
          </a:p>
        </p:txBody>
      </p:sp>
      <p:sp>
        <p:nvSpPr>
          <p:cNvPr id="9" name="Shape 6"/>
          <p:cNvSpPr/>
          <p:nvPr/>
        </p:nvSpPr>
        <p:spPr>
          <a:xfrm>
            <a:off x="761981" y="5054474"/>
            <a:ext cx="1908127" cy="355591"/>
          </a:xfrm>
          <a:prstGeom prst="roundRect">
            <a:avLst>
              <a:gd name="adj" fmla="val 50000"/>
            </a:avLst>
          </a:prstGeom>
          <a:solidFill>
            <a:srgbClr val="050505"/>
          </a:solidFill>
          <a:ln w="9525">
            <a:solidFill>
              <a:srgbClr val="242424"/>
            </a:solidFill>
            <a:prstDash val="solid"/>
          </a:ln>
        </p:spPr>
      </p:sp>
      <p:pic>
        <p:nvPicPr>
          <p:cNvPr id="10" name="Image 1" descr="/private/tmp/claude-501/-Users-sebastiangier-Documents-Claude-Projects-FastForward-Global/e79bb229-0b18-47a3-8b64-a4a670addca8/scratchpad/pptx/img/prayag-narula.png">    </p:cNvPr>
          <p:cNvPicPr>
            <a:picLocks noChangeAspect="1"/>
          </p:cNvPicPr>
          <p:nvPr/>
        </p:nvPicPr>
        <p:blipFill>
          <a:blip r:embed="rId2"/>
          <a:srcRect l="0" r="0" t="0" b="0"/>
          <a:stretch/>
        </p:blipFill>
        <p:spPr>
          <a:xfrm>
            <a:off x="812780" y="5105272"/>
            <a:ext cx="253994" cy="253994"/>
          </a:xfrm>
          <a:prstGeom prst="ellipse">
            <a:avLst/>
          </a:prstGeom>
        </p:spPr>
      </p:pic>
      <p:sp>
        <p:nvSpPr>
          <p:cNvPr id="11" name="Text 7"/>
          <p:cNvSpPr txBox="1"/>
          <p:nvPr/>
        </p:nvSpPr>
        <p:spPr>
          <a:xfrm>
            <a:off x="1142971" y="5054474"/>
            <a:ext cx="1489038"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Prayag Narula, Marvin</a:t>
            </a:r>
            <a:endParaRPr lang="en-US" sz="950" dirty="0"/>
          </a:p>
        </p:txBody>
      </p:sp>
      <p:sp>
        <p:nvSpPr>
          <p:cNvPr id="12" name="Shape 8"/>
          <p:cNvSpPr/>
          <p:nvPr/>
        </p:nvSpPr>
        <p:spPr>
          <a:xfrm>
            <a:off x="2733607" y="5054474"/>
            <a:ext cx="1708107" cy="355591"/>
          </a:xfrm>
          <a:prstGeom prst="roundRect">
            <a:avLst>
              <a:gd name="adj" fmla="val 50000"/>
            </a:avLst>
          </a:prstGeom>
          <a:solidFill>
            <a:srgbClr val="050505"/>
          </a:solidFill>
          <a:ln w="9525">
            <a:solidFill>
              <a:srgbClr val="242424"/>
            </a:solidFill>
            <a:prstDash val="solid"/>
          </a:ln>
        </p:spPr>
      </p:sp>
      <p:pic>
        <p:nvPicPr>
          <p:cNvPr id="13" name="Image 2" descr="/private/tmp/claude-501/-Users-sebastiangier-Documents-Claude-Projects-FastForward-Global/e79bb229-0b18-47a3-8b64-a4a670addca8/scratchpad/pptx/img/harriet-swan.png">    </p:cNvPr>
          <p:cNvPicPr>
            <a:picLocks noChangeAspect="1"/>
          </p:cNvPicPr>
          <p:nvPr/>
        </p:nvPicPr>
        <p:blipFill>
          <a:blip r:embed="rId3"/>
          <a:srcRect l="0" r="0" t="0" b="0"/>
          <a:stretch/>
        </p:blipFill>
        <p:spPr>
          <a:xfrm>
            <a:off x="2784405" y="5105272"/>
            <a:ext cx="253994" cy="253994"/>
          </a:xfrm>
          <a:prstGeom prst="ellipse">
            <a:avLst/>
          </a:prstGeom>
        </p:spPr>
      </p:pic>
      <p:sp>
        <p:nvSpPr>
          <p:cNvPr id="14" name="Text 9"/>
          <p:cNvSpPr txBox="1"/>
          <p:nvPr/>
        </p:nvSpPr>
        <p:spPr>
          <a:xfrm>
            <a:off x="3114597" y="5054474"/>
            <a:ext cx="1289018"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Harriet Swan, GAIN</a:t>
            </a:r>
            <a:endParaRPr lang="en-US" sz="950" dirty="0"/>
          </a:p>
        </p:txBody>
      </p:sp>
      <p:sp>
        <p:nvSpPr>
          <p:cNvPr id="15" name="Shape 10"/>
          <p:cNvSpPr/>
          <p:nvPr/>
        </p:nvSpPr>
        <p:spPr>
          <a:xfrm>
            <a:off x="761981" y="5473563"/>
            <a:ext cx="2041474" cy="355591"/>
          </a:xfrm>
          <a:prstGeom prst="roundRect">
            <a:avLst>
              <a:gd name="adj" fmla="val 50000"/>
            </a:avLst>
          </a:prstGeom>
          <a:solidFill>
            <a:srgbClr val="050505"/>
          </a:solidFill>
          <a:ln w="9525">
            <a:solidFill>
              <a:srgbClr val="242424"/>
            </a:solidFill>
            <a:prstDash val="solid"/>
          </a:ln>
        </p:spPr>
      </p:sp>
      <p:pic>
        <p:nvPicPr>
          <p:cNvPr id="16" name="Image 3" descr="/private/tmp/claude-501/-Users-sebastiangier-Documents-Claude-Projects-FastForward-Global/e79bb229-0b18-47a3-8b64-a4a670addca8/scratchpad/pptx/img/katie-niles.jpg">    </p:cNvPr>
          <p:cNvPicPr>
            <a:picLocks noChangeAspect="1"/>
          </p:cNvPicPr>
          <p:nvPr/>
        </p:nvPicPr>
        <p:blipFill>
          <a:blip r:embed="rId4"/>
          <a:srcRect l="0" r="0" t="0" b="0"/>
          <a:stretch/>
        </p:blipFill>
        <p:spPr>
          <a:xfrm>
            <a:off x="812780" y="5524362"/>
            <a:ext cx="253994" cy="253994"/>
          </a:xfrm>
          <a:prstGeom prst="ellipse">
            <a:avLst/>
          </a:prstGeom>
        </p:spPr>
      </p:pic>
      <p:sp>
        <p:nvSpPr>
          <p:cNvPr id="17" name="Text 11"/>
          <p:cNvSpPr txBox="1"/>
          <p:nvPr/>
        </p:nvSpPr>
        <p:spPr>
          <a:xfrm>
            <a:off x="1142971" y="5473563"/>
            <a:ext cx="1622384"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Katie Niles, TaylorMade</a:t>
            </a:r>
            <a:endParaRPr lang="en-US" sz="950" dirty="0"/>
          </a:p>
        </p:txBody>
      </p:sp>
      <p:sp>
        <p:nvSpPr>
          <p:cNvPr id="18" name="Shape 12"/>
          <p:cNvSpPr/>
          <p:nvPr/>
        </p:nvSpPr>
        <p:spPr>
          <a:xfrm>
            <a:off x="2866953" y="5473563"/>
            <a:ext cx="2041474" cy="355591"/>
          </a:xfrm>
          <a:prstGeom prst="roundRect">
            <a:avLst>
              <a:gd name="adj" fmla="val 50000"/>
            </a:avLst>
          </a:prstGeom>
          <a:solidFill>
            <a:srgbClr val="050505"/>
          </a:solidFill>
          <a:ln w="9525">
            <a:solidFill>
              <a:srgbClr val="242424"/>
            </a:solidFill>
            <a:prstDash val="solid"/>
          </a:ln>
        </p:spPr>
      </p:sp>
      <p:pic>
        <p:nvPicPr>
          <p:cNvPr id="19" name="Image 4" descr="/private/tmp/claude-501/-Users-sebastiangier-Documents-Claude-Projects-FastForward-Global/e79bb229-0b18-47a3-8b64-a4a670addca8/scratchpad/pptx/img/bhavik-gandecha.png">    </p:cNvPr>
          <p:cNvPicPr>
            <a:picLocks noChangeAspect="1"/>
          </p:cNvPicPr>
          <p:nvPr/>
        </p:nvPicPr>
        <p:blipFill>
          <a:blip r:embed="rId5"/>
          <a:srcRect l="0" r="0" t="0" b="0"/>
          <a:stretch/>
        </p:blipFill>
        <p:spPr>
          <a:xfrm>
            <a:off x="2917752" y="5524362"/>
            <a:ext cx="253994" cy="253994"/>
          </a:xfrm>
          <a:prstGeom prst="ellipse">
            <a:avLst/>
          </a:prstGeom>
        </p:spPr>
      </p:pic>
      <p:sp>
        <p:nvSpPr>
          <p:cNvPr id="20" name="Text 13"/>
          <p:cNvSpPr txBox="1"/>
          <p:nvPr/>
        </p:nvSpPr>
        <p:spPr>
          <a:xfrm>
            <a:off x="3247944" y="5473563"/>
            <a:ext cx="1622384"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Bhavik Gandecha, Dscout</a:t>
            </a:r>
            <a:endParaRPr lang="en-US" sz="950" dirty="0"/>
          </a:p>
        </p:txBody>
      </p:sp>
      <p:pic>
        <p:nvPicPr>
          <p:cNvPr id="21" name="Image 5" descr="/private/tmp/claude-501/-Users-sebastiangier-Documents-Claude-Projects-FastForward-Global/e79bb229-0b18-47a3-8b64-a4a670addca8/scratchpad/pptx/img/DSC09633.jpg">    </p:cNvPr>
          <p:cNvPicPr>
            <a:picLocks noChangeAspect="1"/>
          </p:cNvPicPr>
          <p:nvPr/>
        </p:nvPicPr>
        <p:blipFill>
          <a:blip r:embed="rId6"/>
          <a:srcRect l="0" r="0" t="0" b="0"/>
          <a:stretch/>
        </p:blipFill>
        <p:spPr>
          <a:xfrm>
            <a:off x="6413340" y="990575"/>
            <a:ext cx="5016375" cy="2412940"/>
          </a:xfrm>
          <a:prstGeom prst="rect">
            <a:avLst/>
          </a:prstGeom>
        </p:spPr>
      </p:pic>
      <p:sp>
        <p:nvSpPr>
          <p:cNvPr id="22" name="Shape 14"/>
          <p:cNvSpPr/>
          <p:nvPr/>
        </p:nvSpPr>
        <p:spPr>
          <a:xfrm>
            <a:off x="6413340" y="3619410"/>
            <a:ext cx="19050" cy="1841454"/>
          </a:xfrm>
          <a:prstGeom prst="rect">
            <a:avLst/>
          </a:prstGeom>
          <a:solidFill>
            <a:srgbClr val="FFF204"/>
          </a:solidFill>
          <a:ln w="12700">
            <a:solidFill>
              <a:srgbClr val="FFF204"/>
            </a:solidFill>
            <a:prstDash val="solid"/>
          </a:ln>
        </p:spPr>
      </p:sp>
      <p:sp>
        <p:nvSpPr>
          <p:cNvPr id="23" name="Text 15"/>
          <p:cNvSpPr txBox="1"/>
          <p:nvPr/>
        </p:nvSpPr>
        <p:spPr>
          <a:xfrm>
            <a:off x="6565736" y="3619410"/>
            <a:ext cx="2228794" cy="126997"/>
          </a:xfrm>
          <a:prstGeom prst="rect">
            <a:avLst/>
          </a:prstGeom>
          <a:noFill/>
          <a:ln/>
        </p:spPr>
        <p:txBody>
          <a:bodyPr wrap="square" lIns="0" tIns="0" rIns="0" bIns="0" rtlCol="0" anchor="ctr"/>
          <a:lstStyle/>
          <a:p>
            <a:pPr indent="0" marL="0">
              <a:buNone/>
            </a:pPr>
            <a:r>
              <a:rPr lang="en-US" sz="750" spc="300" kern="0" dirty="0">
                <a:solidFill>
                  <a:srgbClr val="FFF204"/>
                </a:solidFill>
                <a:latin typeface="Arial" pitchFamily="34" charset="0"/>
                <a:ea typeface="Arial" pitchFamily="34" charset="-122"/>
                <a:cs typeface="Arial" pitchFamily="34" charset="-120"/>
              </a:rPr>
              <a:t>2026 EVIDENCE</a:t>
            </a:r>
            <a:endParaRPr lang="en-US" sz="750" dirty="0"/>
          </a:p>
        </p:txBody>
      </p:sp>
      <p:sp>
        <p:nvSpPr>
          <p:cNvPr id="24" name="Text 16"/>
          <p:cNvSpPr txBox="1"/>
          <p:nvPr/>
        </p:nvSpPr>
        <p:spPr>
          <a:xfrm>
            <a:off x="6565736" y="3771806"/>
            <a:ext cx="2228794" cy="571486"/>
          </a:xfrm>
          <a:prstGeom prst="rect">
            <a:avLst/>
          </a:prstGeom>
          <a:noFill/>
          <a:ln/>
        </p:spPr>
        <p:txBody>
          <a:bodyPr wrap="square" lIns="0" tIns="0" rIns="0" bIns="0" rtlCol="0" anchor="t"/>
          <a:lstStyle/>
          <a:p>
            <a:pPr indent="0" marL="0">
              <a:buNone/>
            </a:pPr>
            <a:r>
              <a:rPr lang="en-US" sz="4000" spc="-200" kern="0" dirty="0">
                <a:solidFill>
                  <a:srgbClr val="FFFFFF"/>
                </a:solidFill>
                <a:latin typeface="Arial" pitchFamily="34" charset="0"/>
                <a:ea typeface="Arial" pitchFamily="34" charset="-122"/>
                <a:cs typeface="Arial" pitchFamily="34" charset="-120"/>
              </a:rPr>
              <a:t>8 → 22%</a:t>
            </a:r>
            <a:endParaRPr lang="en-US" sz="4000" dirty="0"/>
          </a:p>
        </p:txBody>
      </p:sp>
      <p:sp>
        <p:nvSpPr>
          <p:cNvPr id="25" name="Text 17"/>
          <p:cNvSpPr txBox="1"/>
          <p:nvPr/>
        </p:nvSpPr>
        <p:spPr>
          <a:xfrm>
            <a:off x="6565736" y="4381390"/>
            <a:ext cx="2228794" cy="761981"/>
          </a:xfrm>
          <a:prstGeom prst="rect">
            <a:avLst/>
          </a:prstGeom>
          <a:noFill/>
          <a:ln/>
        </p:spPr>
        <p:txBody>
          <a:bodyPr wrap="square" lIns="0" tIns="0" rIns="0" bIns="0" rtlCol="0" anchor="t"/>
          <a:lstStyle/>
          <a:p>
            <a:pPr indent="0" marL="0">
              <a:lnSpc>
                <a:spcPct val="115000"/>
              </a:lnSpc>
              <a:buNone/>
            </a:pPr>
            <a:r>
              <a:rPr lang="en-US" sz="950" dirty="0">
                <a:solidFill>
                  <a:srgbClr val="CCCCCC"/>
                </a:solidFill>
                <a:latin typeface="Arial" pitchFamily="34" charset="0"/>
                <a:ea typeface="Arial" pitchFamily="34" charset="-122"/>
                <a:cs typeface="Arial" pitchFamily="34" charset="-120"/>
              </a:rPr>
              <a:t>of organisations call research “essential to all levels of business strategy”, nearly tripling in a year.</a:t>
            </a:r>
            <a:endParaRPr lang="en-US" sz="950" dirty="0"/>
          </a:p>
        </p:txBody>
      </p:sp>
      <p:sp>
        <p:nvSpPr>
          <p:cNvPr id="26" name="Text 18"/>
          <p:cNvSpPr txBox="1"/>
          <p:nvPr/>
        </p:nvSpPr>
        <p:spPr>
          <a:xfrm>
            <a:off x="6565736" y="5168771"/>
            <a:ext cx="2228794" cy="253994"/>
          </a:xfrm>
          <a:prstGeom prst="rect">
            <a:avLst/>
          </a:prstGeom>
          <a:noFill/>
          <a:ln/>
        </p:spPr>
        <p:txBody>
          <a:bodyPr wrap="square" lIns="0" tIns="0" rIns="0" bIns="0" rtlCol="0" anchor="t"/>
          <a:lstStyle/>
          <a:p>
            <a:pPr indent="0" marL="0">
              <a:buNone/>
            </a:pPr>
            <a:r>
              <a:rPr lang="en-US" sz="750" dirty="0">
                <a:solidFill>
                  <a:srgbClr val="5C5C5C"/>
                </a:solidFill>
                <a:latin typeface="Arial" pitchFamily="34" charset="0"/>
                <a:ea typeface="Arial" pitchFamily="34" charset="-122"/>
                <a:cs typeface="Arial" pitchFamily="34" charset="-120"/>
              </a:rPr>
              <a:t>Maze, Future of User Research 2026, March 2026</a:t>
            </a:r>
            <a:endParaRPr lang="en-US" sz="750" dirty="0"/>
          </a:p>
        </p:txBody>
      </p:sp>
      <p:sp>
        <p:nvSpPr>
          <p:cNvPr id="27" name="Shape 19"/>
          <p:cNvSpPr/>
          <p:nvPr/>
        </p:nvSpPr>
        <p:spPr>
          <a:xfrm>
            <a:off x="9048524" y="3619410"/>
            <a:ext cx="19050" cy="1841454"/>
          </a:xfrm>
          <a:prstGeom prst="rect">
            <a:avLst/>
          </a:prstGeom>
          <a:solidFill>
            <a:srgbClr val="FFF204"/>
          </a:solidFill>
          <a:ln w="12700">
            <a:solidFill>
              <a:srgbClr val="FFF204"/>
            </a:solidFill>
            <a:prstDash val="solid"/>
          </a:ln>
        </p:spPr>
      </p:sp>
      <p:sp>
        <p:nvSpPr>
          <p:cNvPr id="28" name="Text 20"/>
          <p:cNvSpPr txBox="1"/>
          <p:nvPr/>
        </p:nvSpPr>
        <p:spPr>
          <a:xfrm>
            <a:off x="9200920" y="3619410"/>
            <a:ext cx="2228794" cy="126997"/>
          </a:xfrm>
          <a:prstGeom prst="rect">
            <a:avLst/>
          </a:prstGeom>
          <a:noFill/>
          <a:ln/>
        </p:spPr>
        <p:txBody>
          <a:bodyPr wrap="square" lIns="0" tIns="0" rIns="0" bIns="0" rtlCol="0" anchor="ctr"/>
          <a:lstStyle/>
          <a:p>
            <a:pPr indent="0" marL="0">
              <a:buNone/>
            </a:pPr>
            <a:r>
              <a:rPr lang="en-US" sz="750" spc="300" kern="0" dirty="0">
                <a:solidFill>
                  <a:srgbClr val="FFF204"/>
                </a:solidFill>
                <a:latin typeface="Arial" pitchFamily="34" charset="0"/>
                <a:ea typeface="Arial" pitchFamily="34" charset="-122"/>
                <a:cs typeface="Arial" pitchFamily="34" charset="-120"/>
              </a:rPr>
              <a:t>THE GAP TO CLOSE</a:t>
            </a:r>
            <a:endParaRPr lang="en-US" sz="750" dirty="0"/>
          </a:p>
        </p:txBody>
      </p:sp>
      <p:sp>
        <p:nvSpPr>
          <p:cNvPr id="29" name="Text 21"/>
          <p:cNvSpPr txBox="1"/>
          <p:nvPr/>
        </p:nvSpPr>
        <p:spPr>
          <a:xfrm>
            <a:off x="9200920" y="3771806"/>
            <a:ext cx="2228794" cy="571486"/>
          </a:xfrm>
          <a:prstGeom prst="rect">
            <a:avLst/>
          </a:prstGeom>
          <a:noFill/>
          <a:ln/>
        </p:spPr>
        <p:txBody>
          <a:bodyPr wrap="square" lIns="0" tIns="0" rIns="0" bIns="0" rtlCol="0" anchor="t"/>
          <a:lstStyle/>
          <a:p>
            <a:pPr indent="0" marL="0">
              <a:buNone/>
            </a:pPr>
            <a:r>
              <a:rPr lang="en-US" sz="4000" spc="-200" kern="0" dirty="0">
                <a:solidFill>
                  <a:srgbClr val="FFFFFF"/>
                </a:solidFill>
                <a:latin typeface="Arial" pitchFamily="34" charset="0"/>
                <a:ea typeface="Arial" pitchFamily="34" charset="-122"/>
                <a:cs typeface="Arial" pitchFamily="34" charset="-120"/>
              </a:rPr>
              <a:t>37%</a:t>
            </a:r>
            <a:endParaRPr lang="en-US" sz="4000" dirty="0"/>
          </a:p>
        </p:txBody>
      </p:sp>
      <p:sp>
        <p:nvSpPr>
          <p:cNvPr id="30" name="Text 22"/>
          <p:cNvSpPr txBox="1"/>
          <p:nvPr/>
        </p:nvSpPr>
        <p:spPr>
          <a:xfrm>
            <a:off x="9200920" y="4381390"/>
            <a:ext cx="2228794" cy="761981"/>
          </a:xfrm>
          <a:prstGeom prst="rect">
            <a:avLst/>
          </a:prstGeom>
          <a:noFill/>
          <a:ln/>
        </p:spPr>
        <p:txBody>
          <a:bodyPr wrap="square" lIns="0" tIns="0" rIns="0" bIns="0" rtlCol="0" anchor="t"/>
          <a:lstStyle/>
          <a:p>
            <a:pPr indent="0" marL="0">
              <a:lnSpc>
                <a:spcPct val="115000"/>
              </a:lnSpc>
              <a:buNone/>
            </a:pPr>
            <a:r>
              <a:rPr lang="en-US" sz="950" dirty="0">
                <a:solidFill>
                  <a:srgbClr val="CCCCCC"/>
                </a:solidFill>
                <a:latin typeface="Arial" pitchFamily="34" charset="0"/>
                <a:ea typeface="Arial" pitchFamily="34" charset="-122"/>
                <a:cs typeface="Arial" pitchFamily="34" charset="-120"/>
              </a:rPr>
              <a:t>say AI has contributed to enterprise EBIT, unchanged, while 80% say it improved their own productivity.</a:t>
            </a:r>
            <a:endParaRPr lang="en-US" sz="950" dirty="0"/>
          </a:p>
        </p:txBody>
      </p:sp>
      <p:sp>
        <p:nvSpPr>
          <p:cNvPr id="31" name="Text 23"/>
          <p:cNvSpPr txBox="1"/>
          <p:nvPr/>
        </p:nvSpPr>
        <p:spPr>
          <a:xfrm>
            <a:off x="9200920" y="5168771"/>
            <a:ext cx="2228794" cy="253994"/>
          </a:xfrm>
          <a:prstGeom prst="rect">
            <a:avLst/>
          </a:prstGeom>
          <a:noFill/>
          <a:ln/>
        </p:spPr>
        <p:txBody>
          <a:bodyPr wrap="square" lIns="0" tIns="0" rIns="0" bIns="0" rtlCol="0" anchor="t"/>
          <a:lstStyle/>
          <a:p>
            <a:pPr indent="0" marL="0">
              <a:buNone/>
            </a:pPr>
            <a:r>
              <a:rPr lang="en-US" sz="750" dirty="0">
                <a:solidFill>
                  <a:srgbClr val="5C5C5C"/>
                </a:solidFill>
                <a:latin typeface="Arial" pitchFamily="34" charset="0"/>
                <a:ea typeface="Arial" pitchFamily="34" charset="-122"/>
                <a:cs typeface="Arial" pitchFamily="34" charset="-120"/>
              </a:rPr>
              <a:t>McKinsey, State of AI 2026, August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07</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THEME</a:t>
            </a:r>
            <a:pPr indent="0" marL="0">
              <a:buNone/>
            </a:pPr>
            <a:r>
              <a:rPr lang="en-US" sz="1000" b="1" spc="500" kern="0" dirty="0">
                <a:solidFill>
                  <a:srgbClr val="A6A6A6"/>
                </a:solidFill>
                <a:latin typeface="Arial" pitchFamily="34" charset="0"/>
                <a:ea typeface="Arial" pitchFamily="34" charset="-122"/>
                <a:cs typeface="Arial" pitchFamily="34" charset="-120"/>
              </a:rPr>
              <a:t>   THE EXPANDING BRIEF</a:t>
            </a:r>
            <a:endParaRPr lang="en-US" sz="1000" dirty="0"/>
          </a:p>
        </p:txBody>
      </p:sp>
      <p:sp>
        <p:nvSpPr>
          <p:cNvPr id="7" name="Text 4"/>
          <p:cNvSpPr txBox="1"/>
          <p:nvPr/>
        </p:nvSpPr>
        <p:spPr>
          <a:xfrm>
            <a:off x="761981" y="990575"/>
            <a:ext cx="5079873" cy="1650959"/>
          </a:xfrm>
          <a:prstGeom prst="rect">
            <a:avLst/>
          </a:prstGeom>
          <a:noFill/>
          <a:ln/>
        </p:spPr>
        <p:txBody>
          <a:bodyPr wrap="square" lIns="0" tIns="0" rIns="0" bIns="0" rtlCol="0" anchor="t"/>
          <a:lstStyle/>
          <a:p>
            <a:pPr indent="0" marL="0">
              <a:lnSpc>
                <a:spcPct val="98000"/>
              </a:lnSpc>
              <a:buNone/>
            </a:pPr>
            <a:r>
              <a:rPr lang="en-US" sz="3600" b="1" spc="-200" kern="0" dirty="0">
                <a:solidFill>
                  <a:srgbClr val="FFFFFF"/>
                </a:solidFill>
                <a:latin typeface="Arial" pitchFamily="34" charset="0"/>
                <a:ea typeface="Arial" pitchFamily="34" charset="-122"/>
                <a:cs typeface="Arial" pitchFamily="34" charset="-120"/>
              </a:rPr>
              <a:t>Design leaves the screen: </a:t>
            </a:r>
            <a:pPr indent="0" marL="0">
              <a:lnSpc>
                <a:spcPct val="98000"/>
              </a:lnSpc>
              <a:buNone/>
            </a:pPr>
            <a:r>
              <a:rPr lang="en-US" sz="3600" b="1" spc="-200" kern="0" dirty="0">
                <a:solidFill>
                  <a:srgbClr val="FFF204"/>
                </a:solidFill>
                <a:latin typeface="Arial" pitchFamily="34" charset="0"/>
                <a:ea typeface="Arial" pitchFamily="34" charset="-122"/>
                <a:cs typeface="Arial" pitchFamily="34" charset="-120"/>
              </a:rPr>
              <a:t>decisions, systems, organisations.</a:t>
            </a:r>
            <a:endParaRPr lang="en-US" sz="3600" dirty="0"/>
          </a:p>
        </p:txBody>
      </p:sp>
      <p:sp>
        <p:nvSpPr>
          <p:cNvPr id="8" name="Text 5"/>
          <p:cNvSpPr txBox="1"/>
          <p:nvPr/>
        </p:nvSpPr>
        <p:spPr>
          <a:xfrm>
            <a:off x="761981" y="2768531"/>
            <a:ext cx="5079873" cy="2095448"/>
          </a:xfrm>
          <a:prstGeom prst="rect">
            <a:avLst/>
          </a:prstGeom>
          <a:noFill/>
          <a:ln/>
        </p:spPr>
        <p:txBody>
          <a:bodyPr wrap="square" lIns="0" tIns="0" rIns="0" bIns="0" rtlCol="0" anchor="t"/>
          <a:lstStyle/>
          <a:p>
            <a:pPr indent="0" marL="0">
              <a:lnSpc>
                <a:spcPct val="125000"/>
              </a:lnSpc>
              <a:buNone/>
            </a:pPr>
            <a:r>
              <a:rPr lang="en-US" sz="1150" dirty="0">
                <a:solidFill>
                  <a:srgbClr val="C4C4C4"/>
                </a:solidFill>
                <a:latin typeface="Arial" pitchFamily="34" charset="0"/>
                <a:ea typeface="Arial" pitchFamily="34" charset="-122"/>
                <a:cs typeface="Arial" pitchFamily="34" charset="-120"/>
              </a:rPr>
              <a:t>Chris Gielow asked designers to stop designing screens and start designing decisions, and to measure their value by influence on what gets built. Twisha Shah-Brandenburg took it a level up: AI transformation succeeds or fails on fragmented systems, invisible labour and unclear ownership, so the brief is now the organisation itself. The closing panel compared the expectations placed on enterprise design leaders with the reality of the role.</a:t>
            </a:r>
            <a:endParaRPr lang="en-US" sz="1150" dirty="0"/>
          </a:p>
        </p:txBody>
      </p:sp>
      <p:sp>
        <p:nvSpPr>
          <p:cNvPr id="9" name="Shape 6"/>
          <p:cNvSpPr/>
          <p:nvPr/>
        </p:nvSpPr>
        <p:spPr>
          <a:xfrm>
            <a:off x="761981" y="5054474"/>
            <a:ext cx="2241494" cy="355591"/>
          </a:xfrm>
          <a:prstGeom prst="roundRect">
            <a:avLst>
              <a:gd name="adj" fmla="val 50000"/>
            </a:avLst>
          </a:prstGeom>
          <a:solidFill>
            <a:srgbClr val="050505"/>
          </a:solidFill>
          <a:ln w="9525">
            <a:solidFill>
              <a:srgbClr val="242424"/>
            </a:solidFill>
            <a:prstDash val="solid"/>
          </a:ln>
        </p:spPr>
      </p:sp>
      <p:pic>
        <p:nvPicPr>
          <p:cNvPr id="10" name="Image 1" descr="/private/tmp/claude-501/-Users-sebastiangier-Documents-Claude-Projects-FastForward-Global/e79bb229-0b18-47a3-8b64-a4a670addca8/scratchpad/pptx/img/chris-gielow.png">    </p:cNvPr>
          <p:cNvPicPr>
            <a:picLocks noChangeAspect="1"/>
          </p:cNvPicPr>
          <p:nvPr/>
        </p:nvPicPr>
        <p:blipFill>
          <a:blip r:embed="rId2"/>
          <a:srcRect l="0" r="0" t="0" b="0"/>
          <a:stretch/>
        </p:blipFill>
        <p:spPr>
          <a:xfrm>
            <a:off x="812780" y="5105272"/>
            <a:ext cx="253994" cy="253994"/>
          </a:xfrm>
          <a:prstGeom prst="ellipse">
            <a:avLst/>
          </a:prstGeom>
        </p:spPr>
      </p:pic>
      <p:sp>
        <p:nvSpPr>
          <p:cNvPr id="11" name="Text 7"/>
          <p:cNvSpPr txBox="1"/>
          <p:nvPr/>
        </p:nvSpPr>
        <p:spPr>
          <a:xfrm>
            <a:off x="1142971" y="5054474"/>
            <a:ext cx="1822404"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Chris Gielow, UX Speakeasy</a:t>
            </a:r>
            <a:endParaRPr lang="en-US" sz="950" dirty="0"/>
          </a:p>
        </p:txBody>
      </p:sp>
      <p:sp>
        <p:nvSpPr>
          <p:cNvPr id="12" name="Shape 8"/>
          <p:cNvSpPr/>
          <p:nvPr/>
        </p:nvSpPr>
        <p:spPr>
          <a:xfrm>
            <a:off x="3066973" y="5054474"/>
            <a:ext cx="2574861" cy="355591"/>
          </a:xfrm>
          <a:prstGeom prst="roundRect">
            <a:avLst>
              <a:gd name="adj" fmla="val 50000"/>
            </a:avLst>
          </a:prstGeom>
          <a:solidFill>
            <a:srgbClr val="050505"/>
          </a:solidFill>
          <a:ln w="9525">
            <a:solidFill>
              <a:srgbClr val="242424"/>
            </a:solidFill>
            <a:prstDash val="solid"/>
          </a:ln>
        </p:spPr>
      </p:sp>
      <p:pic>
        <p:nvPicPr>
          <p:cNvPr id="13" name="Image 2" descr="/private/tmp/claude-501/-Users-sebastiangier-Documents-Claude-Projects-FastForward-Global/e79bb229-0b18-47a3-8b64-a4a670addca8/scratchpad/pptx/img/twisha-shah-brandenburg.png">    </p:cNvPr>
          <p:cNvPicPr>
            <a:picLocks noChangeAspect="1"/>
          </p:cNvPicPr>
          <p:nvPr/>
        </p:nvPicPr>
        <p:blipFill>
          <a:blip r:embed="rId3"/>
          <a:srcRect l="0" r="0" t="0" b="0"/>
          <a:stretch/>
        </p:blipFill>
        <p:spPr>
          <a:xfrm>
            <a:off x="3117772" y="5105272"/>
            <a:ext cx="253994" cy="253994"/>
          </a:xfrm>
          <a:prstGeom prst="ellipse">
            <a:avLst/>
          </a:prstGeom>
        </p:spPr>
      </p:pic>
      <p:sp>
        <p:nvSpPr>
          <p:cNvPr id="14" name="Text 9"/>
          <p:cNvSpPr txBox="1"/>
          <p:nvPr/>
        </p:nvSpPr>
        <p:spPr>
          <a:xfrm>
            <a:off x="3447964" y="5054474"/>
            <a:ext cx="2155771"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Twisha Shah-Brandenburg, Target</a:t>
            </a:r>
            <a:endParaRPr lang="en-US" sz="950" dirty="0"/>
          </a:p>
        </p:txBody>
      </p:sp>
      <p:sp>
        <p:nvSpPr>
          <p:cNvPr id="15" name="Shape 10"/>
          <p:cNvSpPr/>
          <p:nvPr/>
        </p:nvSpPr>
        <p:spPr>
          <a:xfrm>
            <a:off x="761981" y="5473563"/>
            <a:ext cx="1641434" cy="355591"/>
          </a:xfrm>
          <a:prstGeom prst="roundRect">
            <a:avLst>
              <a:gd name="adj" fmla="val 50000"/>
            </a:avLst>
          </a:prstGeom>
          <a:solidFill>
            <a:srgbClr val="050505"/>
          </a:solidFill>
          <a:ln w="9525">
            <a:solidFill>
              <a:srgbClr val="242424"/>
            </a:solidFill>
            <a:prstDash val="solid"/>
          </a:ln>
        </p:spPr>
      </p:sp>
      <p:pic>
        <p:nvPicPr>
          <p:cNvPr id="16" name="Image 3" descr="/private/tmp/claude-501/-Users-sebastiangier-Documents-Claude-Projects-FastForward-Global/e79bb229-0b18-47a3-8b64-a4a670addca8/scratchpad/pptx/img/diana-tobey.png">    </p:cNvPr>
          <p:cNvPicPr>
            <a:picLocks noChangeAspect="1"/>
          </p:cNvPicPr>
          <p:nvPr/>
        </p:nvPicPr>
        <p:blipFill>
          <a:blip r:embed="rId4"/>
          <a:srcRect l="0" r="0" t="0" b="0"/>
          <a:stretch/>
        </p:blipFill>
        <p:spPr>
          <a:xfrm>
            <a:off x="812780" y="5524362"/>
            <a:ext cx="253994" cy="253994"/>
          </a:xfrm>
          <a:prstGeom prst="ellipse">
            <a:avLst/>
          </a:prstGeom>
        </p:spPr>
      </p:pic>
      <p:sp>
        <p:nvSpPr>
          <p:cNvPr id="17" name="Text 11"/>
          <p:cNvSpPr txBox="1"/>
          <p:nvPr/>
        </p:nvSpPr>
        <p:spPr>
          <a:xfrm>
            <a:off x="1142971" y="5473563"/>
            <a:ext cx="1222344"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Diana Tobey, IDEO</a:t>
            </a:r>
            <a:endParaRPr lang="en-US" sz="950" dirty="0"/>
          </a:p>
        </p:txBody>
      </p:sp>
      <p:pic>
        <p:nvPicPr>
          <p:cNvPr id="18" name="Image 4" descr="/private/tmp/claude-501/-Users-sebastiangier-Documents-Claude-Projects-FastForward-Global/e79bb229-0b18-47a3-8b64-a4a670addca8/scratchpad/pptx/img/DSC09693.jpg">    </p:cNvPr>
          <p:cNvPicPr>
            <a:picLocks noChangeAspect="1"/>
          </p:cNvPicPr>
          <p:nvPr/>
        </p:nvPicPr>
        <p:blipFill>
          <a:blip r:embed="rId5"/>
          <a:srcRect l="0" r="0" t="0" b="0"/>
          <a:stretch/>
        </p:blipFill>
        <p:spPr>
          <a:xfrm>
            <a:off x="6413340" y="990575"/>
            <a:ext cx="5016375" cy="2412940"/>
          </a:xfrm>
          <a:prstGeom prst="rect">
            <a:avLst/>
          </a:prstGeom>
        </p:spPr>
      </p:pic>
      <p:sp>
        <p:nvSpPr>
          <p:cNvPr id="19" name="Shape 12"/>
          <p:cNvSpPr/>
          <p:nvPr/>
        </p:nvSpPr>
        <p:spPr>
          <a:xfrm>
            <a:off x="6413340" y="3619410"/>
            <a:ext cx="19050" cy="1841454"/>
          </a:xfrm>
          <a:prstGeom prst="rect">
            <a:avLst/>
          </a:prstGeom>
          <a:solidFill>
            <a:srgbClr val="FFF204"/>
          </a:solidFill>
          <a:ln w="12700">
            <a:solidFill>
              <a:srgbClr val="FFF204"/>
            </a:solidFill>
            <a:prstDash val="solid"/>
          </a:ln>
        </p:spPr>
      </p:sp>
      <p:sp>
        <p:nvSpPr>
          <p:cNvPr id="20" name="Text 13"/>
          <p:cNvSpPr txBox="1"/>
          <p:nvPr/>
        </p:nvSpPr>
        <p:spPr>
          <a:xfrm>
            <a:off x="6565736" y="3619410"/>
            <a:ext cx="2228794" cy="126997"/>
          </a:xfrm>
          <a:prstGeom prst="rect">
            <a:avLst/>
          </a:prstGeom>
          <a:noFill/>
          <a:ln/>
        </p:spPr>
        <p:txBody>
          <a:bodyPr wrap="square" lIns="0" tIns="0" rIns="0" bIns="0" rtlCol="0" anchor="ctr"/>
          <a:lstStyle/>
          <a:p>
            <a:pPr indent="0" marL="0">
              <a:buNone/>
            </a:pPr>
            <a:r>
              <a:rPr lang="en-US" sz="750" spc="300" kern="0" dirty="0">
                <a:solidFill>
                  <a:srgbClr val="FFF204"/>
                </a:solidFill>
                <a:latin typeface="Arial" pitchFamily="34" charset="0"/>
                <a:ea typeface="Arial" pitchFamily="34" charset="-122"/>
                <a:cs typeface="Arial" pitchFamily="34" charset="-120"/>
              </a:rPr>
              <a:t>2026 EVIDENCE</a:t>
            </a:r>
            <a:endParaRPr lang="en-US" sz="750" dirty="0"/>
          </a:p>
        </p:txBody>
      </p:sp>
      <p:sp>
        <p:nvSpPr>
          <p:cNvPr id="21" name="Text 14"/>
          <p:cNvSpPr txBox="1"/>
          <p:nvPr/>
        </p:nvSpPr>
        <p:spPr>
          <a:xfrm>
            <a:off x="6565736" y="3771806"/>
            <a:ext cx="2228794" cy="571486"/>
          </a:xfrm>
          <a:prstGeom prst="rect">
            <a:avLst/>
          </a:prstGeom>
          <a:noFill/>
          <a:ln/>
        </p:spPr>
        <p:txBody>
          <a:bodyPr wrap="square" lIns="0" tIns="0" rIns="0" bIns="0" rtlCol="0" anchor="t"/>
          <a:lstStyle/>
          <a:p>
            <a:pPr indent="0" marL="0">
              <a:buNone/>
            </a:pPr>
            <a:r>
              <a:rPr lang="en-US" sz="4000" spc="-200" kern="0" dirty="0">
                <a:solidFill>
                  <a:srgbClr val="FFFFFF"/>
                </a:solidFill>
                <a:latin typeface="Arial" pitchFamily="34" charset="0"/>
                <a:ea typeface="Arial" pitchFamily="34" charset="-122"/>
                <a:cs typeface="Arial" pitchFamily="34" charset="-120"/>
              </a:rPr>
              <a:t>21 → 41%</a:t>
            </a:r>
            <a:endParaRPr lang="en-US" sz="4000" dirty="0"/>
          </a:p>
        </p:txBody>
      </p:sp>
      <p:sp>
        <p:nvSpPr>
          <p:cNvPr id="22" name="Text 15"/>
          <p:cNvSpPr txBox="1"/>
          <p:nvPr/>
        </p:nvSpPr>
        <p:spPr>
          <a:xfrm>
            <a:off x="6565736" y="4381390"/>
            <a:ext cx="2228794" cy="761981"/>
          </a:xfrm>
          <a:prstGeom prst="rect">
            <a:avLst/>
          </a:prstGeom>
          <a:noFill/>
          <a:ln/>
        </p:spPr>
        <p:txBody>
          <a:bodyPr wrap="square" lIns="0" tIns="0" rIns="0" bIns="0" rtlCol="0" anchor="t"/>
          <a:lstStyle/>
          <a:p>
            <a:pPr indent="0" marL="0">
              <a:lnSpc>
                <a:spcPct val="115000"/>
              </a:lnSpc>
              <a:buNone/>
            </a:pPr>
            <a:r>
              <a:rPr lang="en-US" sz="950" dirty="0">
                <a:solidFill>
                  <a:srgbClr val="CCCCCC"/>
                </a:solidFill>
                <a:latin typeface="Arial" pitchFamily="34" charset="0"/>
                <a:ea typeface="Arial" pitchFamily="34" charset="-122"/>
                <a:cs typeface="Arial" pitchFamily="34" charset="-120"/>
              </a:rPr>
              <a:t>of designers now do development work; developers doing design rose from 44% to 60%.</a:t>
            </a:r>
            <a:endParaRPr lang="en-US" sz="950" dirty="0"/>
          </a:p>
        </p:txBody>
      </p:sp>
      <p:sp>
        <p:nvSpPr>
          <p:cNvPr id="23" name="Text 16"/>
          <p:cNvSpPr txBox="1"/>
          <p:nvPr/>
        </p:nvSpPr>
        <p:spPr>
          <a:xfrm>
            <a:off x="6565736" y="5168771"/>
            <a:ext cx="2228794" cy="253994"/>
          </a:xfrm>
          <a:prstGeom prst="rect">
            <a:avLst/>
          </a:prstGeom>
          <a:noFill/>
          <a:ln/>
        </p:spPr>
        <p:txBody>
          <a:bodyPr wrap="square" lIns="0" tIns="0" rIns="0" bIns="0" rtlCol="0" anchor="t"/>
          <a:lstStyle/>
          <a:p>
            <a:pPr indent="0" marL="0">
              <a:buNone/>
            </a:pPr>
            <a:r>
              <a:rPr lang="en-US" sz="750" dirty="0">
                <a:solidFill>
                  <a:srgbClr val="5C5C5C"/>
                </a:solidFill>
                <a:latin typeface="Arial" pitchFamily="34" charset="0"/>
                <a:ea typeface="Arial" pitchFamily="34" charset="-122"/>
                <a:cs typeface="Arial" pitchFamily="34" charset="-120"/>
              </a:rPr>
              <a:t>Figma, 2026 AI Report, June 2026</a:t>
            </a:r>
            <a:endParaRPr lang="en-US" sz="750" dirty="0"/>
          </a:p>
        </p:txBody>
      </p:sp>
      <p:sp>
        <p:nvSpPr>
          <p:cNvPr id="24" name="Shape 17"/>
          <p:cNvSpPr/>
          <p:nvPr/>
        </p:nvSpPr>
        <p:spPr>
          <a:xfrm>
            <a:off x="9048524" y="3619410"/>
            <a:ext cx="19050" cy="1841454"/>
          </a:xfrm>
          <a:prstGeom prst="rect">
            <a:avLst/>
          </a:prstGeom>
          <a:solidFill>
            <a:srgbClr val="FFF204"/>
          </a:solidFill>
          <a:ln w="12700">
            <a:solidFill>
              <a:srgbClr val="FFF204"/>
            </a:solidFill>
            <a:prstDash val="solid"/>
          </a:ln>
        </p:spPr>
      </p:sp>
      <p:sp>
        <p:nvSpPr>
          <p:cNvPr id="25" name="Text 18"/>
          <p:cNvSpPr txBox="1"/>
          <p:nvPr/>
        </p:nvSpPr>
        <p:spPr>
          <a:xfrm>
            <a:off x="9200920" y="3619410"/>
            <a:ext cx="2228794" cy="126997"/>
          </a:xfrm>
          <a:prstGeom prst="rect">
            <a:avLst/>
          </a:prstGeom>
          <a:noFill/>
          <a:ln/>
        </p:spPr>
        <p:txBody>
          <a:bodyPr wrap="square" lIns="0" tIns="0" rIns="0" bIns="0" rtlCol="0" anchor="ctr"/>
          <a:lstStyle/>
          <a:p>
            <a:pPr indent="0" marL="0">
              <a:buNone/>
            </a:pPr>
            <a:r>
              <a:rPr lang="en-US" sz="750" spc="300" kern="0" dirty="0">
                <a:solidFill>
                  <a:srgbClr val="FFF204"/>
                </a:solidFill>
                <a:latin typeface="Arial" pitchFamily="34" charset="0"/>
                <a:ea typeface="Arial" pitchFamily="34" charset="-122"/>
                <a:cs typeface="Arial" pitchFamily="34" charset="-120"/>
              </a:rPr>
              <a:t>AT THE TOP</a:t>
            </a:r>
            <a:endParaRPr lang="en-US" sz="750" dirty="0"/>
          </a:p>
        </p:txBody>
      </p:sp>
      <p:sp>
        <p:nvSpPr>
          <p:cNvPr id="26" name="Text 19"/>
          <p:cNvSpPr txBox="1"/>
          <p:nvPr/>
        </p:nvSpPr>
        <p:spPr>
          <a:xfrm>
            <a:off x="9200920" y="3771806"/>
            <a:ext cx="2228794" cy="571486"/>
          </a:xfrm>
          <a:prstGeom prst="rect">
            <a:avLst/>
          </a:prstGeom>
          <a:noFill/>
          <a:ln/>
        </p:spPr>
        <p:txBody>
          <a:bodyPr wrap="square" lIns="0" tIns="0" rIns="0" bIns="0" rtlCol="0" anchor="t"/>
          <a:lstStyle/>
          <a:p>
            <a:pPr indent="0" marL="0">
              <a:buNone/>
            </a:pPr>
            <a:r>
              <a:rPr lang="en-US" sz="4000" spc="-200" kern="0" dirty="0">
                <a:solidFill>
                  <a:srgbClr val="FFFFFF"/>
                </a:solidFill>
                <a:latin typeface="Arial" pitchFamily="34" charset="0"/>
                <a:ea typeface="Arial" pitchFamily="34" charset="-122"/>
                <a:cs typeface="Arial" pitchFamily="34" charset="-120"/>
              </a:rPr>
              <a:t>72%</a:t>
            </a:r>
            <a:endParaRPr lang="en-US" sz="4000" dirty="0"/>
          </a:p>
        </p:txBody>
      </p:sp>
      <p:sp>
        <p:nvSpPr>
          <p:cNvPr id="27" name="Text 20"/>
          <p:cNvSpPr txBox="1"/>
          <p:nvPr/>
        </p:nvSpPr>
        <p:spPr>
          <a:xfrm>
            <a:off x="9200920" y="4381390"/>
            <a:ext cx="2228794" cy="761981"/>
          </a:xfrm>
          <a:prstGeom prst="rect">
            <a:avLst/>
          </a:prstGeom>
          <a:noFill/>
          <a:ln/>
        </p:spPr>
        <p:txBody>
          <a:bodyPr wrap="square" lIns="0" tIns="0" rIns="0" bIns="0" rtlCol="0" anchor="t"/>
          <a:lstStyle/>
          <a:p>
            <a:pPr indent="0" marL="0">
              <a:lnSpc>
                <a:spcPct val="115000"/>
              </a:lnSpc>
              <a:buNone/>
            </a:pPr>
            <a:r>
              <a:rPr lang="en-US" sz="950" dirty="0">
                <a:solidFill>
                  <a:srgbClr val="CCCCCC"/>
                </a:solidFill>
                <a:latin typeface="Arial" pitchFamily="34" charset="0"/>
                <a:ea typeface="Arial" pitchFamily="34" charset="-122"/>
                <a:cs typeface="Arial" pitchFamily="34" charset="-120"/>
              </a:rPr>
              <a:t>of CEOs say they are now the main AI decision-maker, double the prior year.</a:t>
            </a:r>
            <a:endParaRPr lang="en-US" sz="950" dirty="0"/>
          </a:p>
        </p:txBody>
      </p:sp>
      <p:sp>
        <p:nvSpPr>
          <p:cNvPr id="28" name="Text 21"/>
          <p:cNvSpPr txBox="1"/>
          <p:nvPr/>
        </p:nvSpPr>
        <p:spPr>
          <a:xfrm>
            <a:off x="9200920" y="5168771"/>
            <a:ext cx="2228794" cy="253994"/>
          </a:xfrm>
          <a:prstGeom prst="rect">
            <a:avLst/>
          </a:prstGeom>
          <a:noFill/>
          <a:ln/>
        </p:spPr>
        <p:txBody>
          <a:bodyPr wrap="square" lIns="0" tIns="0" rIns="0" bIns="0" rtlCol="0" anchor="t"/>
          <a:lstStyle/>
          <a:p>
            <a:pPr indent="0" marL="0">
              <a:buNone/>
            </a:pPr>
            <a:r>
              <a:rPr lang="en-US" sz="750" dirty="0">
                <a:solidFill>
                  <a:srgbClr val="5C5C5C"/>
                </a:solidFill>
                <a:latin typeface="Arial" pitchFamily="34" charset="0"/>
                <a:ea typeface="Arial" pitchFamily="34" charset="-122"/>
                <a:cs typeface="Arial" pitchFamily="34" charset="-120"/>
              </a:rPr>
              <a:t>BCG, AI Radar 2026, January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08</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THEME</a:t>
            </a:r>
            <a:pPr indent="0" marL="0">
              <a:buNone/>
            </a:pPr>
            <a:r>
              <a:rPr lang="en-US" sz="1000" b="1" spc="500" kern="0" dirty="0">
                <a:solidFill>
                  <a:srgbClr val="A6A6A6"/>
                </a:solidFill>
                <a:latin typeface="Arial" pitchFamily="34" charset="0"/>
                <a:ea typeface="Arial" pitchFamily="34" charset="-122"/>
                <a:cs typeface="Arial" pitchFamily="34" charset="-120"/>
              </a:rPr>
              <a:t>   HUMANITY-CENTRED, STILL</a:t>
            </a:r>
            <a:endParaRPr lang="en-US" sz="1000" dirty="0"/>
          </a:p>
        </p:txBody>
      </p:sp>
      <p:sp>
        <p:nvSpPr>
          <p:cNvPr id="7" name="Text 4"/>
          <p:cNvSpPr txBox="1"/>
          <p:nvPr/>
        </p:nvSpPr>
        <p:spPr>
          <a:xfrm>
            <a:off x="761981" y="990575"/>
            <a:ext cx="5079873" cy="1650959"/>
          </a:xfrm>
          <a:prstGeom prst="rect">
            <a:avLst/>
          </a:prstGeom>
          <a:noFill/>
          <a:ln/>
        </p:spPr>
        <p:txBody>
          <a:bodyPr wrap="square" lIns="0" tIns="0" rIns="0" bIns="0" rtlCol="0" anchor="t"/>
          <a:lstStyle/>
          <a:p>
            <a:pPr indent="0" marL="0">
              <a:lnSpc>
                <a:spcPct val="98000"/>
              </a:lnSpc>
              <a:buNone/>
            </a:pPr>
            <a:r>
              <a:rPr lang="en-US" sz="3600" b="1" spc="-200" kern="0" dirty="0">
                <a:solidFill>
                  <a:srgbClr val="FFFFFF"/>
                </a:solidFill>
                <a:latin typeface="Arial" pitchFamily="34" charset="0"/>
                <a:ea typeface="Arial" pitchFamily="34" charset="-122"/>
                <a:cs typeface="Arial" pitchFamily="34" charset="-120"/>
              </a:rPr>
              <a:t>The human stays irrational, </a:t>
            </a:r>
            <a:pPr indent="0" marL="0">
              <a:lnSpc>
                <a:spcPct val="98000"/>
              </a:lnSpc>
              <a:buNone/>
            </a:pPr>
            <a:r>
              <a:rPr lang="en-US" sz="3600" b="1" spc="-200" kern="0" dirty="0">
                <a:solidFill>
                  <a:srgbClr val="FFF204"/>
                </a:solidFill>
                <a:latin typeface="Arial" pitchFamily="34" charset="0"/>
                <a:ea typeface="Arial" pitchFamily="34" charset="-122"/>
                <a:cs typeface="Arial" pitchFamily="34" charset="-120"/>
              </a:rPr>
              <a:t>and irreplaceable.</a:t>
            </a:r>
            <a:endParaRPr lang="en-US" sz="3600" dirty="0"/>
          </a:p>
        </p:txBody>
      </p:sp>
      <p:sp>
        <p:nvSpPr>
          <p:cNvPr id="8" name="Text 5"/>
          <p:cNvSpPr txBox="1"/>
          <p:nvPr/>
        </p:nvSpPr>
        <p:spPr>
          <a:xfrm>
            <a:off x="761981" y="2768531"/>
            <a:ext cx="5079873" cy="2095448"/>
          </a:xfrm>
          <a:prstGeom prst="rect">
            <a:avLst/>
          </a:prstGeom>
          <a:noFill/>
          <a:ln/>
        </p:spPr>
        <p:txBody>
          <a:bodyPr wrap="square" lIns="0" tIns="0" rIns="0" bIns="0" rtlCol="0" anchor="t"/>
          <a:lstStyle/>
          <a:p>
            <a:pPr indent="0" marL="0">
              <a:lnSpc>
                <a:spcPct val="125000"/>
              </a:lnSpc>
              <a:buNone/>
            </a:pPr>
            <a:r>
              <a:rPr lang="en-US" sz="1150" dirty="0">
                <a:solidFill>
                  <a:srgbClr val="C4C4C4"/>
                </a:solidFill>
                <a:latin typeface="Arial" pitchFamily="34" charset="0"/>
                <a:ea typeface="Arial" pitchFamily="34" charset="-122"/>
                <a:cs typeface="Arial" pitchFamily="34" charset="-120"/>
              </a:rPr>
              <a:t>Don Norman opened on the state of humanity-centred innovation. Rowan Salama reminded the room that the rational user most products are designed for does not exist, and that AI’s best use is understanding the “beautifully irrational” ways people decide. Stephanie Mencarelli argued that as machines generate more, human originality becomes the scarce resource, which is why joy, not productivity, was her metric. Kara Fitzpatrick: AI can read the deck, it cannot read the room.</a:t>
            </a:r>
            <a:endParaRPr lang="en-US" sz="1150" dirty="0"/>
          </a:p>
        </p:txBody>
      </p:sp>
      <p:sp>
        <p:nvSpPr>
          <p:cNvPr id="9" name="Shape 6"/>
          <p:cNvSpPr/>
          <p:nvPr/>
        </p:nvSpPr>
        <p:spPr>
          <a:xfrm>
            <a:off x="761981" y="5054474"/>
            <a:ext cx="1174721" cy="355591"/>
          </a:xfrm>
          <a:prstGeom prst="roundRect">
            <a:avLst>
              <a:gd name="adj" fmla="val 50000"/>
            </a:avLst>
          </a:prstGeom>
          <a:solidFill>
            <a:srgbClr val="050505"/>
          </a:solidFill>
          <a:ln w="9525">
            <a:solidFill>
              <a:srgbClr val="242424"/>
            </a:solidFill>
            <a:prstDash val="solid"/>
          </a:ln>
        </p:spPr>
      </p:sp>
      <p:pic>
        <p:nvPicPr>
          <p:cNvPr id="10" name="Image 1" descr="/private/tmp/claude-501/-Users-sebastiangier-Documents-Claude-Projects-FastForward-Global/e79bb229-0b18-47a3-8b64-a4a670addca8/scratchpad/pptx/img/don-norman.png">    </p:cNvPr>
          <p:cNvPicPr>
            <a:picLocks noChangeAspect="1"/>
          </p:cNvPicPr>
          <p:nvPr/>
        </p:nvPicPr>
        <p:blipFill>
          <a:blip r:embed="rId2"/>
          <a:srcRect l="0" r="0" t="0" b="0"/>
          <a:stretch/>
        </p:blipFill>
        <p:spPr>
          <a:xfrm>
            <a:off x="812780" y="5105272"/>
            <a:ext cx="253994" cy="253994"/>
          </a:xfrm>
          <a:prstGeom prst="ellipse">
            <a:avLst/>
          </a:prstGeom>
        </p:spPr>
      </p:pic>
      <p:sp>
        <p:nvSpPr>
          <p:cNvPr id="11" name="Text 7"/>
          <p:cNvSpPr txBox="1"/>
          <p:nvPr/>
        </p:nvSpPr>
        <p:spPr>
          <a:xfrm>
            <a:off x="1142971" y="5054474"/>
            <a:ext cx="755631"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Don Norman</a:t>
            </a:r>
            <a:endParaRPr lang="en-US" sz="950" dirty="0"/>
          </a:p>
        </p:txBody>
      </p:sp>
      <p:sp>
        <p:nvSpPr>
          <p:cNvPr id="12" name="Shape 8"/>
          <p:cNvSpPr/>
          <p:nvPr/>
        </p:nvSpPr>
        <p:spPr>
          <a:xfrm>
            <a:off x="2000200" y="5054474"/>
            <a:ext cx="1841454" cy="355591"/>
          </a:xfrm>
          <a:prstGeom prst="roundRect">
            <a:avLst>
              <a:gd name="adj" fmla="val 50000"/>
            </a:avLst>
          </a:prstGeom>
          <a:solidFill>
            <a:srgbClr val="050505"/>
          </a:solidFill>
          <a:ln w="9525">
            <a:solidFill>
              <a:srgbClr val="242424"/>
            </a:solidFill>
            <a:prstDash val="solid"/>
          </a:ln>
        </p:spPr>
      </p:sp>
      <p:pic>
        <p:nvPicPr>
          <p:cNvPr id="13" name="Image 2" descr="/private/tmp/claude-501/-Users-sebastiangier-Documents-Claude-Projects-FastForward-Global/e79bb229-0b18-47a3-8b64-a4a670addca8/scratchpad/pptx/img/rowan-salama.png">    </p:cNvPr>
          <p:cNvPicPr>
            <a:picLocks noChangeAspect="1"/>
          </p:cNvPicPr>
          <p:nvPr/>
        </p:nvPicPr>
        <p:blipFill>
          <a:blip r:embed="rId3"/>
          <a:srcRect l="0" r="0" t="0" b="0"/>
          <a:stretch/>
        </p:blipFill>
        <p:spPr>
          <a:xfrm>
            <a:off x="2050999" y="5105272"/>
            <a:ext cx="253994" cy="253994"/>
          </a:xfrm>
          <a:prstGeom prst="ellipse">
            <a:avLst/>
          </a:prstGeom>
        </p:spPr>
      </p:pic>
      <p:sp>
        <p:nvSpPr>
          <p:cNvPr id="14" name="Text 9"/>
          <p:cNvSpPr txBox="1"/>
          <p:nvPr/>
        </p:nvSpPr>
        <p:spPr>
          <a:xfrm>
            <a:off x="2381190" y="5054474"/>
            <a:ext cx="1422364"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Rowan Salama, Careem</a:t>
            </a:r>
            <a:endParaRPr lang="en-US" sz="950" dirty="0"/>
          </a:p>
        </p:txBody>
      </p:sp>
      <p:sp>
        <p:nvSpPr>
          <p:cNvPr id="15" name="Shape 10"/>
          <p:cNvSpPr/>
          <p:nvPr/>
        </p:nvSpPr>
        <p:spPr>
          <a:xfrm>
            <a:off x="761981" y="5473563"/>
            <a:ext cx="2308167" cy="355591"/>
          </a:xfrm>
          <a:prstGeom prst="roundRect">
            <a:avLst>
              <a:gd name="adj" fmla="val 50000"/>
            </a:avLst>
          </a:prstGeom>
          <a:solidFill>
            <a:srgbClr val="050505"/>
          </a:solidFill>
          <a:ln w="9525">
            <a:solidFill>
              <a:srgbClr val="242424"/>
            </a:solidFill>
            <a:prstDash val="solid"/>
          </a:ln>
        </p:spPr>
      </p:sp>
      <p:pic>
        <p:nvPicPr>
          <p:cNvPr id="16" name="Image 3" descr="/private/tmp/claude-501/-Users-sebastiangier-Documents-Claude-Projects-FastForward-Global/e79bb229-0b18-47a3-8b64-a4a670addca8/scratchpad/pptx/img/stephanie-mencarelli.png">    </p:cNvPr>
          <p:cNvPicPr>
            <a:picLocks noChangeAspect="1"/>
          </p:cNvPicPr>
          <p:nvPr/>
        </p:nvPicPr>
        <p:blipFill>
          <a:blip r:embed="rId4"/>
          <a:srcRect l="0" r="0" t="0" b="0"/>
          <a:stretch/>
        </p:blipFill>
        <p:spPr>
          <a:xfrm>
            <a:off x="812780" y="5524362"/>
            <a:ext cx="253994" cy="253994"/>
          </a:xfrm>
          <a:prstGeom prst="ellipse">
            <a:avLst/>
          </a:prstGeom>
        </p:spPr>
      </p:pic>
      <p:sp>
        <p:nvSpPr>
          <p:cNvPr id="17" name="Text 11"/>
          <p:cNvSpPr txBox="1"/>
          <p:nvPr/>
        </p:nvSpPr>
        <p:spPr>
          <a:xfrm>
            <a:off x="1142971" y="5473563"/>
            <a:ext cx="1889078"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Stephanie Mencarelli, Adobe</a:t>
            </a:r>
            <a:endParaRPr lang="en-US" sz="950" dirty="0"/>
          </a:p>
        </p:txBody>
      </p:sp>
      <p:sp>
        <p:nvSpPr>
          <p:cNvPr id="18" name="Shape 12"/>
          <p:cNvSpPr/>
          <p:nvPr/>
        </p:nvSpPr>
        <p:spPr>
          <a:xfrm>
            <a:off x="3133647" y="5473563"/>
            <a:ext cx="1574761" cy="355591"/>
          </a:xfrm>
          <a:prstGeom prst="roundRect">
            <a:avLst>
              <a:gd name="adj" fmla="val 50000"/>
            </a:avLst>
          </a:prstGeom>
          <a:solidFill>
            <a:srgbClr val="050505"/>
          </a:solidFill>
          <a:ln w="9525">
            <a:solidFill>
              <a:srgbClr val="242424"/>
            </a:solidFill>
            <a:prstDash val="solid"/>
          </a:ln>
        </p:spPr>
      </p:sp>
      <p:pic>
        <p:nvPicPr>
          <p:cNvPr id="19" name="Image 4" descr="/private/tmp/claude-501/-Users-sebastiangier-Documents-Claude-Projects-FastForward-Global/e79bb229-0b18-47a3-8b64-a4a670addca8/scratchpad/pptx/img/kara-fitzpatrick.jpg">    </p:cNvPr>
          <p:cNvPicPr>
            <a:picLocks noChangeAspect="1"/>
          </p:cNvPicPr>
          <p:nvPr/>
        </p:nvPicPr>
        <p:blipFill>
          <a:blip r:embed="rId5"/>
          <a:srcRect l="0" r="0" t="0" b="0"/>
          <a:stretch/>
        </p:blipFill>
        <p:spPr>
          <a:xfrm>
            <a:off x="3184445" y="5524362"/>
            <a:ext cx="253994" cy="253994"/>
          </a:xfrm>
          <a:prstGeom prst="ellipse">
            <a:avLst/>
          </a:prstGeom>
        </p:spPr>
      </p:pic>
      <p:sp>
        <p:nvSpPr>
          <p:cNvPr id="20" name="Text 13"/>
          <p:cNvSpPr txBox="1"/>
          <p:nvPr/>
        </p:nvSpPr>
        <p:spPr>
          <a:xfrm>
            <a:off x="3514637" y="5473563"/>
            <a:ext cx="1155671"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Kara Fitzpatrick</a:t>
            </a:r>
            <a:endParaRPr lang="en-US" sz="950" dirty="0"/>
          </a:p>
        </p:txBody>
      </p:sp>
      <p:pic>
        <p:nvPicPr>
          <p:cNvPr id="21" name="Image 5" descr="/private/tmp/claude-501/-Users-sebastiangier-Documents-Claude-Projects-FastForward-Global/e79bb229-0b18-47a3-8b64-a4a670addca8/scratchpad/pptx/img/DSC09522.jpg">    </p:cNvPr>
          <p:cNvPicPr>
            <a:picLocks noChangeAspect="1"/>
          </p:cNvPicPr>
          <p:nvPr/>
        </p:nvPicPr>
        <p:blipFill>
          <a:blip r:embed="rId6"/>
          <a:srcRect l="0" r="0" t="0" b="0"/>
          <a:stretch/>
        </p:blipFill>
        <p:spPr>
          <a:xfrm>
            <a:off x="6413340" y="990575"/>
            <a:ext cx="5016375" cy="2412940"/>
          </a:xfrm>
          <a:prstGeom prst="rect">
            <a:avLst/>
          </a:prstGeom>
        </p:spPr>
      </p:pic>
      <p:sp>
        <p:nvSpPr>
          <p:cNvPr id="22" name="Shape 14"/>
          <p:cNvSpPr/>
          <p:nvPr/>
        </p:nvSpPr>
        <p:spPr>
          <a:xfrm>
            <a:off x="6413340" y="3619410"/>
            <a:ext cx="19050" cy="1841454"/>
          </a:xfrm>
          <a:prstGeom prst="rect">
            <a:avLst/>
          </a:prstGeom>
          <a:solidFill>
            <a:srgbClr val="FFF204"/>
          </a:solidFill>
          <a:ln w="12700">
            <a:solidFill>
              <a:srgbClr val="FFF204"/>
            </a:solidFill>
            <a:prstDash val="solid"/>
          </a:ln>
        </p:spPr>
      </p:sp>
      <p:sp>
        <p:nvSpPr>
          <p:cNvPr id="23" name="Text 15"/>
          <p:cNvSpPr txBox="1"/>
          <p:nvPr/>
        </p:nvSpPr>
        <p:spPr>
          <a:xfrm>
            <a:off x="6565736" y="3619410"/>
            <a:ext cx="2228794" cy="126997"/>
          </a:xfrm>
          <a:prstGeom prst="rect">
            <a:avLst/>
          </a:prstGeom>
          <a:noFill/>
          <a:ln/>
        </p:spPr>
        <p:txBody>
          <a:bodyPr wrap="square" lIns="0" tIns="0" rIns="0" bIns="0" rtlCol="0" anchor="ctr"/>
          <a:lstStyle/>
          <a:p>
            <a:pPr indent="0" marL="0">
              <a:buNone/>
            </a:pPr>
            <a:r>
              <a:rPr lang="en-US" sz="750" spc="300" kern="0" dirty="0">
                <a:solidFill>
                  <a:srgbClr val="FFF204"/>
                </a:solidFill>
                <a:latin typeface="Arial" pitchFamily="34" charset="0"/>
                <a:ea typeface="Arial" pitchFamily="34" charset="-122"/>
                <a:cs typeface="Arial" pitchFamily="34" charset="-120"/>
              </a:rPr>
              <a:t>2026 EVIDENCE</a:t>
            </a:r>
            <a:endParaRPr lang="en-US" sz="750" dirty="0"/>
          </a:p>
        </p:txBody>
      </p:sp>
      <p:sp>
        <p:nvSpPr>
          <p:cNvPr id="24" name="Text 16"/>
          <p:cNvSpPr txBox="1"/>
          <p:nvPr/>
        </p:nvSpPr>
        <p:spPr>
          <a:xfrm>
            <a:off x="6565736" y="3771806"/>
            <a:ext cx="2228794" cy="571486"/>
          </a:xfrm>
          <a:prstGeom prst="rect">
            <a:avLst/>
          </a:prstGeom>
          <a:noFill/>
          <a:ln/>
        </p:spPr>
        <p:txBody>
          <a:bodyPr wrap="square" lIns="0" tIns="0" rIns="0" bIns="0" rtlCol="0" anchor="t"/>
          <a:lstStyle/>
          <a:p>
            <a:pPr indent="0" marL="0">
              <a:buNone/>
            </a:pPr>
            <a:r>
              <a:rPr lang="en-US" sz="4000" spc="-200" kern="0" dirty="0">
                <a:solidFill>
                  <a:srgbClr val="FFFFFF"/>
                </a:solidFill>
                <a:latin typeface="Arial" pitchFamily="34" charset="0"/>
                <a:ea typeface="Arial" pitchFamily="34" charset="-122"/>
                <a:cs typeface="Arial" pitchFamily="34" charset="-120"/>
              </a:rPr>
              <a:t>82%</a:t>
            </a:r>
            <a:endParaRPr lang="en-US" sz="4000" dirty="0"/>
          </a:p>
        </p:txBody>
      </p:sp>
      <p:sp>
        <p:nvSpPr>
          <p:cNvPr id="25" name="Text 17"/>
          <p:cNvSpPr txBox="1"/>
          <p:nvPr/>
        </p:nvSpPr>
        <p:spPr>
          <a:xfrm>
            <a:off x="6565736" y="4381390"/>
            <a:ext cx="2228794" cy="761981"/>
          </a:xfrm>
          <a:prstGeom prst="rect">
            <a:avLst/>
          </a:prstGeom>
          <a:noFill/>
          <a:ln/>
        </p:spPr>
        <p:txBody>
          <a:bodyPr wrap="square" lIns="0" tIns="0" rIns="0" bIns="0" rtlCol="0" anchor="t"/>
          <a:lstStyle/>
          <a:p>
            <a:pPr indent="0" marL="0">
              <a:lnSpc>
                <a:spcPct val="115000"/>
              </a:lnSpc>
              <a:buNone/>
            </a:pPr>
            <a:r>
              <a:rPr lang="en-US" sz="950" dirty="0">
                <a:solidFill>
                  <a:srgbClr val="CCCCCC"/>
                </a:solidFill>
                <a:latin typeface="Arial" pitchFamily="34" charset="0"/>
                <a:ea typeface="Arial" pitchFamily="34" charset="-122"/>
                <a:cs typeface="Arial" pitchFamily="34" charset="-120"/>
              </a:rPr>
              <a:t>of research practitioners say interpreting nuance and emotion remains a job for humans.</a:t>
            </a:r>
            <a:endParaRPr lang="en-US" sz="950" dirty="0"/>
          </a:p>
        </p:txBody>
      </p:sp>
      <p:sp>
        <p:nvSpPr>
          <p:cNvPr id="26" name="Text 18"/>
          <p:cNvSpPr txBox="1"/>
          <p:nvPr/>
        </p:nvSpPr>
        <p:spPr>
          <a:xfrm>
            <a:off x="6565736" y="5168771"/>
            <a:ext cx="2228794" cy="253994"/>
          </a:xfrm>
          <a:prstGeom prst="rect">
            <a:avLst/>
          </a:prstGeom>
          <a:noFill/>
          <a:ln/>
        </p:spPr>
        <p:txBody>
          <a:bodyPr wrap="square" lIns="0" tIns="0" rIns="0" bIns="0" rtlCol="0" anchor="t"/>
          <a:lstStyle/>
          <a:p>
            <a:pPr indent="0" marL="0">
              <a:buNone/>
            </a:pPr>
            <a:r>
              <a:rPr lang="en-US" sz="750" dirty="0">
                <a:solidFill>
                  <a:srgbClr val="5C5C5C"/>
                </a:solidFill>
                <a:latin typeface="Arial" pitchFamily="34" charset="0"/>
                <a:ea typeface="Arial" pitchFamily="34" charset="-122"/>
                <a:cs typeface="Arial" pitchFamily="34" charset="-120"/>
              </a:rPr>
              <a:t>Maze, March 2026</a:t>
            </a:r>
            <a:endParaRPr lang="en-US" sz="750" dirty="0"/>
          </a:p>
        </p:txBody>
      </p:sp>
      <p:sp>
        <p:nvSpPr>
          <p:cNvPr id="27" name="Shape 19"/>
          <p:cNvSpPr/>
          <p:nvPr/>
        </p:nvSpPr>
        <p:spPr>
          <a:xfrm>
            <a:off x="9048524" y="3619410"/>
            <a:ext cx="19050" cy="1841454"/>
          </a:xfrm>
          <a:prstGeom prst="rect">
            <a:avLst/>
          </a:prstGeom>
          <a:solidFill>
            <a:srgbClr val="FFF204"/>
          </a:solidFill>
          <a:ln w="12700">
            <a:solidFill>
              <a:srgbClr val="FFF204"/>
            </a:solidFill>
            <a:prstDash val="solid"/>
          </a:ln>
        </p:spPr>
      </p:sp>
      <p:sp>
        <p:nvSpPr>
          <p:cNvPr id="28" name="Text 20"/>
          <p:cNvSpPr txBox="1"/>
          <p:nvPr/>
        </p:nvSpPr>
        <p:spPr>
          <a:xfrm>
            <a:off x="9200920" y="3619410"/>
            <a:ext cx="2228794" cy="126997"/>
          </a:xfrm>
          <a:prstGeom prst="rect">
            <a:avLst/>
          </a:prstGeom>
          <a:noFill/>
          <a:ln/>
        </p:spPr>
        <p:txBody>
          <a:bodyPr wrap="square" lIns="0" tIns="0" rIns="0" bIns="0" rtlCol="0" anchor="ctr"/>
          <a:lstStyle/>
          <a:p>
            <a:pPr indent="0" marL="0">
              <a:buNone/>
            </a:pPr>
            <a:r>
              <a:rPr lang="en-US" sz="750" spc="300" kern="0" dirty="0">
                <a:solidFill>
                  <a:srgbClr val="FFF204"/>
                </a:solidFill>
                <a:latin typeface="Arial" pitchFamily="34" charset="0"/>
                <a:ea typeface="Arial" pitchFamily="34" charset="-122"/>
                <a:cs typeface="Arial" pitchFamily="34" charset="-120"/>
              </a:rPr>
              <a:t>THE TRUST PROBLEM</a:t>
            </a:r>
            <a:endParaRPr lang="en-US" sz="750" dirty="0"/>
          </a:p>
        </p:txBody>
      </p:sp>
      <p:sp>
        <p:nvSpPr>
          <p:cNvPr id="29" name="Text 21"/>
          <p:cNvSpPr txBox="1"/>
          <p:nvPr/>
        </p:nvSpPr>
        <p:spPr>
          <a:xfrm>
            <a:off x="9200920" y="3771806"/>
            <a:ext cx="2228794" cy="571486"/>
          </a:xfrm>
          <a:prstGeom prst="rect">
            <a:avLst/>
          </a:prstGeom>
          <a:noFill/>
          <a:ln/>
        </p:spPr>
        <p:txBody>
          <a:bodyPr wrap="square" lIns="0" tIns="0" rIns="0" bIns="0" rtlCol="0" anchor="t"/>
          <a:lstStyle/>
          <a:p>
            <a:pPr indent="0" marL="0">
              <a:buNone/>
            </a:pPr>
            <a:r>
              <a:rPr lang="en-US" sz="4000" spc="-200" kern="0" dirty="0">
                <a:solidFill>
                  <a:srgbClr val="FFFFFF"/>
                </a:solidFill>
                <a:latin typeface="Arial" pitchFamily="34" charset="0"/>
                <a:ea typeface="Arial" pitchFamily="34" charset="-122"/>
                <a:cs typeface="Arial" pitchFamily="34" charset="-120"/>
              </a:rPr>
              <a:t>50%</a:t>
            </a:r>
            <a:endParaRPr lang="en-US" sz="4000" dirty="0"/>
          </a:p>
        </p:txBody>
      </p:sp>
      <p:sp>
        <p:nvSpPr>
          <p:cNvPr id="30" name="Text 22"/>
          <p:cNvSpPr txBox="1"/>
          <p:nvPr/>
        </p:nvSpPr>
        <p:spPr>
          <a:xfrm>
            <a:off x="9200920" y="4381390"/>
            <a:ext cx="2228794" cy="761981"/>
          </a:xfrm>
          <a:prstGeom prst="rect">
            <a:avLst/>
          </a:prstGeom>
          <a:noFill/>
          <a:ln/>
        </p:spPr>
        <p:txBody>
          <a:bodyPr wrap="square" lIns="0" tIns="0" rIns="0" bIns="0" rtlCol="0" anchor="t"/>
          <a:lstStyle/>
          <a:p>
            <a:pPr indent="0" marL="0">
              <a:lnSpc>
                <a:spcPct val="115000"/>
              </a:lnSpc>
              <a:buNone/>
            </a:pPr>
            <a:r>
              <a:rPr lang="en-US" sz="950" dirty="0">
                <a:solidFill>
                  <a:srgbClr val="CCCCCC"/>
                </a:solidFill>
                <a:latin typeface="Arial" pitchFamily="34" charset="0"/>
                <a:ea typeface="Arial" pitchFamily="34" charset="-122"/>
                <a:cs typeface="Arial" pitchFamily="34" charset="-120"/>
              </a:rPr>
              <a:t>of US consumers prefer brands that do not use generative AI in customer-facing content.</a:t>
            </a:r>
            <a:endParaRPr lang="en-US" sz="950" dirty="0"/>
          </a:p>
        </p:txBody>
      </p:sp>
      <p:sp>
        <p:nvSpPr>
          <p:cNvPr id="31" name="Text 23"/>
          <p:cNvSpPr txBox="1"/>
          <p:nvPr/>
        </p:nvSpPr>
        <p:spPr>
          <a:xfrm>
            <a:off x="9200920" y="5168771"/>
            <a:ext cx="2228794" cy="253994"/>
          </a:xfrm>
          <a:prstGeom prst="rect">
            <a:avLst/>
          </a:prstGeom>
          <a:noFill/>
          <a:ln/>
        </p:spPr>
        <p:txBody>
          <a:bodyPr wrap="square" lIns="0" tIns="0" rIns="0" bIns="0" rtlCol="0" anchor="t"/>
          <a:lstStyle/>
          <a:p>
            <a:pPr indent="0" marL="0">
              <a:buNone/>
            </a:pPr>
            <a:r>
              <a:rPr lang="en-US" sz="750" dirty="0">
                <a:solidFill>
                  <a:srgbClr val="5C5C5C"/>
                </a:solidFill>
                <a:latin typeface="Arial" pitchFamily="34" charset="0"/>
                <a:ea typeface="Arial" pitchFamily="34" charset="-122"/>
                <a:cs typeface="Arial" pitchFamily="34" charset="-120"/>
              </a:rPr>
              <a:t>Gartner, March 2026</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09</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THEME</a:t>
            </a:r>
            <a:pPr indent="0" marL="0">
              <a:buNone/>
            </a:pPr>
            <a:r>
              <a:rPr lang="en-US" sz="1000" b="1" spc="500" kern="0" dirty="0">
                <a:solidFill>
                  <a:srgbClr val="A6A6A6"/>
                </a:solidFill>
                <a:latin typeface="Arial" pitchFamily="34" charset="0"/>
                <a:ea typeface="Arial" pitchFamily="34" charset="-122"/>
                <a:cs typeface="Arial" pitchFamily="34" charset="-120"/>
              </a:rPr>
              <a:t>   AGENTS, CONTEXT AND THE EXPERIENCE ECONOMY</a:t>
            </a:r>
            <a:endParaRPr lang="en-US" sz="1000" dirty="0"/>
          </a:p>
        </p:txBody>
      </p:sp>
      <p:sp>
        <p:nvSpPr>
          <p:cNvPr id="7" name="Text 4"/>
          <p:cNvSpPr txBox="1"/>
          <p:nvPr/>
        </p:nvSpPr>
        <p:spPr>
          <a:xfrm>
            <a:off x="761981" y="990575"/>
            <a:ext cx="5079873" cy="1650959"/>
          </a:xfrm>
          <a:prstGeom prst="rect">
            <a:avLst/>
          </a:prstGeom>
          <a:noFill/>
          <a:ln/>
        </p:spPr>
        <p:txBody>
          <a:bodyPr wrap="square" lIns="0" tIns="0" rIns="0" bIns="0" rtlCol="0" anchor="t"/>
          <a:lstStyle/>
          <a:p>
            <a:pPr indent="0" marL="0">
              <a:lnSpc>
                <a:spcPct val="98000"/>
              </a:lnSpc>
              <a:buNone/>
            </a:pPr>
            <a:r>
              <a:rPr lang="en-US" sz="3600" b="1" spc="-200" kern="0" dirty="0">
                <a:solidFill>
                  <a:srgbClr val="FFFFFF"/>
                </a:solidFill>
                <a:latin typeface="Arial" pitchFamily="34" charset="0"/>
                <a:ea typeface="Arial" pitchFamily="34" charset="-122"/>
                <a:cs typeface="Arial" pitchFamily="34" charset="-120"/>
              </a:rPr>
              <a:t>Context is the asset. </a:t>
            </a:r>
            <a:pPr indent="0" marL="0">
              <a:lnSpc>
                <a:spcPct val="98000"/>
              </a:lnSpc>
              <a:buNone/>
            </a:pPr>
            <a:r>
              <a:rPr lang="en-US" sz="3600" b="1" spc="-200" kern="0" dirty="0">
                <a:solidFill>
                  <a:srgbClr val="FFF204"/>
                </a:solidFill>
                <a:latin typeface="Arial" pitchFamily="34" charset="0"/>
                <a:ea typeface="Arial" pitchFamily="34" charset="-122"/>
                <a:cs typeface="Arial" pitchFamily="34" charset="-120"/>
              </a:rPr>
              <a:t>The experience is the business.</a:t>
            </a:r>
            <a:endParaRPr lang="en-US" sz="3600" dirty="0"/>
          </a:p>
        </p:txBody>
      </p:sp>
      <p:sp>
        <p:nvSpPr>
          <p:cNvPr id="8" name="Text 5"/>
          <p:cNvSpPr txBox="1"/>
          <p:nvPr/>
        </p:nvSpPr>
        <p:spPr>
          <a:xfrm>
            <a:off x="761981" y="2768531"/>
            <a:ext cx="5079873" cy="2095448"/>
          </a:xfrm>
          <a:prstGeom prst="rect">
            <a:avLst/>
          </a:prstGeom>
          <a:noFill/>
          <a:ln/>
        </p:spPr>
        <p:txBody>
          <a:bodyPr wrap="square" lIns="0" tIns="0" rIns="0" bIns="0" rtlCol="0" anchor="t"/>
          <a:lstStyle/>
          <a:p>
            <a:pPr indent="0" marL="0">
              <a:lnSpc>
                <a:spcPct val="125000"/>
              </a:lnSpc>
              <a:buNone/>
            </a:pPr>
            <a:r>
              <a:rPr lang="en-US" sz="1150" dirty="0">
                <a:solidFill>
                  <a:srgbClr val="C4C4C4"/>
                </a:solidFill>
                <a:latin typeface="Arial" pitchFamily="34" charset="0"/>
                <a:ea typeface="Arial" pitchFamily="34" charset="-122"/>
                <a:cs typeface="Arial" pitchFamily="34" charset="-120"/>
              </a:rPr>
              <a:t>Diana Wolosin’s “context engineers” argued that models change weekly while well-structured knowledge compounds; AJ Azzi’s MCP roundtable showed the same from the tool side. Scott Robinson asked who we design for when an agent is the one browsing and buying. The Experience Economy panel drew the conclusion: digital experiences are no longer a layer on the business, they are the business.</a:t>
            </a:r>
            <a:endParaRPr lang="en-US" sz="1150" dirty="0"/>
          </a:p>
        </p:txBody>
      </p:sp>
      <p:sp>
        <p:nvSpPr>
          <p:cNvPr id="9" name="Shape 6"/>
          <p:cNvSpPr/>
          <p:nvPr/>
        </p:nvSpPr>
        <p:spPr>
          <a:xfrm>
            <a:off x="761981" y="5054474"/>
            <a:ext cx="1974801" cy="355591"/>
          </a:xfrm>
          <a:prstGeom prst="roundRect">
            <a:avLst>
              <a:gd name="adj" fmla="val 50000"/>
            </a:avLst>
          </a:prstGeom>
          <a:solidFill>
            <a:srgbClr val="050505"/>
          </a:solidFill>
          <a:ln w="9525">
            <a:solidFill>
              <a:srgbClr val="242424"/>
            </a:solidFill>
            <a:prstDash val="solid"/>
          </a:ln>
        </p:spPr>
      </p:sp>
      <p:pic>
        <p:nvPicPr>
          <p:cNvPr id="10" name="Image 1" descr="/private/tmp/claude-501/-Users-sebastiangier-Documents-Claude-Projects-FastForward-Global/e79bb229-0b18-47a3-8b64-a4a670addca8/scratchpad/pptx/img/diana-wolosin.png">    </p:cNvPr>
          <p:cNvPicPr>
            <a:picLocks noChangeAspect="1"/>
          </p:cNvPicPr>
          <p:nvPr/>
        </p:nvPicPr>
        <p:blipFill>
          <a:blip r:embed="rId2"/>
          <a:srcRect l="0" r="0" t="0" b="0"/>
          <a:stretch/>
        </p:blipFill>
        <p:spPr>
          <a:xfrm>
            <a:off x="812780" y="5105272"/>
            <a:ext cx="253994" cy="253994"/>
          </a:xfrm>
          <a:prstGeom prst="ellipse">
            <a:avLst/>
          </a:prstGeom>
        </p:spPr>
      </p:pic>
      <p:sp>
        <p:nvSpPr>
          <p:cNvPr id="11" name="Text 7"/>
          <p:cNvSpPr txBox="1"/>
          <p:nvPr/>
        </p:nvSpPr>
        <p:spPr>
          <a:xfrm>
            <a:off x="1142971" y="5054474"/>
            <a:ext cx="1555711"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Diana Wolosin, Netflix</a:t>
            </a:r>
            <a:endParaRPr lang="en-US" sz="950" dirty="0"/>
          </a:p>
        </p:txBody>
      </p:sp>
      <p:sp>
        <p:nvSpPr>
          <p:cNvPr id="12" name="Shape 8"/>
          <p:cNvSpPr/>
          <p:nvPr/>
        </p:nvSpPr>
        <p:spPr>
          <a:xfrm>
            <a:off x="2800280" y="5054474"/>
            <a:ext cx="1574761" cy="355591"/>
          </a:xfrm>
          <a:prstGeom prst="roundRect">
            <a:avLst>
              <a:gd name="adj" fmla="val 50000"/>
            </a:avLst>
          </a:prstGeom>
          <a:solidFill>
            <a:srgbClr val="050505"/>
          </a:solidFill>
          <a:ln w="9525">
            <a:solidFill>
              <a:srgbClr val="242424"/>
            </a:solidFill>
            <a:prstDash val="solid"/>
          </a:ln>
        </p:spPr>
      </p:sp>
      <p:pic>
        <p:nvPicPr>
          <p:cNvPr id="13" name="Image 2" descr="/private/tmp/claude-501/-Users-sebastiangier-Documents-Claude-Projects-FastForward-Global/e79bb229-0b18-47a3-8b64-a4a670addca8/scratchpad/pptx/img/aj-azzi.png">    </p:cNvPr>
          <p:cNvPicPr>
            <a:picLocks noChangeAspect="1"/>
          </p:cNvPicPr>
          <p:nvPr/>
        </p:nvPicPr>
        <p:blipFill>
          <a:blip r:embed="rId3"/>
          <a:srcRect l="0" r="0" t="0" b="0"/>
          <a:stretch/>
        </p:blipFill>
        <p:spPr>
          <a:xfrm>
            <a:off x="2851079" y="5105272"/>
            <a:ext cx="253994" cy="253994"/>
          </a:xfrm>
          <a:prstGeom prst="ellipse">
            <a:avLst/>
          </a:prstGeom>
        </p:spPr>
      </p:pic>
      <p:sp>
        <p:nvSpPr>
          <p:cNvPr id="14" name="Text 9"/>
          <p:cNvSpPr txBox="1"/>
          <p:nvPr/>
        </p:nvSpPr>
        <p:spPr>
          <a:xfrm>
            <a:off x="3181270" y="5054474"/>
            <a:ext cx="1155671"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AJ Azzi, Askable</a:t>
            </a:r>
            <a:endParaRPr lang="en-US" sz="950" dirty="0"/>
          </a:p>
        </p:txBody>
      </p:sp>
      <p:sp>
        <p:nvSpPr>
          <p:cNvPr id="15" name="Shape 10"/>
          <p:cNvSpPr/>
          <p:nvPr/>
        </p:nvSpPr>
        <p:spPr>
          <a:xfrm>
            <a:off x="761981" y="5473563"/>
            <a:ext cx="2174821" cy="355591"/>
          </a:xfrm>
          <a:prstGeom prst="roundRect">
            <a:avLst>
              <a:gd name="adj" fmla="val 50000"/>
            </a:avLst>
          </a:prstGeom>
          <a:solidFill>
            <a:srgbClr val="050505"/>
          </a:solidFill>
          <a:ln w="9525">
            <a:solidFill>
              <a:srgbClr val="242424"/>
            </a:solidFill>
            <a:prstDash val="solid"/>
          </a:ln>
        </p:spPr>
      </p:sp>
      <p:pic>
        <p:nvPicPr>
          <p:cNvPr id="16" name="Image 3" descr="/private/tmp/claude-501/-Users-sebastiangier-Documents-Claude-Projects-FastForward-Global/e79bb229-0b18-47a3-8b64-a4a670addca8/scratchpad/pptx/img/scott-robinson.png">    </p:cNvPr>
          <p:cNvPicPr>
            <a:picLocks noChangeAspect="1"/>
          </p:cNvPicPr>
          <p:nvPr/>
        </p:nvPicPr>
        <p:blipFill>
          <a:blip r:embed="rId4"/>
          <a:srcRect l="0" r="0" t="0" b="0"/>
          <a:stretch/>
        </p:blipFill>
        <p:spPr>
          <a:xfrm>
            <a:off x="812780" y="5524362"/>
            <a:ext cx="253994" cy="253994"/>
          </a:xfrm>
          <a:prstGeom prst="ellipse">
            <a:avLst/>
          </a:prstGeom>
        </p:spPr>
      </p:pic>
      <p:sp>
        <p:nvSpPr>
          <p:cNvPr id="17" name="Text 11"/>
          <p:cNvSpPr txBox="1"/>
          <p:nvPr/>
        </p:nvSpPr>
        <p:spPr>
          <a:xfrm>
            <a:off x="1142971" y="5473563"/>
            <a:ext cx="1755731"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Scott Robinson, FreshForm</a:t>
            </a:r>
            <a:endParaRPr lang="en-US" sz="950" dirty="0"/>
          </a:p>
        </p:txBody>
      </p:sp>
      <p:sp>
        <p:nvSpPr>
          <p:cNvPr id="18" name="Shape 12"/>
          <p:cNvSpPr/>
          <p:nvPr/>
        </p:nvSpPr>
        <p:spPr>
          <a:xfrm>
            <a:off x="3000300" y="5473563"/>
            <a:ext cx="2641534" cy="355591"/>
          </a:xfrm>
          <a:prstGeom prst="roundRect">
            <a:avLst>
              <a:gd name="adj" fmla="val 50000"/>
            </a:avLst>
          </a:prstGeom>
          <a:solidFill>
            <a:srgbClr val="050505"/>
          </a:solidFill>
          <a:ln w="9525">
            <a:solidFill>
              <a:srgbClr val="242424"/>
            </a:solidFill>
            <a:prstDash val="solid"/>
          </a:ln>
        </p:spPr>
      </p:sp>
      <p:pic>
        <p:nvPicPr>
          <p:cNvPr id="19" name="Image 4" descr="/private/tmp/claude-501/-Users-sebastiangier-Documents-Claude-Projects-FastForward-Global/e79bb229-0b18-47a3-8b64-a4a670addca8/scratchpad/pptx/img/ann-kostopanagiotou.jpg">    </p:cNvPr>
          <p:cNvPicPr>
            <a:picLocks noChangeAspect="1"/>
          </p:cNvPicPr>
          <p:nvPr/>
        </p:nvPicPr>
        <p:blipFill>
          <a:blip r:embed="rId5"/>
          <a:srcRect l="0" r="0" t="0" b="0"/>
          <a:stretch/>
        </p:blipFill>
        <p:spPr>
          <a:xfrm>
            <a:off x="3051099" y="5524362"/>
            <a:ext cx="253994" cy="253994"/>
          </a:xfrm>
          <a:prstGeom prst="ellipse">
            <a:avLst/>
          </a:prstGeom>
        </p:spPr>
      </p:pic>
      <p:sp>
        <p:nvSpPr>
          <p:cNvPr id="20" name="Text 13"/>
          <p:cNvSpPr txBox="1"/>
          <p:nvPr/>
        </p:nvSpPr>
        <p:spPr>
          <a:xfrm>
            <a:off x="3381290" y="5473563"/>
            <a:ext cx="2222444" cy="355591"/>
          </a:xfrm>
          <a:prstGeom prst="rect">
            <a:avLst/>
          </a:prstGeom>
          <a:noFill/>
          <a:ln/>
        </p:spPr>
        <p:txBody>
          <a:bodyPr wrap="square" lIns="0" tIns="0" rIns="0" bIns="0" rtlCol="0" anchor="ctr"/>
          <a:lstStyle/>
          <a:p>
            <a:pPr indent="0" marL="0">
              <a:buNone/>
            </a:pPr>
            <a:r>
              <a:rPr lang="en-US" sz="950" dirty="0">
                <a:solidFill>
                  <a:srgbClr val="9A9A9A"/>
                </a:solidFill>
                <a:latin typeface="Arial" pitchFamily="34" charset="0"/>
                <a:ea typeface="Arial" pitchFamily="34" charset="-122"/>
                <a:cs typeface="Arial" pitchFamily="34" charset="-120"/>
              </a:rPr>
              <a:t>Ann Kostopanagiotou, Mondo Robot</a:t>
            </a:r>
            <a:endParaRPr lang="en-US" sz="950" dirty="0"/>
          </a:p>
        </p:txBody>
      </p:sp>
      <p:pic>
        <p:nvPicPr>
          <p:cNvPr id="21" name="Image 5" descr="/private/tmp/claude-501/-Users-sebastiangier-Documents-Claude-Projects-FastForward-Global/e79bb229-0b18-47a3-8b64-a4a670addca8/scratchpad/pptx/img/DSC09661.jpg">    </p:cNvPr>
          <p:cNvPicPr>
            <a:picLocks noChangeAspect="1"/>
          </p:cNvPicPr>
          <p:nvPr/>
        </p:nvPicPr>
        <p:blipFill>
          <a:blip r:embed="rId6"/>
          <a:srcRect l="0" r="0" t="0" b="0"/>
          <a:stretch/>
        </p:blipFill>
        <p:spPr>
          <a:xfrm>
            <a:off x="6413340" y="990575"/>
            <a:ext cx="5016375" cy="2412940"/>
          </a:xfrm>
          <a:prstGeom prst="rect">
            <a:avLst/>
          </a:prstGeom>
        </p:spPr>
      </p:pic>
      <p:sp>
        <p:nvSpPr>
          <p:cNvPr id="22" name="Shape 14"/>
          <p:cNvSpPr/>
          <p:nvPr/>
        </p:nvSpPr>
        <p:spPr>
          <a:xfrm>
            <a:off x="6413340" y="3619410"/>
            <a:ext cx="19050" cy="1841454"/>
          </a:xfrm>
          <a:prstGeom prst="rect">
            <a:avLst/>
          </a:prstGeom>
          <a:solidFill>
            <a:srgbClr val="FFF204"/>
          </a:solidFill>
          <a:ln w="12700">
            <a:solidFill>
              <a:srgbClr val="FFF204"/>
            </a:solidFill>
            <a:prstDash val="solid"/>
          </a:ln>
        </p:spPr>
      </p:sp>
      <p:sp>
        <p:nvSpPr>
          <p:cNvPr id="23" name="Text 15"/>
          <p:cNvSpPr txBox="1"/>
          <p:nvPr/>
        </p:nvSpPr>
        <p:spPr>
          <a:xfrm>
            <a:off x="6565736" y="3619410"/>
            <a:ext cx="2228794" cy="126997"/>
          </a:xfrm>
          <a:prstGeom prst="rect">
            <a:avLst/>
          </a:prstGeom>
          <a:noFill/>
          <a:ln/>
        </p:spPr>
        <p:txBody>
          <a:bodyPr wrap="square" lIns="0" tIns="0" rIns="0" bIns="0" rtlCol="0" anchor="ctr"/>
          <a:lstStyle/>
          <a:p>
            <a:pPr indent="0" marL="0">
              <a:buNone/>
            </a:pPr>
            <a:r>
              <a:rPr lang="en-US" sz="750" spc="300" kern="0" dirty="0">
                <a:solidFill>
                  <a:srgbClr val="FFF204"/>
                </a:solidFill>
                <a:latin typeface="Arial" pitchFamily="34" charset="0"/>
                <a:ea typeface="Arial" pitchFamily="34" charset="-122"/>
                <a:cs typeface="Arial" pitchFamily="34" charset="-120"/>
              </a:rPr>
              <a:t>2026 EVIDENCE</a:t>
            </a:r>
            <a:endParaRPr lang="en-US" sz="750" dirty="0"/>
          </a:p>
        </p:txBody>
      </p:sp>
      <p:sp>
        <p:nvSpPr>
          <p:cNvPr id="24" name="Text 16"/>
          <p:cNvSpPr txBox="1"/>
          <p:nvPr/>
        </p:nvSpPr>
        <p:spPr>
          <a:xfrm>
            <a:off x="6565736" y="3771806"/>
            <a:ext cx="2228794" cy="571486"/>
          </a:xfrm>
          <a:prstGeom prst="rect">
            <a:avLst/>
          </a:prstGeom>
          <a:noFill/>
          <a:ln/>
        </p:spPr>
        <p:txBody>
          <a:bodyPr wrap="square" lIns="0" tIns="0" rIns="0" bIns="0" rtlCol="0" anchor="t"/>
          <a:lstStyle/>
          <a:p>
            <a:pPr indent="0" marL="0">
              <a:buNone/>
            </a:pPr>
            <a:r>
              <a:rPr lang="en-US" sz="4000" spc="-200" kern="0" dirty="0">
                <a:solidFill>
                  <a:srgbClr val="FFFFFF"/>
                </a:solidFill>
                <a:latin typeface="Arial" pitchFamily="34" charset="0"/>
                <a:ea typeface="Arial" pitchFamily="34" charset="-122"/>
                <a:cs typeface="Arial" pitchFamily="34" charset="-120"/>
              </a:rPr>
              <a:t>20 → 77%</a:t>
            </a:r>
            <a:endParaRPr lang="en-US" sz="4000" dirty="0"/>
          </a:p>
        </p:txBody>
      </p:sp>
      <p:sp>
        <p:nvSpPr>
          <p:cNvPr id="25" name="Text 17"/>
          <p:cNvSpPr txBox="1"/>
          <p:nvPr/>
        </p:nvSpPr>
        <p:spPr>
          <a:xfrm>
            <a:off x="6565736" y="4381390"/>
            <a:ext cx="2228794" cy="761981"/>
          </a:xfrm>
          <a:prstGeom prst="rect">
            <a:avLst/>
          </a:prstGeom>
          <a:noFill/>
          <a:ln/>
        </p:spPr>
        <p:txBody>
          <a:bodyPr wrap="square" lIns="0" tIns="0" rIns="0" bIns="0" rtlCol="0" anchor="t"/>
          <a:lstStyle/>
          <a:p>
            <a:pPr indent="0" marL="0">
              <a:lnSpc>
                <a:spcPct val="115000"/>
              </a:lnSpc>
              <a:buNone/>
            </a:pPr>
            <a:r>
              <a:rPr lang="en-US" sz="950" dirty="0">
                <a:solidFill>
                  <a:srgbClr val="CCCCCC"/>
                </a:solidFill>
                <a:latin typeface="Arial" pitchFamily="34" charset="0"/>
                <a:ea typeface="Arial" pitchFamily="34" charset="-122"/>
                <a:cs typeface="Arial" pitchFamily="34" charset="-120"/>
              </a:rPr>
              <a:t>AI agents’ success rate on real-world tasks, up from 20% in 2025.</a:t>
            </a:r>
            <a:endParaRPr lang="en-US" sz="950" dirty="0"/>
          </a:p>
        </p:txBody>
      </p:sp>
      <p:sp>
        <p:nvSpPr>
          <p:cNvPr id="26" name="Text 18"/>
          <p:cNvSpPr txBox="1"/>
          <p:nvPr/>
        </p:nvSpPr>
        <p:spPr>
          <a:xfrm>
            <a:off x="6565736" y="5168771"/>
            <a:ext cx="2228794" cy="253994"/>
          </a:xfrm>
          <a:prstGeom prst="rect">
            <a:avLst/>
          </a:prstGeom>
          <a:noFill/>
          <a:ln/>
        </p:spPr>
        <p:txBody>
          <a:bodyPr wrap="square" lIns="0" tIns="0" rIns="0" bIns="0" rtlCol="0" anchor="t"/>
          <a:lstStyle/>
          <a:p>
            <a:pPr indent="0" marL="0">
              <a:buNone/>
            </a:pPr>
            <a:r>
              <a:rPr lang="en-US" sz="750" dirty="0">
                <a:solidFill>
                  <a:srgbClr val="5C5C5C"/>
                </a:solidFill>
                <a:latin typeface="Arial" pitchFamily="34" charset="0"/>
                <a:ea typeface="Arial" pitchFamily="34" charset="-122"/>
                <a:cs typeface="Arial" pitchFamily="34" charset="-120"/>
              </a:rPr>
              <a:t>Stanford HAI, 2026 AI Index, April 2026</a:t>
            </a:r>
            <a:endParaRPr lang="en-US" sz="750" dirty="0"/>
          </a:p>
        </p:txBody>
      </p:sp>
      <p:sp>
        <p:nvSpPr>
          <p:cNvPr id="27" name="Shape 19"/>
          <p:cNvSpPr/>
          <p:nvPr/>
        </p:nvSpPr>
        <p:spPr>
          <a:xfrm>
            <a:off x="9048524" y="3619410"/>
            <a:ext cx="19050" cy="1841454"/>
          </a:xfrm>
          <a:prstGeom prst="rect">
            <a:avLst/>
          </a:prstGeom>
          <a:solidFill>
            <a:srgbClr val="FFF204"/>
          </a:solidFill>
          <a:ln w="12700">
            <a:solidFill>
              <a:srgbClr val="FFF204"/>
            </a:solidFill>
            <a:prstDash val="solid"/>
          </a:ln>
        </p:spPr>
      </p:sp>
      <p:sp>
        <p:nvSpPr>
          <p:cNvPr id="28" name="Text 20"/>
          <p:cNvSpPr txBox="1"/>
          <p:nvPr/>
        </p:nvSpPr>
        <p:spPr>
          <a:xfrm>
            <a:off x="9200920" y="3619410"/>
            <a:ext cx="2228794" cy="126997"/>
          </a:xfrm>
          <a:prstGeom prst="rect">
            <a:avLst/>
          </a:prstGeom>
          <a:noFill/>
          <a:ln/>
        </p:spPr>
        <p:txBody>
          <a:bodyPr wrap="square" lIns="0" tIns="0" rIns="0" bIns="0" rtlCol="0" anchor="ctr"/>
          <a:lstStyle/>
          <a:p>
            <a:pPr indent="0" marL="0">
              <a:buNone/>
            </a:pPr>
            <a:r>
              <a:rPr lang="en-US" sz="750" spc="300" kern="0" dirty="0">
                <a:solidFill>
                  <a:srgbClr val="FFF204"/>
                </a:solidFill>
                <a:latin typeface="Arial" pitchFamily="34" charset="0"/>
                <a:ea typeface="Arial" pitchFamily="34" charset="-122"/>
                <a:cs typeface="Arial" pitchFamily="34" charset="-120"/>
              </a:rPr>
              <a:t>THE EXPERIENCE GAP</a:t>
            </a:r>
            <a:endParaRPr lang="en-US" sz="750" dirty="0"/>
          </a:p>
        </p:txBody>
      </p:sp>
      <p:sp>
        <p:nvSpPr>
          <p:cNvPr id="29" name="Text 21"/>
          <p:cNvSpPr txBox="1"/>
          <p:nvPr/>
        </p:nvSpPr>
        <p:spPr>
          <a:xfrm>
            <a:off x="9200920" y="3771806"/>
            <a:ext cx="2228794" cy="571486"/>
          </a:xfrm>
          <a:prstGeom prst="rect">
            <a:avLst/>
          </a:prstGeom>
          <a:noFill/>
          <a:ln/>
        </p:spPr>
        <p:txBody>
          <a:bodyPr wrap="square" lIns="0" tIns="0" rIns="0" bIns="0" rtlCol="0" anchor="t"/>
          <a:lstStyle/>
          <a:p>
            <a:pPr indent="0" marL="0">
              <a:buNone/>
            </a:pPr>
            <a:r>
              <a:rPr lang="en-US" sz="4000" spc="-200" kern="0" dirty="0">
                <a:solidFill>
                  <a:srgbClr val="FFFFFF"/>
                </a:solidFill>
                <a:latin typeface="Arial" pitchFamily="34" charset="0"/>
                <a:ea typeface="Arial" pitchFamily="34" charset="-122"/>
                <a:cs typeface="Arial" pitchFamily="34" charset="-120"/>
              </a:rPr>
              <a:t>43%</a:t>
            </a:r>
            <a:endParaRPr lang="en-US" sz="4000" dirty="0"/>
          </a:p>
        </p:txBody>
      </p:sp>
      <p:sp>
        <p:nvSpPr>
          <p:cNvPr id="30" name="Text 22"/>
          <p:cNvSpPr txBox="1"/>
          <p:nvPr/>
        </p:nvSpPr>
        <p:spPr>
          <a:xfrm>
            <a:off x="9200920" y="4381390"/>
            <a:ext cx="2228794" cy="761981"/>
          </a:xfrm>
          <a:prstGeom prst="rect">
            <a:avLst/>
          </a:prstGeom>
          <a:noFill/>
          <a:ln/>
        </p:spPr>
        <p:txBody>
          <a:bodyPr wrap="square" lIns="0" tIns="0" rIns="0" bIns="0" rtlCol="0" anchor="t"/>
          <a:lstStyle/>
          <a:p>
            <a:pPr indent="0" marL="0">
              <a:lnSpc>
                <a:spcPct val="115000"/>
              </a:lnSpc>
              <a:buNone/>
            </a:pPr>
            <a:r>
              <a:rPr lang="en-US" sz="950" dirty="0">
                <a:solidFill>
                  <a:srgbClr val="CCCCCC"/>
                </a:solidFill>
                <a:latin typeface="Arial" pitchFamily="34" charset="0"/>
                <a:ea typeface="Arial" pitchFamily="34" charset="-122"/>
                <a:cs typeface="Arial" pitchFamily="34" charset="-120"/>
              </a:rPr>
              <a:t>of customers are willing to interact with a brand’s AI agent; 78% of organisations expect agents to handle half of support within 18 months.</a:t>
            </a:r>
            <a:endParaRPr lang="en-US" sz="950" dirty="0"/>
          </a:p>
        </p:txBody>
      </p:sp>
      <p:sp>
        <p:nvSpPr>
          <p:cNvPr id="31" name="Text 23"/>
          <p:cNvSpPr txBox="1"/>
          <p:nvPr/>
        </p:nvSpPr>
        <p:spPr>
          <a:xfrm>
            <a:off x="9200920" y="5168771"/>
            <a:ext cx="2228794" cy="253994"/>
          </a:xfrm>
          <a:prstGeom prst="rect">
            <a:avLst/>
          </a:prstGeom>
          <a:noFill/>
          <a:ln/>
        </p:spPr>
        <p:txBody>
          <a:bodyPr wrap="square" lIns="0" tIns="0" rIns="0" bIns="0" rtlCol="0" anchor="t"/>
          <a:lstStyle/>
          <a:p>
            <a:pPr indent="0" marL="0">
              <a:buNone/>
            </a:pPr>
            <a:r>
              <a:rPr lang="en-US" sz="750" dirty="0">
                <a:solidFill>
                  <a:srgbClr val="5C5C5C"/>
                </a:solidFill>
                <a:latin typeface="Arial" pitchFamily="34" charset="0"/>
                <a:ea typeface="Arial" pitchFamily="34" charset="-122"/>
                <a:cs typeface="Arial" pitchFamily="34" charset="-120"/>
              </a:rPr>
              <a:t>Adobe, 2026 Digital Trends, February 2026</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10</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IN THEIR WORDS</a:t>
            </a:r>
            <a:endParaRPr lang="en-US" sz="1000" dirty="0"/>
          </a:p>
        </p:txBody>
      </p:sp>
      <p:sp>
        <p:nvSpPr>
          <p:cNvPr id="7" name="Text 4"/>
          <p:cNvSpPr txBox="1"/>
          <p:nvPr/>
        </p:nvSpPr>
        <p:spPr>
          <a:xfrm>
            <a:off x="761981" y="1904952"/>
            <a:ext cx="6984825" cy="3301917"/>
          </a:xfrm>
          <a:prstGeom prst="rect">
            <a:avLst/>
          </a:prstGeom>
          <a:noFill/>
          <a:ln/>
        </p:spPr>
        <p:txBody>
          <a:bodyPr wrap="square" lIns="0" tIns="0" rIns="0" bIns="0" rtlCol="0" anchor="ctr"/>
          <a:lstStyle/>
          <a:p>
            <a:pPr indent="0" marL="0">
              <a:lnSpc>
                <a:spcPct val="120000"/>
              </a:lnSpc>
              <a:buNone/>
            </a:pPr>
            <a:r>
              <a:rPr lang="en-US" sz="2700" i="1" dirty="0">
                <a:solidFill>
                  <a:srgbClr val="FFFFFF"/>
                </a:solidFill>
                <a:latin typeface="Times New Roman" pitchFamily="34" charset="0"/>
                <a:ea typeface="Times New Roman" pitchFamily="34" charset="-122"/>
                <a:cs typeface="Times New Roman" pitchFamily="34" charset="-120"/>
              </a:rPr>
              <a:t>“The next era of innovation will not belong to the companies that automate the fastest, but to those that intentionally design systems in which humans and intelligent technology can learn, adapt, and make better decisions together.”</a:t>
            </a:r>
            <a:endParaRPr lang="en-US" sz="2700" dirty="0"/>
          </a:p>
        </p:txBody>
      </p:sp>
      <p:pic>
        <p:nvPicPr>
          <p:cNvPr id="8" name="Image 1" descr="/private/tmp/claude-501/-Users-sebastiangier-Documents-Claude-Projects-FastForward-Global/e79bb229-0b18-47a3-8b64-a4a670addca8/scratchpad/pptx/img/twisha-shah-brandenburg.png">    </p:cNvPr>
          <p:cNvPicPr>
            <a:picLocks noChangeAspect="1"/>
          </p:cNvPicPr>
          <p:nvPr/>
        </p:nvPicPr>
        <p:blipFill>
          <a:blip r:embed="rId2"/>
          <a:srcRect l="0" r="0" t="0" b="0"/>
          <a:stretch/>
        </p:blipFill>
        <p:spPr>
          <a:xfrm>
            <a:off x="8889778" y="2285943"/>
            <a:ext cx="1650959" cy="1650959"/>
          </a:xfrm>
          <a:prstGeom prst="ellipse">
            <a:avLst/>
          </a:prstGeom>
        </p:spPr>
      </p:pic>
      <p:sp>
        <p:nvSpPr>
          <p:cNvPr id="9" name="Text 5"/>
          <p:cNvSpPr txBox="1"/>
          <p:nvPr/>
        </p:nvSpPr>
        <p:spPr>
          <a:xfrm>
            <a:off x="8889778" y="4127397"/>
            <a:ext cx="2666933" cy="25399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Twisha Shah-Brandenburg</a:t>
            </a:r>
            <a:endParaRPr lang="en-US" sz="1500" dirty="0"/>
          </a:p>
        </p:txBody>
      </p:sp>
      <p:sp>
        <p:nvSpPr>
          <p:cNvPr id="10" name="Text 6"/>
          <p:cNvSpPr txBox="1"/>
          <p:nvPr/>
        </p:nvSpPr>
        <p:spPr>
          <a:xfrm>
            <a:off x="8889778" y="4413140"/>
            <a:ext cx="2666933" cy="571486"/>
          </a:xfrm>
          <a:prstGeom prst="rect">
            <a:avLst/>
          </a:prstGeom>
          <a:noFill/>
          <a:ln/>
        </p:spPr>
        <p:txBody>
          <a:bodyPr wrap="square" lIns="0" tIns="0" rIns="0" bIns="0" rtlCol="0" anchor="t"/>
          <a:lstStyle/>
          <a:p>
            <a:pPr indent="0" marL="0">
              <a:lnSpc>
                <a:spcPct val="120000"/>
              </a:lnSpc>
              <a:buNone/>
            </a:pPr>
            <a:r>
              <a:rPr lang="en-US" sz="1000" dirty="0">
                <a:solidFill>
                  <a:srgbClr val="9A9A9A"/>
                </a:solidFill>
                <a:latin typeface="Arial" pitchFamily="34" charset="0"/>
                <a:ea typeface="Arial" pitchFamily="34" charset="-122"/>
                <a:cs typeface="Arial" pitchFamily="34" charset="-120"/>
              </a:rPr>
              <a:t>Principal, Target</a:t>
            </a:r>
            <a:endParaRPr lang="en-US" sz="1000" dirty="0"/>
          </a:p>
          <a:p>
            <a:pPr indent="0" marL="0">
              <a:lnSpc>
                <a:spcPct val="120000"/>
              </a:lnSpc>
              <a:buNone/>
            </a:pPr>
            <a:r>
              <a:rPr lang="en-US" sz="1000" dirty="0">
                <a:solidFill>
                  <a:srgbClr val="9A9A9A"/>
                </a:solidFill>
                <a:latin typeface="Arial" pitchFamily="34" charset="0"/>
                <a:ea typeface="Arial" pitchFamily="34" charset="-122"/>
                <a:cs typeface="Arial" pitchFamily="34" charset="-120"/>
              </a:rPr>
              <a:t>Workshop “From Optimizing Interfaces to Designing Organizations”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11</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IN THEIR WORDS</a:t>
            </a:r>
            <a:pPr indent="0" marL="0">
              <a:buNone/>
            </a:pPr>
            <a:r>
              <a:rPr lang="en-US" sz="1000" b="1" spc="500" kern="0" dirty="0">
                <a:solidFill>
                  <a:srgbClr val="A6A6A6"/>
                </a:solidFill>
                <a:latin typeface="Arial" pitchFamily="34" charset="0"/>
                <a:ea typeface="Arial" pitchFamily="34" charset="-122"/>
                <a:cs typeface="Arial" pitchFamily="34" charset="-120"/>
              </a:rPr>
              <a:t>   SPEAKERS ON THE FUTURE OF INNOVATION</a:t>
            </a:r>
            <a:endParaRPr lang="en-US" sz="1000" dirty="0"/>
          </a:p>
        </p:txBody>
      </p:sp>
      <p:sp>
        <p:nvSpPr>
          <p:cNvPr id="7" name="Shape 4"/>
          <p:cNvSpPr/>
          <p:nvPr/>
        </p:nvSpPr>
        <p:spPr>
          <a:xfrm>
            <a:off x="761981" y="1054074"/>
            <a:ext cx="5225919" cy="2285943"/>
          </a:xfrm>
          <a:prstGeom prst="rect">
            <a:avLst/>
          </a:prstGeom>
          <a:solidFill>
            <a:srgbClr val="0B0B0B"/>
          </a:solidFill>
          <a:ln w="9525">
            <a:solidFill>
              <a:srgbClr val="242424"/>
            </a:solidFill>
            <a:prstDash val="solid"/>
          </a:ln>
        </p:spPr>
      </p:sp>
      <p:sp>
        <p:nvSpPr>
          <p:cNvPr id="8" name="Text 5"/>
          <p:cNvSpPr txBox="1"/>
          <p:nvPr/>
        </p:nvSpPr>
        <p:spPr>
          <a:xfrm>
            <a:off x="1015975" y="1282668"/>
            <a:ext cx="4717932" cy="1269968"/>
          </a:xfrm>
          <a:prstGeom prst="rect">
            <a:avLst/>
          </a:prstGeom>
          <a:noFill/>
          <a:ln/>
        </p:spPr>
        <p:txBody>
          <a:bodyPr wrap="square" lIns="0" tIns="0" rIns="0" bIns="0" rtlCol="0" anchor="t"/>
          <a:lstStyle/>
          <a:p>
            <a:pPr indent="0" marL="0">
              <a:lnSpc>
                <a:spcPct val="115000"/>
              </a:lnSpc>
              <a:buNone/>
            </a:pPr>
            <a:r>
              <a:rPr lang="en-US" sz="1500" i="1" dirty="0">
                <a:solidFill>
                  <a:srgbClr val="FFFFFF"/>
                </a:solidFill>
                <a:latin typeface="Times New Roman" pitchFamily="34" charset="0"/>
                <a:ea typeface="Times New Roman" pitchFamily="34" charset="-122"/>
                <a:cs typeface="Times New Roman" pitchFamily="34" charset="-120"/>
              </a:rPr>
              <a:t>“Democratized tools didn't lower the bar for great design. They raised it, because now everyone can clear the bar for good.”</a:t>
            </a:r>
            <a:endParaRPr lang="en-US" sz="1500" dirty="0"/>
          </a:p>
        </p:txBody>
      </p:sp>
      <p:pic>
        <p:nvPicPr>
          <p:cNvPr id="9" name="Image 1" descr="/private/tmp/claude-501/-Users-sebastiangier-Documents-Claude-Projects-FastForward-Global/e79bb229-0b18-47a3-8b64-a4a670addca8/scratchpad/pptx/img/richard-ward.png">    </p:cNvPr>
          <p:cNvPicPr>
            <a:picLocks noChangeAspect="1"/>
          </p:cNvPicPr>
          <p:nvPr/>
        </p:nvPicPr>
        <p:blipFill>
          <a:blip r:embed="rId2"/>
          <a:srcRect l="0" r="0" t="0" b="0"/>
          <a:stretch/>
        </p:blipFill>
        <p:spPr>
          <a:xfrm>
            <a:off x="1015975" y="2628834"/>
            <a:ext cx="457189" cy="457189"/>
          </a:xfrm>
          <a:prstGeom prst="ellipse">
            <a:avLst/>
          </a:prstGeom>
        </p:spPr>
      </p:pic>
      <p:sp>
        <p:nvSpPr>
          <p:cNvPr id="10" name="Text 6"/>
          <p:cNvSpPr txBox="1"/>
          <p:nvPr/>
        </p:nvSpPr>
        <p:spPr>
          <a:xfrm>
            <a:off x="1587460" y="2628834"/>
            <a:ext cx="4146446" cy="228594"/>
          </a:xfrm>
          <a:prstGeom prst="rect">
            <a:avLst/>
          </a:prstGeom>
          <a:noFill/>
          <a:ln/>
        </p:spPr>
        <p:txBody>
          <a:bodyPr wrap="square" lIns="0" tIns="0" rIns="0" bIns="0" rtlCol="0" anchor="b"/>
          <a:lstStyle/>
          <a:p>
            <a:pPr indent="0" marL="0">
              <a:buNone/>
            </a:pPr>
            <a:r>
              <a:rPr lang="en-US" sz="1100" b="1" dirty="0">
                <a:solidFill>
                  <a:srgbClr val="FFFFFF"/>
                </a:solidFill>
                <a:latin typeface="Arial" pitchFamily="34" charset="0"/>
                <a:ea typeface="Arial" pitchFamily="34" charset="-122"/>
                <a:cs typeface="Arial" pitchFamily="34" charset="-120"/>
              </a:rPr>
              <a:t>Richard Ward</a:t>
            </a:r>
            <a:endParaRPr lang="en-US" sz="1100" dirty="0"/>
          </a:p>
        </p:txBody>
      </p:sp>
      <p:sp>
        <p:nvSpPr>
          <p:cNvPr id="11" name="Text 7"/>
          <p:cNvSpPr txBox="1"/>
          <p:nvPr/>
        </p:nvSpPr>
        <p:spPr>
          <a:xfrm>
            <a:off x="1587460" y="2857429"/>
            <a:ext cx="4146446" cy="228594"/>
          </a:xfrm>
          <a:prstGeom prst="rect">
            <a:avLst/>
          </a:prstGeom>
          <a:noFill/>
          <a:ln/>
        </p:spPr>
        <p:txBody>
          <a:bodyPr wrap="square" lIns="0" tIns="0" rIns="0" bIns="0" rtlCol="0" anchor="t"/>
          <a:lstStyle/>
          <a:p>
            <a:pPr indent="0" marL="0">
              <a:buNone/>
            </a:pPr>
            <a:r>
              <a:rPr lang="en-US" sz="900" dirty="0">
                <a:solidFill>
                  <a:srgbClr val="9A9A9A"/>
                </a:solidFill>
                <a:latin typeface="Arial" pitchFamily="34" charset="0"/>
                <a:ea typeface="Arial" pitchFamily="34" charset="-122"/>
                <a:cs typeface="Arial" pitchFamily="34" charset="-120"/>
              </a:rPr>
              <a:t>Chief Design Officer, Otter.ai</a:t>
            </a:r>
            <a:endParaRPr lang="en-US" sz="900" dirty="0"/>
          </a:p>
        </p:txBody>
      </p:sp>
      <p:sp>
        <p:nvSpPr>
          <p:cNvPr id="12" name="Shape 8"/>
          <p:cNvSpPr/>
          <p:nvPr/>
        </p:nvSpPr>
        <p:spPr>
          <a:xfrm>
            <a:off x="6203795" y="1054074"/>
            <a:ext cx="5225919" cy="2285943"/>
          </a:xfrm>
          <a:prstGeom prst="rect">
            <a:avLst/>
          </a:prstGeom>
          <a:solidFill>
            <a:srgbClr val="0B0B0B"/>
          </a:solidFill>
          <a:ln w="9525">
            <a:solidFill>
              <a:srgbClr val="242424"/>
            </a:solidFill>
            <a:prstDash val="solid"/>
          </a:ln>
        </p:spPr>
      </p:sp>
      <p:sp>
        <p:nvSpPr>
          <p:cNvPr id="13" name="Text 9"/>
          <p:cNvSpPr txBox="1"/>
          <p:nvPr/>
        </p:nvSpPr>
        <p:spPr>
          <a:xfrm>
            <a:off x="6457789" y="1282668"/>
            <a:ext cx="4717932" cy="1269968"/>
          </a:xfrm>
          <a:prstGeom prst="rect">
            <a:avLst/>
          </a:prstGeom>
          <a:noFill/>
          <a:ln/>
        </p:spPr>
        <p:txBody>
          <a:bodyPr wrap="square" lIns="0" tIns="0" rIns="0" bIns="0" rtlCol="0" anchor="t"/>
          <a:lstStyle/>
          <a:p>
            <a:pPr indent="0" marL="0">
              <a:lnSpc>
                <a:spcPct val="115000"/>
              </a:lnSpc>
              <a:buNone/>
            </a:pPr>
            <a:r>
              <a:rPr lang="en-US" sz="1500" i="1" dirty="0">
                <a:solidFill>
                  <a:srgbClr val="FFFFFF"/>
                </a:solidFill>
                <a:latin typeface="Times New Roman" pitchFamily="34" charset="0"/>
                <a:ea typeface="Times New Roman" pitchFamily="34" charset="-122"/>
                <a:cs typeface="Times New Roman" pitchFamily="34" charset="-120"/>
              </a:rPr>
              <a:t>“As AI becomes more capable and generates more machine output, human originality becomes a scarce resource. We need to protect and foster the conditions where humans can continue to create original ideas.”</a:t>
            </a:r>
            <a:endParaRPr lang="en-US" sz="1500" dirty="0"/>
          </a:p>
        </p:txBody>
      </p:sp>
      <p:pic>
        <p:nvPicPr>
          <p:cNvPr id="14" name="Image 2" descr="/private/tmp/claude-501/-Users-sebastiangier-Documents-Claude-Projects-FastForward-Global/e79bb229-0b18-47a3-8b64-a4a670addca8/scratchpad/pptx/img/stephanie-mencarelli.png">    </p:cNvPr>
          <p:cNvPicPr>
            <a:picLocks noChangeAspect="1"/>
          </p:cNvPicPr>
          <p:nvPr/>
        </p:nvPicPr>
        <p:blipFill>
          <a:blip r:embed="rId3"/>
          <a:srcRect l="0" r="0" t="0" b="0"/>
          <a:stretch/>
        </p:blipFill>
        <p:spPr>
          <a:xfrm>
            <a:off x="6457789" y="2628834"/>
            <a:ext cx="457189" cy="457189"/>
          </a:xfrm>
          <a:prstGeom prst="ellipse">
            <a:avLst/>
          </a:prstGeom>
        </p:spPr>
      </p:pic>
      <p:sp>
        <p:nvSpPr>
          <p:cNvPr id="15" name="Text 10"/>
          <p:cNvSpPr txBox="1"/>
          <p:nvPr/>
        </p:nvSpPr>
        <p:spPr>
          <a:xfrm>
            <a:off x="7029274" y="2628834"/>
            <a:ext cx="4146446" cy="228594"/>
          </a:xfrm>
          <a:prstGeom prst="rect">
            <a:avLst/>
          </a:prstGeom>
          <a:noFill/>
          <a:ln/>
        </p:spPr>
        <p:txBody>
          <a:bodyPr wrap="square" lIns="0" tIns="0" rIns="0" bIns="0" rtlCol="0" anchor="b"/>
          <a:lstStyle/>
          <a:p>
            <a:pPr indent="0" marL="0">
              <a:buNone/>
            </a:pPr>
            <a:r>
              <a:rPr lang="en-US" sz="1100" b="1" dirty="0">
                <a:solidFill>
                  <a:srgbClr val="FFFFFF"/>
                </a:solidFill>
                <a:latin typeface="Arial" pitchFamily="34" charset="0"/>
                <a:ea typeface="Arial" pitchFamily="34" charset="-122"/>
                <a:cs typeface="Arial" pitchFamily="34" charset="-120"/>
              </a:rPr>
              <a:t>Stephanie Mencarelli</a:t>
            </a:r>
            <a:endParaRPr lang="en-US" sz="1100" dirty="0"/>
          </a:p>
        </p:txBody>
      </p:sp>
      <p:sp>
        <p:nvSpPr>
          <p:cNvPr id="16" name="Text 11"/>
          <p:cNvSpPr txBox="1"/>
          <p:nvPr/>
        </p:nvSpPr>
        <p:spPr>
          <a:xfrm>
            <a:off x="7029274" y="2857429"/>
            <a:ext cx="4146446" cy="228594"/>
          </a:xfrm>
          <a:prstGeom prst="rect">
            <a:avLst/>
          </a:prstGeom>
          <a:noFill/>
          <a:ln/>
        </p:spPr>
        <p:txBody>
          <a:bodyPr wrap="square" lIns="0" tIns="0" rIns="0" bIns="0" rtlCol="0" anchor="t"/>
          <a:lstStyle/>
          <a:p>
            <a:pPr indent="0" marL="0">
              <a:buNone/>
            </a:pPr>
            <a:r>
              <a:rPr lang="en-US" sz="900" dirty="0">
                <a:solidFill>
                  <a:srgbClr val="9A9A9A"/>
                </a:solidFill>
                <a:latin typeface="Arial" pitchFamily="34" charset="0"/>
                <a:ea typeface="Arial" pitchFamily="34" charset="-122"/>
                <a:cs typeface="Arial" pitchFamily="34" charset="-120"/>
              </a:rPr>
              <a:t>Vice President of Design, Adobe</a:t>
            </a:r>
            <a:endParaRPr lang="en-US" sz="900" dirty="0"/>
          </a:p>
        </p:txBody>
      </p:sp>
      <p:sp>
        <p:nvSpPr>
          <p:cNvPr id="17" name="Shape 12"/>
          <p:cNvSpPr/>
          <p:nvPr/>
        </p:nvSpPr>
        <p:spPr>
          <a:xfrm>
            <a:off x="761981" y="3555911"/>
            <a:ext cx="5225919" cy="2285943"/>
          </a:xfrm>
          <a:prstGeom prst="rect">
            <a:avLst/>
          </a:prstGeom>
          <a:solidFill>
            <a:srgbClr val="0B0B0B"/>
          </a:solidFill>
          <a:ln w="9525">
            <a:solidFill>
              <a:srgbClr val="242424"/>
            </a:solidFill>
            <a:prstDash val="solid"/>
          </a:ln>
        </p:spPr>
      </p:sp>
      <p:sp>
        <p:nvSpPr>
          <p:cNvPr id="18" name="Text 13"/>
          <p:cNvSpPr txBox="1"/>
          <p:nvPr/>
        </p:nvSpPr>
        <p:spPr>
          <a:xfrm>
            <a:off x="1015975" y="3784505"/>
            <a:ext cx="4717932" cy="1269968"/>
          </a:xfrm>
          <a:prstGeom prst="rect">
            <a:avLst/>
          </a:prstGeom>
          <a:noFill/>
          <a:ln/>
        </p:spPr>
        <p:txBody>
          <a:bodyPr wrap="square" lIns="0" tIns="0" rIns="0" bIns="0" rtlCol="0" anchor="t"/>
          <a:lstStyle/>
          <a:p>
            <a:pPr indent="0" marL="0">
              <a:lnSpc>
                <a:spcPct val="115000"/>
              </a:lnSpc>
              <a:buNone/>
            </a:pPr>
            <a:r>
              <a:rPr lang="en-US" sz="1500" i="1" dirty="0">
                <a:solidFill>
                  <a:srgbClr val="FFFFFF"/>
                </a:solidFill>
                <a:latin typeface="Times New Roman" pitchFamily="34" charset="0"/>
                <a:ea typeface="Times New Roman" pitchFamily="34" charset="-122"/>
                <a:cs typeface="Times New Roman" pitchFamily="34" charset="-120"/>
              </a:rPr>
              <a:t>“While AI can read a deck, a doc, a website, your emails… it can’t read the room. AI is a tool, just like the internet was a tool. It may augment us, but it can never replace us.”</a:t>
            </a:r>
            <a:endParaRPr lang="en-US" sz="1500" dirty="0"/>
          </a:p>
        </p:txBody>
      </p:sp>
      <p:pic>
        <p:nvPicPr>
          <p:cNvPr id="19" name="Image 3" descr="/private/tmp/claude-501/-Users-sebastiangier-Documents-Claude-Projects-FastForward-Global/e79bb229-0b18-47a3-8b64-a4a670addca8/scratchpad/pptx/img/kara-fitzpatrick.jpg">    </p:cNvPr>
          <p:cNvPicPr>
            <a:picLocks noChangeAspect="1"/>
          </p:cNvPicPr>
          <p:nvPr/>
        </p:nvPicPr>
        <p:blipFill>
          <a:blip r:embed="rId4"/>
          <a:srcRect l="0" r="0" t="0" b="0"/>
          <a:stretch/>
        </p:blipFill>
        <p:spPr>
          <a:xfrm>
            <a:off x="1015975" y="5130672"/>
            <a:ext cx="457189" cy="457189"/>
          </a:xfrm>
          <a:prstGeom prst="ellipse">
            <a:avLst/>
          </a:prstGeom>
        </p:spPr>
      </p:pic>
      <p:sp>
        <p:nvSpPr>
          <p:cNvPr id="20" name="Text 14"/>
          <p:cNvSpPr txBox="1"/>
          <p:nvPr/>
        </p:nvSpPr>
        <p:spPr>
          <a:xfrm>
            <a:off x="1587460" y="5130672"/>
            <a:ext cx="4146446" cy="228594"/>
          </a:xfrm>
          <a:prstGeom prst="rect">
            <a:avLst/>
          </a:prstGeom>
          <a:noFill/>
          <a:ln/>
        </p:spPr>
        <p:txBody>
          <a:bodyPr wrap="square" lIns="0" tIns="0" rIns="0" bIns="0" rtlCol="0" anchor="b"/>
          <a:lstStyle/>
          <a:p>
            <a:pPr indent="0" marL="0">
              <a:buNone/>
            </a:pPr>
            <a:r>
              <a:rPr lang="en-US" sz="1100" b="1" dirty="0">
                <a:solidFill>
                  <a:srgbClr val="FFFFFF"/>
                </a:solidFill>
                <a:latin typeface="Arial" pitchFamily="34" charset="0"/>
                <a:ea typeface="Arial" pitchFamily="34" charset="-122"/>
                <a:cs typeface="Arial" pitchFamily="34" charset="-120"/>
              </a:rPr>
              <a:t>Kara Fitzpatrick</a:t>
            </a:r>
            <a:endParaRPr lang="en-US" sz="1100" dirty="0"/>
          </a:p>
        </p:txBody>
      </p:sp>
      <p:sp>
        <p:nvSpPr>
          <p:cNvPr id="21" name="Text 15"/>
          <p:cNvSpPr txBox="1"/>
          <p:nvPr/>
        </p:nvSpPr>
        <p:spPr>
          <a:xfrm>
            <a:off x="1587460" y="5359266"/>
            <a:ext cx="4146446" cy="228594"/>
          </a:xfrm>
          <a:prstGeom prst="rect">
            <a:avLst/>
          </a:prstGeom>
          <a:noFill/>
          <a:ln/>
        </p:spPr>
        <p:txBody>
          <a:bodyPr wrap="square" lIns="0" tIns="0" rIns="0" bIns="0" rtlCol="0" anchor="t"/>
          <a:lstStyle/>
          <a:p>
            <a:pPr indent="0" marL="0">
              <a:buNone/>
            </a:pPr>
            <a:r>
              <a:rPr lang="en-US" sz="900" dirty="0">
                <a:solidFill>
                  <a:srgbClr val="9A9A9A"/>
                </a:solidFill>
                <a:latin typeface="Arial" pitchFamily="34" charset="0"/>
                <a:ea typeface="Arial" pitchFamily="34" charset="-122"/>
                <a:cs typeface="Arial" pitchFamily="34" charset="-120"/>
              </a:rPr>
              <a:t>Director of Design &amp; Product, Obama White House</a:t>
            </a:r>
            <a:endParaRPr lang="en-US" sz="900" dirty="0"/>
          </a:p>
        </p:txBody>
      </p:sp>
      <p:sp>
        <p:nvSpPr>
          <p:cNvPr id="22" name="Shape 16"/>
          <p:cNvSpPr/>
          <p:nvPr/>
        </p:nvSpPr>
        <p:spPr>
          <a:xfrm>
            <a:off x="6203795" y="3555911"/>
            <a:ext cx="5225919" cy="2285943"/>
          </a:xfrm>
          <a:prstGeom prst="rect">
            <a:avLst/>
          </a:prstGeom>
          <a:solidFill>
            <a:srgbClr val="0B0B0B"/>
          </a:solidFill>
          <a:ln w="9525">
            <a:solidFill>
              <a:srgbClr val="242424"/>
            </a:solidFill>
            <a:prstDash val="solid"/>
          </a:ln>
        </p:spPr>
      </p:sp>
      <p:sp>
        <p:nvSpPr>
          <p:cNvPr id="23" name="Text 17"/>
          <p:cNvSpPr txBox="1"/>
          <p:nvPr/>
        </p:nvSpPr>
        <p:spPr>
          <a:xfrm>
            <a:off x="6457789" y="3784505"/>
            <a:ext cx="4717932" cy="1269968"/>
          </a:xfrm>
          <a:prstGeom prst="rect">
            <a:avLst/>
          </a:prstGeom>
          <a:noFill/>
          <a:ln/>
        </p:spPr>
        <p:txBody>
          <a:bodyPr wrap="square" lIns="0" tIns="0" rIns="0" bIns="0" rtlCol="0" anchor="t"/>
          <a:lstStyle/>
          <a:p>
            <a:pPr indent="0" marL="0">
              <a:lnSpc>
                <a:spcPct val="115000"/>
              </a:lnSpc>
              <a:buNone/>
            </a:pPr>
            <a:r>
              <a:rPr lang="en-US" sz="1500" i="1" dirty="0">
                <a:solidFill>
                  <a:srgbClr val="FFFFFF"/>
                </a:solidFill>
                <a:latin typeface="Times New Roman" pitchFamily="34" charset="0"/>
                <a:ea typeface="Times New Roman" pitchFamily="34" charset="-122"/>
                <a:cs typeface="Times New Roman" pitchFamily="34" charset="-120"/>
              </a:rPr>
              <a:t>“Research must shift from slow, episodic projects to an always-on practice that stays one step ahead, helping teams see around corners, make better decisions, and know where to invest next.”</a:t>
            </a:r>
            <a:endParaRPr lang="en-US" sz="1500" dirty="0"/>
          </a:p>
        </p:txBody>
      </p:sp>
      <p:pic>
        <p:nvPicPr>
          <p:cNvPr id="24" name="Image 4" descr="/private/tmp/claude-501/-Users-sebastiangier-Documents-Claude-Projects-FastForward-Global/e79bb229-0b18-47a3-8b64-a4a670addca8/scratchpad/pptx/img/prayag-narula.png">    </p:cNvPr>
          <p:cNvPicPr>
            <a:picLocks noChangeAspect="1"/>
          </p:cNvPicPr>
          <p:nvPr/>
        </p:nvPicPr>
        <p:blipFill>
          <a:blip r:embed="rId5"/>
          <a:srcRect l="0" r="0" t="0" b="0"/>
          <a:stretch/>
        </p:blipFill>
        <p:spPr>
          <a:xfrm>
            <a:off x="6457789" y="5130672"/>
            <a:ext cx="457189" cy="457189"/>
          </a:xfrm>
          <a:prstGeom prst="ellipse">
            <a:avLst/>
          </a:prstGeom>
        </p:spPr>
      </p:pic>
      <p:sp>
        <p:nvSpPr>
          <p:cNvPr id="25" name="Text 18"/>
          <p:cNvSpPr txBox="1"/>
          <p:nvPr/>
        </p:nvSpPr>
        <p:spPr>
          <a:xfrm>
            <a:off x="7029274" y="5130672"/>
            <a:ext cx="4146446" cy="228594"/>
          </a:xfrm>
          <a:prstGeom prst="rect">
            <a:avLst/>
          </a:prstGeom>
          <a:noFill/>
          <a:ln/>
        </p:spPr>
        <p:txBody>
          <a:bodyPr wrap="square" lIns="0" tIns="0" rIns="0" bIns="0" rtlCol="0" anchor="b"/>
          <a:lstStyle/>
          <a:p>
            <a:pPr indent="0" marL="0">
              <a:buNone/>
            </a:pPr>
            <a:r>
              <a:rPr lang="en-US" sz="1100" b="1" dirty="0">
                <a:solidFill>
                  <a:srgbClr val="FFFFFF"/>
                </a:solidFill>
                <a:latin typeface="Arial" pitchFamily="34" charset="0"/>
                <a:ea typeface="Arial" pitchFamily="34" charset="-122"/>
                <a:cs typeface="Arial" pitchFamily="34" charset="-120"/>
              </a:rPr>
              <a:t>Prayag Narula</a:t>
            </a:r>
            <a:endParaRPr lang="en-US" sz="1100" dirty="0"/>
          </a:p>
        </p:txBody>
      </p:sp>
      <p:sp>
        <p:nvSpPr>
          <p:cNvPr id="26" name="Text 19"/>
          <p:cNvSpPr txBox="1"/>
          <p:nvPr/>
        </p:nvSpPr>
        <p:spPr>
          <a:xfrm>
            <a:off x="7029274" y="5359266"/>
            <a:ext cx="4146446" cy="228594"/>
          </a:xfrm>
          <a:prstGeom prst="rect">
            <a:avLst/>
          </a:prstGeom>
          <a:noFill/>
          <a:ln/>
        </p:spPr>
        <p:txBody>
          <a:bodyPr wrap="square" lIns="0" tIns="0" rIns="0" bIns="0" rtlCol="0" anchor="t"/>
          <a:lstStyle/>
          <a:p>
            <a:pPr indent="0" marL="0">
              <a:buNone/>
            </a:pPr>
            <a:r>
              <a:rPr lang="en-US" sz="900" dirty="0">
                <a:solidFill>
                  <a:srgbClr val="9A9A9A"/>
                </a:solidFill>
                <a:latin typeface="Arial" pitchFamily="34" charset="0"/>
                <a:ea typeface="Arial" pitchFamily="34" charset="-122"/>
                <a:cs typeface="Arial" pitchFamily="34" charset="-120"/>
              </a:rPr>
              <a:t>Co-founder and CEO, Marvin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12</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IN THEIR WORDS</a:t>
            </a:r>
            <a:pPr indent="0" marL="0">
              <a:buNone/>
            </a:pPr>
            <a:r>
              <a:rPr lang="en-US" sz="1000" b="1" spc="500" kern="0" dirty="0">
                <a:solidFill>
                  <a:srgbClr val="A6A6A6"/>
                </a:solidFill>
                <a:latin typeface="Arial" pitchFamily="34" charset="0"/>
                <a:ea typeface="Arial" pitchFamily="34" charset="-122"/>
                <a:cs typeface="Arial" pitchFamily="34" charset="-120"/>
              </a:rPr>
              <a:t>   SPEAKERS ON THE FUTURE OF INNOVATION</a:t>
            </a:r>
            <a:endParaRPr lang="en-US" sz="1000" dirty="0"/>
          </a:p>
        </p:txBody>
      </p:sp>
      <p:sp>
        <p:nvSpPr>
          <p:cNvPr id="7" name="Shape 4"/>
          <p:cNvSpPr/>
          <p:nvPr/>
        </p:nvSpPr>
        <p:spPr>
          <a:xfrm>
            <a:off x="761981" y="1054074"/>
            <a:ext cx="5225919" cy="2285943"/>
          </a:xfrm>
          <a:prstGeom prst="rect">
            <a:avLst/>
          </a:prstGeom>
          <a:solidFill>
            <a:srgbClr val="0B0B0B"/>
          </a:solidFill>
          <a:ln w="9525">
            <a:solidFill>
              <a:srgbClr val="242424"/>
            </a:solidFill>
            <a:prstDash val="solid"/>
          </a:ln>
        </p:spPr>
      </p:sp>
      <p:sp>
        <p:nvSpPr>
          <p:cNvPr id="8" name="Text 5"/>
          <p:cNvSpPr txBox="1"/>
          <p:nvPr/>
        </p:nvSpPr>
        <p:spPr>
          <a:xfrm>
            <a:off x="1015975" y="1282668"/>
            <a:ext cx="4717932" cy="1269968"/>
          </a:xfrm>
          <a:prstGeom prst="rect">
            <a:avLst/>
          </a:prstGeom>
          <a:noFill/>
          <a:ln/>
        </p:spPr>
        <p:txBody>
          <a:bodyPr wrap="square" lIns="0" tIns="0" rIns="0" bIns="0" rtlCol="0" anchor="t"/>
          <a:lstStyle/>
          <a:p>
            <a:pPr indent="0" marL="0">
              <a:lnSpc>
                <a:spcPct val="115000"/>
              </a:lnSpc>
              <a:buNone/>
            </a:pPr>
            <a:r>
              <a:rPr lang="en-US" sz="1500" i="1" dirty="0">
                <a:solidFill>
                  <a:srgbClr val="FFFFFF"/>
                </a:solidFill>
                <a:latin typeface="Times New Roman" pitchFamily="34" charset="0"/>
                <a:ea typeface="Times New Roman" pitchFamily="34" charset="-122"/>
                <a:cs typeface="Times New Roman" pitchFamily="34" charset="-120"/>
              </a:rPr>
              <a:t>“The winners of this era will be those who invest in curating and structuring their context and their knowledge, because tools change every week, but context never gets old.”</a:t>
            </a:r>
            <a:endParaRPr lang="en-US" sz="1500" dirty="0"/>
          </a:p>
        </p:txBody>
      </p:sp>
      <p:pic>
        <p:nvPicPr>
          <p:cNvPr id="9" name="Image 1" descr="/private/tmp/claude-501/-Users-sebastiangier-Documents-Claude-Projects-FastForward-Global/e79bb229-0b18-47a3-8b64-a4a670addca8/scratchpad/pptx/img/diana-wolosin.png">    </p:cNvPr>
          <p:cNvPicPr>
            <a:picLocks noChangeAspect="1"/>
          </p:cNvPicPr>
          <p:nvPr/>
        </p:nvPicPr>
        <p:blipFill>
          <a:blip r:embed="rId2"/>
          <a:srcRect l="0" r="0" t="0" b="0"/>
          <a:stretch/>
        </p:blipFill>
        <p:spPr>
          <a:xfrm>
            <a:off x="1015975" y="2628834"/>
            <a:ext cx="457189" cy="457189"/>
          </a:xfrm>
          <a:prstGeom prst="ellipse">
            <a:avLst/>
          </a:prstGeom>
        </p:spPr>
      </p:pic>
      <p:sp>
        <p:nvSpPr>
          <p:cNvPr id="10" name="Text 6"/>
          <p:cNvSpPr txBox="1"/>
          <p:nvPr/>
        </p:nvSpPr>
        <p:spPr>
          <a:xfrm>
            <a:off x="1587460" y="2628834"/>
            <a:ext cx="4146446" cy="228594"/>
          </a:xfrm>
          <a:prstGeom prst="rect">
            <a:avLst/>
          </a:prstGeom>
          <a:noFill/>
          <a:ln/>
        </p:spPr>
        <p:txBody>
          <a:bodyPr wrap="square" lIns="0" tIns="0" rIns="0" bIns="0" rtlCol="0" anchor="b"/>
          <a:lstStyle/>
          <a:p>
            <a:pPr indent="0" marL="0">
              <a:buNone/>
            </a:pPr>
            <a:r>
              <a:rPr lang="en-US" sz="1100" b="1" dirty="0">
                <a:solidFill>
                  <a:srgbClr val="FFFFFF"/>
                </a:solidFill>
                <a:latin typeface="Arial" pitchFamily="34" charset="0"/>
                <a:ea typeface="Arial" pitchFamily="34" charset="-122"/>
                <a:cs typeface="Arial" pitchFamily="34" charset="-120"/>
              </a:rPr>
              <a:t>Diana Wolosin</a:t>
            </a:r>
            <a:endParaRPr lang="en-US" sz="1100" dirty="0"/>
          </a:p>
        </p:txBody>
      </p:sp>
      <p:sp>
        <p:nvSpPr>
          <p:cNvPr id="11" name="Text 7"/>
          <p:cNvSpPr txBox="1"/>
          <p:nvPr/>
        </p:nvSpPr>
        <p:spPr>
          <a:xfrm>
            <a:off x="1587460" y="2857429"/>
            <a:ext cx="4146446" cy="228594"/>
          </a:xfrm>
          <a:prstGeom prst="rect">
            <a:avLst/>
          </a:prstGeom>
          <a:noFill/>
          <a:ln/>
        </p:spPr>
        <p:txBody>
          <a:bodyPr wrap="square" lIns="0" tIns="0" rIns="0" bIns="0" rtlCol="0" anchor="t"/>
          <a:lstStyle/>
          <a:p>
            <a:pPr indent="0" marL="0">
              <a:buNone/>
            </a:pPr>
            <a:r>
              <a:rPr lang="en-US" sz="900" dirty="0">
                <a:solidFill>
                  <a:srgbClr val="9A9A9A"/>
                </a:solidFill>
                <a:latin typeface="Arial" pitchFamily="34" charset="0"/>
                <a:ea typeface="Arial" pitchFamily="34" charset="-122"/>
                <a:cs typeface="Arial" pitchFamily="34" charset="-120"/>
              </a:rPr>
              <a:t>Sr. AI Systems Architect, Ads · Netflix</a:t>
            </a:r>
            <a:endParaRPr lang="en-US" sz="900" dirty="0"/>
          </a:p>
        </p:txBody>
      </p:sp>
      <p:sp>
        <p:nvSpPr>
          <p:cNvPr id="12" name="Shape 8"/>
          <p:cNvSpPr/>
          <p:nvPr/>
        </p:nvSpPr>
        <p:spPr>
          <a:xfrm>
            <a:off x="6203795" y="1054074"/>
            <a:ext cx="5225919" cy="2285943"/>
          </a:xfrm>
          <a:prstGeom prst="rect">
            <a:avLst/>
          </a:prstGeom>
          <a:solidFill>
            <a:srgbClr val="0B0B0B"/>
          </a:solidFill>
          <a:ln w="9525">
            <a:solidFill>
              <a:srgbClr val="242424"/>
            </a:solidFill>
            <a:prstDash val="solid"/>
          </a:ln>
        </p:spPr>
      </p:sp>
      <p:sp>
        <p:nvSpPr>
          <p:cNvPr id="13" name="Text 9"/>
          <p:cNvSpPr txBox="1"/>
          <p:nvPr/>
        </p:nvSpPr>
        <p:spPr>
          <a:xfrm>
            <a:off x="6457789" y="1282668"/>
            <a:ext cx="4717932" cy="1269968"/>
          </a:xfrm>
          <a:prstGeom prst="rect">
            <a:avLst/>
          </a:prstGeom>
          <a:noFill/>
          <a:ln/>
        </p:spPr>
        <p:txBody>
          <a:bodyPr wrap="square" lIns="0" tIns="0" rIns="0" bIns="0" rtlCol="0" anchor="t"/>
          <a:lstStyle/>
          <a:p>
            <a:pPr indent="0" marL="0">
              <a:lnSpc>
                <a:spcPct val="115000"/>
              </a:lnSpc>
              <a:buNone/>
            </a:pPr>
            <a:r>
              <a:rPr lang="en-US" sz="1500" i="1" dirty="0">
                <a:solidFill>
                  <a:srgbClr val="FFFFFF"/>
                </a:solidFill>
                <a:latin typeface="Times New Roman" pitchFamily="34" charset="0"/>
                <a:ea typeface="Times New Roman" pitchFamily="34" charset="-122"/>
                <a:cs typeface="Times New Roman" pitchFamily="34" charset="-120"/>
              </a:rPr>
              <a:t>“We can use AI and emerging technology not to remove the human from the process, but to understand human behavior better and design for the beautifully irrational ways people actually think, behave, and make decisions.”</a:t>
            </a:r>
            <a:endParaRPr lang="en-US" sz="1500" dirty="0"/>
          </a:p>
        </p:txBody>
      </p:sp>
      <p:pic>
        <p:nvPicPr>
          <p:cNvPr id="14" name="Image 2" descr="/private/tmp/claude-501/-Users-sebastiangier-Documents-Claude-Projects-FastForward-Global/e79bb229-0b18-47a3-8b64-a4a670addca8/scratchpad/pptx/img/rowan-salama.png">    </p:cNvPr>
          <p:cNvPicPr>
            <a:picLocks noChangeAspect="1"/>
          </p:cNvPicPr>
          <p:nvPr/>
        </p:nvPicPr>
        <p:blipFill>
          <a:blip r:embed="rId3"/>
          <a:srcRect l="0" r="0" t="0" b="0"/>
          <a:stretch/>
        </p:blipFill>
        <p:spPr>
          <a:xfrm>
            <a:off x="6457789" y="2628834"/>
            <a:ext cx="457189" cy="457189"/>
          </a:xfrm>
          <a:prstGeom prst="ellipse">
            <a:avLst/>
          </a:prstGeom>
        </p:spPr>
      </p:pic>
      <p:sp>
        <p:nvSpPr>
          <p:cNvPr id="15" name="Text 10"/>
          <p:cNvSpPr txBox="1"/>
          <p:nvPr/>
        </p:nvSpPr>
        <p:spPr>
          <a:xfrm>
            <a:off x="7029274" y="2628834"/>
            <a:ext cx="4146446" cy="228594"/>
          </a:xfrm>
          <a:prstGeom prst="rect">
            <a:avLst/>
          </a:prstGeom>
          <a:noFill/>
          <a:ln/>
        </p:spPr>
        <p:txBody>
          <a:bodyPr wrap="square" lIns="0" tIns="0" rIns="0" bIns="0" rtlCol="0" anchor="b"/>
          <a:lstStyle/>
          <a:p>
            <a:pPr indent="0" marL="0">
              <a:buNone/>
            </a:pPr>
            <a:r>
              <a:rPr lang="en-US" sz="1100" b="1" dirty="0">
                <a:solidFill>
                  <a:srgbClr val="FFFFFF"/>
                </a:solidFill>
                <a:latin typeface="Arial" pitchFamily="34" charset="0"/>
                <a:ea typeface="Arial" pitchFamily="34" charset="-122"/>
                <a:cs typeface="Arial" pitchFamily="34" charset="-120"/>
              </a:rPr>
              <a:t>Rowan Salama</a:t>
            </a:r>
            <a:endParaRPr lang="en-US" sz="1100" dirty="0"/>
          </a:p>
        </p:txBody>
      </p:sp>
      <p:sp>
        <p:nvSpPr>
          <p:cNvPr id="16" name="Text 11"/>
          <p:cNvSpPr txBox="1"/>
          <p:nvPr/>
        </p:nvSpPr>
        <p:spPr>
          <a:xfrm>
            <a:off x="7029274" y="2857429"/>
            <a:ext cx="4146446" cy="228594"/>
          </a:xfrm>
          <a:prstGeom prst="rect">
            <a:avLst/>
          </a:prstGeom>
          <a:noFill/>
          <a:ln/>
        </p:spPr>
        <p:txBody>
          <a:bodyPr wrap="square" lIns="0" tIns="0" rIns="0" bIns="0" rtlCol="0" anchor="t"/>
          <a:lstStyle/>
          <a:p>
            <a:pPr indent="0" marL="0">
              <a:buNone/>
            </a:pPr>
            <a:r>
              <a:rPr lang="en-US" sz="900" dirty="0">
                <a:solidFill>
                  <a:srgbClr val="9A9A9A"/>
                </a:solidFill>
                <a:latin typeface="Arial" pitchFamily="34" charset="0"/>
                <a:ea typeface="Arial" pitchFamily="34" charset="-122"/>
                <a:cs typeface="Arial" pitchFamily="34" charset="-120"/>
              </a:rPr>
              <a:t>Lead Product Researcher, Careem (Uber)</a:t>
            </a:r>
            <a:endParaRPr lang="en-US" sz="900" dirty="0"/>
          </a:p>
        </p:txBody>
      </p:sp>
      <p:sp>
        <p:nvSpPr>
          <p:cNvPr id="17" name="Shape 12"/>
          <p:cNvSpPr/>
          <p:nvPr/>
        </p:nvSpPr>
        <p:spPr>
          <a:xfrm>
            <a:off x="761981" y="3555911"/>
            <a:ext cx="5225919" cy="2285943"/>
          </a:xfrm>
          <a:prstGeom prst="rect">
            <a:avLst/>
          </a:prstGeom>
          <a:solidFill>
            <a:srgbClr val="0B0B0B"/>
          </a:solidFill>
          <a:ln w="9525">
            <a:solidFill>
              <a:srgbClr val="242424"/>
            </a:solidFill>
            <a:prstDash val="solid"/>
          </a:ln>
        </p:spPr>
      </p:sp>
      <p:sp>
        <p:nvSpPr>
          <p:cNvPr id="18" name="Text 13"/>
          <p:cNvSpPr txBox="1"/>
          <p:nvPr/>
        </p:nvSpPr>
        <p:spPr>
          <a:xfrm>
            <a:off x="1015975" y="3784505"/>
            <a:ext cx="4717932" cy="1269968"/>
          </a:xfrm>
          <a:prstGeom prst="rect">
            <a:avLst/>
          </a:prstGeom>
          <a:noFill/>
          <a:ln/>
        </p:spPr>
        <p:txBody>
          <a:bodyPr wrap="square" lIns="0" tIns="0" rIns="0" bIns="0" rtlCol="0" anchor="t"/>
          <a:lstStyle/>
          <a:p>
            <a:pPr indent="0" marL="0">
              <a:lnSpc>
                <a:spcPct val="115000"/>
              </a:lnSpc>
              <a:buNone/>
            </a:pPr>
            <a:r>
              <a:rPr lang="en-US" sz="1500" i="1" dirty="0">
                <a:solidFill>
                  <a:srgbClr val="FFFFFF"/>
                </a:solidFill>
                <a:latin typeface="Times New Roman" pitchFamily="34" charset="0"/>
                <a:ea typeface="Times New Roman" pitchFamily="34" charset="-122"/>
                <a:cs typeface="Times New Roman" pitchFamily="34" charset="-120"/>
              </a:rPr>
              <a:t>“The real competitive edge shifts from capability to conviction. Having a clear point of view, and the trust it builds, becomes the actual differentiator.”</a:t>
            </a:r>
            <a:endParaRPr lang="en-US" sz="1500" dirty="0"/>
          </a:p>
        </p:txBody>
      </p:sp>
      <p:pic>
        <p:nvPicPr>
          <p:cNvPr id="19" name="Image 3" descr="/private/tmp/claude-501/-Users-sebastiangier-Documents-Claude-Projects-FastForward-Global/e79bb229-0b18-47a3-8b64-a4a670addca8/scratchpad/pptx/img/jaleesa-chagan.png">    </p:cNvPr>
          <p:cNvPicPr>
            <a:picLocks noChangeAspect="1"/>
          </p:cNvPicPr>
          <p:nvPr/>
        </p:nvPicPr>
        <p:blipFill>
          <a:blip r:embed="rId4"/>
          <a:srcRect l="0" r="0" t="0" b="0"/>
          <a:stretch/>
        </p:blipFill>
        <p:spPr>
          <a:xfrm>
            <a:off x="1015975" y="5130672"/>
            <a:ext cx="457189" cy="457189"/>
          </a:xfrm>
          <a:prstGeom prst="ellipse">
            <a:avLst/>
          </a:prstGeom>
        </p:spPr>
      </p:pic>
      <p:sp>
        <p:nvSpPr>
          <p:cNvPr id="20" name="Text 14"/>
          <p:cNvSpPr txBox="1"/>
          <p:nvPr/>
        </p:nvSpPr>
        <p:spPr>
          <a:xfrm>
            <a:off x="1587460" y="5130672"/>
            <a:ext cx="4146446" cy="228594"/>
          </a:xfrm>
          <a:prstGeom prst="rect">
            <a:avLst/>
          </a:prstGeom>
          <a:noFill/>
          <a:ln/>
        </p:spPr>
        <p:txBody>
          <a:bodyPr wrap="square" lIns="0" tIns="0" rIns="0" bIns="0" rtlCol="0" anchor="b"/>
          <a:lstStyle/>
          <a:p>
            <a:pPr indent="0" marL="0">
              <a:buNone/>
            </a:pPr>
            <a:r>
              <a:rPr lang="en-US" sz="1100" b="1" dirty="0">
                <a:solidFill>
                  <a:srgbClr val="FFFFFF"/>
                </a:solidFill>
                <a:latin typeface="Arial" pitchFamily="34" charset="0"/>
                <a:ea typeface="Arial" pitchFamily="34" charset="-122"/>
                <a:cs typeface="Arial" pitchFamily="34" charset="-120"/>
              </a:rPr>
              <a:t>Jaleesa Chagan</a:t>
            </a:r>
            <a:endParaRPr lang="en-US" sz="1100" dirty="0"/>
          </a:p>
        </p:txBody>
      </p:sp>
      <p:sp>
        <p:nvSpPr>
          <p:cNvPr id="21" name="Text 15"/>
          <p:cNvSpPr txBox="1"/>
          <p:nvPr/>
        </p:nvSpPr>
        <p:spPr>
          <a:xfrm>
            <a:off x="1587460" y="5359266"/>
            <a:ext cx="4146446" cy="228594"/>
          </a:xfrm>
          <a:prstGeom prst="rect">
            <a:avLst/>
          </a:prstGeom>
          <a:noFill/>
          <a:ln/>
        </p:spPr>
        <p:txBody>
          <a:bodyPr wrap="square" lIns="0" tIns="0" rIns="0" bIns="0" rtlCol="0" anchor="t"/>
          <a:lstStyle/>
          <a:p>
            <a:pPr indent="0" marL="0">
              <a:buNone/>
            </a:pPr>
            <a:r>
              <a:rPr lang="en-US" sz="900" dirty="0">
                <a:solidFill>
                  <a:srgbClr val="9A9A9A"/>
                </a:solidFill>
                <a:latin typeface="Arial" pitchFamily="34" charset="0"/>
                <a:ea typeface="Arial" pitchFamily="34" charset="-122"/>
                <a:cs typeface="Arial" pitchFamily="34" charset="-120"/>
              </a:rPr>
              <a:t>Senior UX Researcher, GAIN</a:t>
            </a:r>
            <a:endParaRPr lang="en-US" sz="900" dirty="0"/>
          </a:p>
        </p:txBody>
      </p:sp>
      <p:sp>
        <p:nvSpPr>
          <p:cNvPr id="22" name="Shape 16"/>
          <p:cNvSpPr/>
          <p:nvPr/>
        </p:nvSpPr>
        <p:spPr>
          <a:xfrm>
            <a:off x="6203795" y="3555911"/>
            <a:ext cx="5225919" cy="2285943"/>
          </a:xfrm>
          <a:prstGeom prst="rect">
            <a:avLst/>
          </a:prstGeom>
          <a:solidFill>
            <a:srgbClr val="0B0B0B"/>
          </a:solidFill>
          <a:ln w="9525">
            <a:solidFill>
              <a:srgbClr val="242424"/>
            </a:solidFill>
            <a:prstDash val="solid"/>
          </a:ln>
        </p:spPr>
      </p:sp>
      <p:sp>
        <p:nvSpPr>
          <p:cNvPr id="23" name="Text 17"/>
          <p:cNvSpPr txBox="1"/>
          <p:nvPr/>
        </p:nvSpPr>
        <p:spPr>
          <a:xfrm>
            <a:off x="6457789" y="3784505"/>
            <a:ext cx="4717932" cy="1269968"/>
          </a:xfrm>
          <a:prstGeom prst="rect">
            <a:avLst/>
          </a:prstGeom>
          <a:noFill/>
          <a:ln/>
        </p:spPr>
        <p:txBody>
          <a:bodyPr wrap="square" lIns="0" tIns="0" rIns="0" bIns="0" rtlCol="0" anchor="t"/>
          <a:lstStyle/>
          <a:p>
            <a:pPr indent="0" marL="0">
              <a:lnSpc>
                <a:spcPct val="115000"/>
              </a:lnSpc>
              <a:buNone/>
            </a:pPr>
            <a:r>
              <a:rPr lang="en-US" sz="1500" i="1" dirty="0">
                <a:solidFill>
                  <a:srgbClr val="FFFFFF"/>
                </a:solidFill>
                <a:latin typeface="Times New Roman" pitchFamily="34" charset="0"/>
                <a:ea typeface="Times New Roman" pitchFamily="34" charset="-122"/>
                <a:cs typeface="Times New Roman" pitchFamily="34" charset="-120"/>
              </a:rPr>
              <a:t>“Digital experiences are no longer a layer on top of the business — they are the business.”</a:t>
            </a:r>
            <a:endParaRPr lang="en-US" sz="1500" dirty="0"/>
          </a:p>
        </p:txBody>
      </p:sp>
      <p:pic>
        <p:nvPicPr>
          <p:cNvPr id="24" name="Image 4" descr="/private/tmp/claude-501/-Users-sebastiangier-Documents-Claude-Projects-FastForward-Global/e79bb229-0b18-47a3-8b64-a4a670addca8/scratchpad/pptx/img/ann-kostopanagiotou.jpg">    </p:cNvPr>
          <p:cNvPicPr>
            <a:picLocks noChangeAspect="1"/>
          </p:cNvPicPr>
          <p:nvPr/>
        </p:nvPicPr>
        <p:blipFill>
          <a:blip r:embed="rId5"/>
          <a:srcRect l="0" r="0" t="0" b="0"/>
          <a:stretch/>
        </p:blipFill>
        <p:spPr>
          <a:xfrm>
            <a:off x="6457789" y="5130672"/>
            <a:ext cx="457189" cy="457189"/>
          </a:xfrm>
          <a:prstGeom prst="ellipse">
            <a:avLst/>
          </a:prstGeom>
        </p:spPr>
      </p:pic>
      <p:sp>
        <p:nvSpPr>
          <p:cNvPr id="25" name="Text 18"/>
          <p:cNvSpPr txBox="1"/>
          <p:nvPr/>
        </p:nvSpPr>
        <p:spPr>
          <a:xfrm>
            <a:off x="7029274" y="5130672"/>
            <a:ext cx="4146446" cy="228594"/>
          </a:xfrm>
          <a:prstGeom prst="rect">
            <a:avLst/>
          </a:prstGeom>
          <a:noFill/>
          <a:ln/>
        </p:spPr>
        <p:txBody>
          <a:bodyPr wrap="square" lIns="0" tIns="0" rIns="0" bIns="0" rtlCol="0" anchor="b"/>
          <a:lstStyle/>
          <a:p>
            <a:pPr indent="0" marL="0">
              <a:buNone/>
            </a:pPr>
            <a:r>
              <a:rPr lang="en-US" sz="1100" b="1" dirty="0">
                <a:solidFill>
                  <a:srgbClr val="FFFFFF"/>
                </a:solidFill>
                <a:latin typeface="Arial" pitchFamily="34" charset="0"/>
                <a:ea typeface="Arial" pitchFamily="34" charset="-122"/>
                <a:cs typeface="Arial" pitchFamily="34" charset="-120"/>
              </a:rPr>
              <a:t>Ann Kostopanagiotou</a:t>
            </a:r>
            <a:endParaRPr lang="en-US" sz="1100" dirty="0"/>
          </a:p>
        </p:txBody>
      </p:sp>
      <p:sp>
        <p:nvSpPr>
          <p:cNvPr id="26" name="Text 19"/>
          <p:cNvSpPr txBox="1"/>
          <p:nvPr/>
        </p:nvSpPr>
        <p:spPr>
          <a:xfrm>
            <a:off x="7029274" y="5359266"/>
            <a:ext cx="4146446" cy="228594"/>
          </a:xfrm>
          <a:prstGeom prst="rect">
            <a:avLst/>
          </a:prstGeom>
          <a:noFill/>
          <a:ln/>
        </p:spPr>
        <p:txBody>
          <a:bodyPr wrap="square" lIns="0" tIns="0" rIns="0" bIns="0" rtlCol="0" anchor="t"/>
          <a:lstStyle/>
          <a:p>
            <a:pPr indent="0" marL="0">
              <a:buNone/>
            </a:pPr>
            <a:r>
              <a:rPr lang="en-US" sz="900" dirty="0">
                <a:solidFill>
                  <a:srgbClr val="9A9A9A"/>
                </a:solidFill>
                <a:latin typeface="Arial" pitchFamily="34" charset="0"/>
                <a:ea typeface="Arial" pitchFamily="34" charset="-122"/>
                <a:cs typeface="Arial" pitchFamily="34" charset="-120"/>
              </a:rPr>
              <a:t>Managing Director, Mondo Robot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13</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IN THEIR WORDS</a:t>
            </a:r>
            <a:pPr indent="0" marL="0">
              <a:buNone/>
            </a:pPr>
            <a:r>
              <a:rPr lang="en-US" sz="1000" b="1" spc="500" kern="0" dirty="0">
                <a:solidFill>
                  <a:srgbClr val="A6A6A6"/>
                </a:solidFill>
                <a:latin typeface="Arial" pitchFamily="34" charset="0"/>
                <a:ea typeface="Arial" pitchFamily="34" charset="-122"/>
                <a:cs typeface="Arial" pitchFamily="34" charset="-120"/>
              </a:rPr>
              <a:t>   SPEAKERS ON THE FUTURE OF INNOVATION</a:t>
            </a:r>
            <a:endParaRPr lang="en-US" sz="1000" dirty="0"/>
          </a:p>
        </p:txBody>
      </p:sp>
      <p:sp>
        <p:nvSpPr>
          <p:cNvPr id="7" name="Shape 4"/>
          <p:cNvSpPr/>
          <p:nvPr/>
        </p:nvSpPr>
        <p:spPr>
          <a:xfrm>
            <a:off x="761981" y="1054074"/>
            <a:ext cx="5225919" cy="2285943"/>
          </a:xfrm>
          <a:prstGeom prst="rect">
            <a:avLst/>
          </a:prstGeom>
          <a:solidFill>
            <a:srgbClr val="0B0B0B"/>
          </a:solidFill>
          <a:ln w="9525">
            <a:solidFill>
              <a:srgbClr val="242424"/>
            </a:solidFill>
            <a:prstDash val="solid"/>
          </a:ln>
        </p:spPr>
      </p:sp>
      <p:sp>
        <p:nvSpPr>
          <p:cNvPr id="8" name="Text 5"/>
          <p:cNvSpPr txBox="1"/>
          <p:nvPr/>
        </p:nvSpPr>
        <p:spPr>
          <a:xfrm>
            <a:off x="1015975" y="1282668"/>
            <a:ext cx="4717932" cy="1269968"/>
          </a:xfrm>
          <a:prstGeom prst="rect">
            <a:avLst/>
          </a:prstGeom>
          <a:noFill/>
          <a:ln/>
        </p:spPr>
        <p:txBody>
          <a:bodyPr wrap="square" lIns="0" tIns="0" rIns="0" bIns="0" rtlCol="0" anchor="t"/>
          <a:lstStyle/>
          <a:p>
            <a:pPr indent="0" marL="0">
              <a:lnSpc>
                <a:spcPct val="115000"/>
              </a:lnSpc>
              <a:buNone/>
            </a:pPr>
            <a:r>
              <a:rPr lang="en-US" sz="1500" i="1" dirty="0">
                <a:solidFill>
                  <a:srgbClr val="FFFFFF"/>
                </a:solidFill>
                <a:latin typeface="Times New Roman" pitchFamily="34" charset="0"/>
                <a:ea typeface="Times New Roman" pitchFamily="34" charset="-122"/>
                <a:cs typeface="Times New Roman" pitchFamily="34" charset="-120"/>
              </a:rPr>
              <a:t>“The future of design belongs to those who move beyond creating interfaces and toward shaping decisions.”</a:t>
            </a:r>
            <a:endParaRPr lang="en-US" sz="1500" dirty="0"/>
          </a:p>
        </p:txBody>
      </p:sp>
      <p:pic>
        <p:nvPicPr>
          <p:cNvPr id="9" name="Image 1" descr="/private/tmp/claude-501/-Users-sebastiangier-Documents-Claude-Projects-FastForward-Global/e79bb229-0b18-47a3-8b64-a4a670addca8/scratchpad/pptx/img/chris-gielow.png">    </p:cNvPr>
          <p:cNvPicPr>
            <a:picLocks noChangeAspect="1"/>
          </p:cNvPicPr>
          <p:nvPr/>
        </p:nvPicPr>
        <p:blipFill>
          <a:blip r:embed="rId2"/>
          <a:srcRect l="0" r="0" t="0" b="0"/>
          <a:stretch/>
        </p:blipFill>
        <p:spPr>
          <a:xfrm>
            <a:off x="1015975" y="2628834"/>
            <a:ext cx="457189" cy="457189"/>
          </a:xfrm>
          <a:prstGeom prst="ellipse">
            <a:avLst/>
          </a:prstGeom>
        </p:spPr>
      </p:pic>
      <p:sp>
        <p:nvSpPr>
          <p:cNvPr id="10" name="Text 6"/>
          <p:cNvSpPr txBox="1"/>
          <p:nvPr/>
        </p:nvSpPr>
        <p:spPr>
          <a:xfrm>
            <a:off x="1587460" y="2628834"/>
            <a:ext cx="4146446" cy="228594"/>
          </a:xfrm>
          <a:prstGeom prst="rect">
            <a:avLst/>
          </a:prstGeom>
          <a:noFill/>
          <a:ln/>
        </p:spPr>
        <p:txBody>
          <a:bodyPr wrap="square" lIns="0" tIns="0" rIns="0" bIns="0" rtlCol="0" anchor="b"/>
          <a:lstStyle/>
          <a:p>
            <a:pPr indent="0" marL="0">
              <a:buNone/>
            </a:pPr>
            <a:r>
              <a:rPr lang="en-US" sz="1100" b="1" dirty="0">
                <a:solidFill>
                  <a:srgbClr val="FFFFFF"/>
                </a:solidFill>
                <a:latin typeface="Arial" pitchFamily="34" charset="0"/>
                <a:ea typeface="Arial" pitchFamily="34" charset="-122"/>
                <a:cs typeface="Arial" pitchFamily="34" charset="-120"/>
              </a:rPr>
              <a:t>Chris Gielow</a:t>
            </a:r>
            <a:endParaRPr lang="en-US" sz="1100" dirty="0"/>
          </a:p>
        </p:txBody>
      </p:sp>
      <p:sp>
        <p:nvSpPr>
          <p:cNvPr id="11" name="Text 7"/>
          <p:cNvSpPr txBox="1"/>
          <p:nvPr/>
        </p:nvSpPr>
        <p:spPr>
          <a:xfrm>
            <a:off x="1587460" y="2857429"/>
            <a:ext cx="4146446" cy="228594"/>
          </a:xfrm>
          <a:prstGeom prst="rect">
            <a:avLst/>
          </a:prstGeom>
          <a:noFill/>
          <a:ln/>
        </p:spPr>
        <p:txBody>
          <a:bodyPr wrap="square" lIns="0" tIns="0" rIns="0" bIns="0" rtlCol="0" anchor="t"/>
          <a:lstStyle/>
          <a:p>
            <a:pPr indent="0" marL="0">
              <a:buNone/>
            </a:pPr>
            <a:r>
              <a:rPr lang="en-US" sz="900" dirty="0">
                <a:solidFill>
                  <a:srgbClr val="9A9A9A"/>
                </a:solidFill>
                <a:latin typeface="Arial" pitchFamily="34" charset="0"/>
                <a:ea typeface="Arial" pitchFamily="34" charset="-122"/>
                <a:cs typeface="Arial" pitchFamily="34" charset="-120"/>
              </a:rPr>
              <a:t>President, UX Speakeasy</a:t>
            </a:r>
            <a:endParaRPr lang="en-US" sz="900" dirty="0"/>
          </a:p>
        </p:txBody>
      </p:sp>
      <p:sp>
        <p:nvSpPr>
          <p:cNvPr id="12" name="Shape 8"/>
          <p:cNvSpPr/>
          <p:nvPr/>
        </p:nvSpPr>
        <p:spPr>
          <a:xfrm>
            <a:off x="6203795" y="1054074"/>
            <a:ext cx="5225919" cy="2285943"/>
          </a:xfrm>
          <a:prstGeom prst="rect">
            <a:avLst/>
          </a:prstGeom>
          <a:solidFill>
            <a:srgbClr val="0B0B0B"/>
          </a:solidFill>
          <a:ln w="9525">
            <a:solidFill>
              <a:srgbClr val="242424"/>
            </a:solidFill>
            <a:prstDash val="solid"/>
          </a:ln>
        </p:spPr>
      </p:sp>
      <p:sp>
        <p:nvSpPr>
          <p:cNvPr id="13" name="Text 9"/>
          <p:cNvSpPr txBox="1"/>
          <p:nvPr/>
        </p:nvSpPr>
        <p:spPr>
          <a:xfrm>
            <a:off x="6457789" y="1282668"/>
            <a:ext cx="4717932" cy="1269968"/>
          </a:xfrm>
          <a:prstGeom prst="rect">
            <a:avLst/>
          </a:prstGeom>
          <a:noFill/>
          <a:ln/>
        </p:spPr>
        <p:txBody>
          <a:bodyPr wrap="square" lIns="0" tIns="0" rIns="0" bIns="0" rtlCol="0" anchor="t"/>
          <a:lstStyle/>
          <a:p>
            <a:pPr indent="0" marL="0">
              <a:lnSpc>
                <a:spcPct val="115000"/>
              </a:lnSpc>
              <a:buNone/>
            </a:pPr>
            <a:r>
              <a:rPr lang="en-US" sz="1500" i="1" dirty="0">
                <a:solidFill>
                  <a:srgbClr val="FFFFFF"/>
                </a:solidFill>
                <a:latin typeface="Times New Roman" pitchFamily="34" charset="0"/>
                <a:ea typeface="Times New Roman" pitchFamily="34" charset="-122"/>
                <a:cs typeface="Times New Roman" pitchFamily="34" charset="-120"/>
              </a:rPr>
              <a:t>“We are starting to think about designing webpages not just for users, but for LLMs.”</a:t>
            </a:r>
            <a:endParaRPr lang="en-US" sz="1500" dirty="0"/>
          </a:p>
        </p:txBody>
      </p:sp>
      <p:pic>
        <p:nvPicPr>
          <p:cNvPr id="14" name="Image 2" descr="/private/tmp/claude-501/-Users-sebastiangier-Documents-Claude-Projects-FastForward-Global/e79bb229-0b18-47a3-8b64-a4a670addca8/scratchpad/pptx/img/harriet-swan.png">    </p:cNvPr>
          <p:cNvPicPr>
            <a:picLocks noChangeAspect="1"/>
          </p:cNvPicPr>
          <p:nvPr/>
        </p:nvPicPr>
        <p:blipFill>
          <a:blip r:embed="rId3"/>
          <a:srcRect l="0" r="0" t="0" b="0"/>
          <a:stretch/>
        </p:blipFill>
        <p:spPr>
          <a:xfrm>
            <a:off x="6457789" y="2628834"/>
            <a:ext cx="457189" cy="457189"/>
          </a:xfrm>
          <a:prstGeom prst="ellipse">
            <a:avLst/>
          </a:prstGeom>
        </p:spPr>
      </p:pic>
      <p:sp>
        <p:nvSpPr>
          <p:cNvPr id="15" name="Text 10"/>
          <p:cNvSpPr txBox="1"/>
          <p:nvPr/>
        </p:nvSpPr>
        <p:spPr>
          <a:xfrm>
            <a:off x="7029274" y="2628834"/>
            <a:ext cx="4146446" cy="228594"/>
          </a:xfrm>
          <a:prstGeom prst="rect">
            <a:avLst/>
          </a:prstGeom>
          <a:noFill/>
          <a:ln/>
        </p:spPr>
        <p:txBody>
          <a:bodyPr wrap="square" lIns="0" tIns="0" rIns="0" bIns="0" rtlCol="0" anchor="b"/>
          <a:lstStyle/>
          <a:p>
            <a:pPr indent="0" marL="0">
              <a:buNone/>
            </a:pPr>
            <a:r>
              <a:rPr lang="en-US" sz="1100" b="1" dirty="0">
                <a:solidFill>
                  <a:srgbClr val="FFFFFF"/>
                </a:solidFill>
                <a:latin typeface="Arial" pitchFamily="34" charset="0"/>
                <a:ea typeface="Arial" pitchFamily="34" charset="-122"/>
                <a:cs typeface="Arial" pitchFamily="34" charset="-120"/>
              </a:rPr>
              <a:t>Harriet Swan</a:t>
            </a:r>
            <a:endParaRPr lang="en-US" sz="1100" dirty="0"/>
          </a:p>
        </p:txBody>
      </p:sp>
      <p:sp>
        <p:nvSpPr>
          <p:cNvPr id="16" name="Text 11"/>
          <p:cNvSpPr txBox="1"/>
          <p:nvPr/>
        </p:nvSpPr>
        <p:spPr>
          <a:xfrm>
            <a:off x="7029274" y="2857429"/>
            <a:ext cx="4146446" cy="228594"/>
          </a:xfrm>
          <a:prstGeom prst="rect">
            <a:avLst/>
          </a:prstGeom>
          <a:noFill/>
          <a:ln/>
        </p:spPr>
        <p:txBody>
          <a:bodyPr wrap="square" lIns="0" tIns="0" rIns="0" bIns="0" rtlCol="0" anchor="t"/>
          <a:lstStyle/>
          <a:p>
            <a:pPr indent="0" marL="0">
              <a:buNone/>
            </a:pPr>
            <a:r>
              <a:rPr lang="en-US" sz="900" dirty="0">
                <a:solidFill>
                  <a:srgbClr val="9A9A9A"/>
                </a:solidFill>
                <a:latin typeface="Arial" pitchFamily="34" charset="0"/>
                <a:ea typeface="Arial" pitchFamily="34" charset="-122"/>
                <a:cs typeface="Arial" pitchFamily="34" charset="-120"/>
              </a:rPr>
              <a:t>Director of UX Research, GAIN</a:t>
            </a:r>
            <a:endParaRPr lang="en-US" sz="900" dirty="0"/>
          </a:p>
        </p:txBody>
      </p:sp>
      <p:sp>
        <p:nvSpPr>
          <p:cNvPr id="17" name="Shape 12"/>
          <p:cNvSpPr/>
          <p:nvPr/>
        </p:nvSpPr>
        <p:spPr>
          <a:xfrm>
            <a:off x="761981" y="3555911"/>
            <a:ext cx="5225919" cy="2285943"/>
          </a:xfrm>
          <a:prstGeom prst="rect">
            <a:avLst/>
          </a:prstGeom>
          <a:solidFill>
            <a:srgbClr val="0B0B0B"/>
          </a:solidFill>
          <a:ln w="9525">
            <a:solidFill>
              <a:srgbClr val="242424"/>
            </a:solidFill>
            <a:prstDash val="solid"/>
          </a:ln>
        </p:spPr>
      </p:sp>
      <p:sp>
        <p:nvSpPr>
          <p:cNvPr id="18" name="Text 13"/>
          <p:cNvSpPr txBox="1"/>
          <p:nvPr/>
        </p:nvSpPr>
        <p:spPr>
          <a:xfrm>
            <a:off x="1015975" y="3784505"/>
            <a:ext cx="4717932" cy="1269968"/>
          </a:xfrm>
          <a:prstGeom prst="rect">
            <a:avLst/>
          </a:prstGeom>
          <a:noFill/>
          <a:ln/>
        </p:spPr>
        <p:txBody>
          <a:bodyPr wrap="square" lIns="0" tIns="0" rIns="0" bIns="0" rtlCol="0" anchor="t"/>
          <a:lstStyle/>
          <a:p>
            <a:pPr indent="0" marL="0">
              <a:lnSpc>
                <a:spcPct val="115000"/>
              </a:lnSpc>
              <a:buNone/>
            </a:pPr>
            <a:r>
              <a:rPr lang="en-US" sz="1500" i="1" dirty="0">
                <a:solidFill>
                  <a:srgbClr val="FFFFFF"/>
                </a:solidFill>
                <a:latin typeface="Times New Roman" pitchFamily="34" charset="0"/>
                <a:ea typeface="Times New Roman" pitchFamily="34" charset="-122"/>
                <a:cs typeface="Times New Roman" pitchFamily="34" charset="-120"/>
              </a:rPr>
              <a:t>“Embracing the AI transformation is incredibly exciting because the book on how we design for it isn’t finished yet — we’re the ones actively writing the chapters.”</a:t>
            </a:r>
            <a:endParaRPr lang="en-US" sz="1500" dirty="0"/>
          </a:p>
        </p:txBody>
      </p:sp>
      <p:pic>
        <p:nvPicPr>
          <p:cNvPr id="19" name="Image 3" descr="/private/tmp/claude-501/-Users-sebastiangier-Documents-Claude-Projects-FastForward-Global/e79bb229-0b18-47a3-8b64-a4a670addca8/scratchpad/pptx/img/brandon-burlington.png">    </p:cNvPr>
          <p:cNvPicPr>
            <a:picLocks noChangeAspect="1"/>
          </p:cNvPicPr>
          <p:nvPr/>
        </p:nvPicPr>
        <p:blipFill>
          <a:blip r:embed="rId4"/>
          <a:srcRect l="0" r="0" t="0" b="0"/>
          <a:stretch/>
        </p:blipFill>
        <p:spPr>
          <a:xfrm>
            <a:off x="1015975" y="5130672"/>
            <a:ext cx="457189" cy="457189"/>
          </a:xfrm>
          <a:prstGeom prst="ellipse">
            <a:avLst/>
          </a:prstGeom>
        </p:spPr>
      </p:pic>
      <p:sp>
        <p:nvSpPr>
          <p:cNvPr id="20" name="Text 14"/>
          <p:cNvSpPr txBox="1"/>
          <p:nvPr/>
        </p:nvSpPr>
        <p:spPr>
          <a:xfrm>
            <a:off x="1587460" y="5130672"/>
            <a:ext cx="4146446" cy="228594"/>
          </a:xfrm>
          <a:prstGeom prst="rect">
            <a:avLst/>
          </a:prstGeom>
          <a:noFill/>
          <a:ln/>
        </p:spPr>
        <p:txBody>
          <a:bodyPr wrap="square" lIns="0" tIns="0" rIns="0" bIns="0" rtlCol="0" anchor="b"/>
          <a:lstStyle/>
          <a:p>
            <a:pPr indent="0" marL="0">
              <a:buNone/>
            </a:pPr>
            <a:r>
              <a:rPr lang="en-US" sz="1100" b="1" dirty="0">
                <a:solidFill>
                  <a:srgbClr val="FFFFFF"/>
                </a:solidFill>
                <a:latin typeface="Arial" pitchFamily="34" charset="0"/>
                <a:ea typeface="Arial" pitchFamily="34" charset="-122"/>
                <a:cs typeface="Arial" pitchFamily="34" charset="-120"/>
              </a:rPr>
              <a:t>Brandon Burlington</a:t>
            </a:r>
            <a:endParaRPr lang="en-US" sz="1100" dirty="0"/>
          </a:p>
        </p:txBody>
      </p:sp>
      <p:sp>
        <p:nvSpPr>
          <p:cNvPr id="21" name="Text 15"/>
          <p:cNvSpPr txBox="1"/>
          <p:nvPr/>
        </p:nvSpPr>
        <p:spPr>
          <a:xfrm>
            <a:off x="1587460" y="5359266"/>
            <a:ext cx="4146446" cy="228594"/>
          </a:xfrm>
          <a:prstGeom prst="rect">
            <a:avLst/>
          </a:prstGeom>
          <a:noFill/>
          <a:ln/>
        </p:spPr>
        <p:txBody>
          <a:bodyPr wrap="square" lIns="0" tIns="0" rIns="0" bIns="0" rtlCol="0" anchor="t"/>
          <a:lstStyle/>
          <a:p>
            <a:pPr indent="0" marL="0">
              <a:buNone/>
            </a:pPr>
            <a:r>
              <a:rPr lang="en-US" sz="900" dirty="0">
                <a:solidFill>
                  <a:srgbClr val="9A9A9A"/>
                </a:solidFill>
                <a:latin typeface="Arial" pitchFamily="34" charset="0"/>
                <a:ea typeface="Arial" pitchFamily="34" charset="-122"/>
                <a:cs typeface="Arial" pitchFamily="34" charset="-120"/>
              </a:rPr>
              <a:t>Staff UX Designer, Google</a:t>
            </a:r>
            <a:endParaRPr lang="en-US" sz="900" dirty="0"/>
          </a:p>
        </p:txBody>
      </p:sp>
      <p:sp>
        <p:nvSpPr>
          <p:cNvPr id="22" name="Shape 16"/>
          <p:cNvSpPr/>
          <p:nvPr/>
        </p:nvSpPr>
        <p:spPr>
          <a:xfrm>
            <a:off x="6203795" y="3555911"/>
            <a:ext cx="5225919" cy="2285943"/>
          </a:xfrm>
          <a:prstGeom prst="rect">
            <a:avLst/>
          </a:prstGeom>
          <a:solidFill>
            <a:srgbClr val="0B0B0B"/>
          </a:solidFill>
          <a:ln w="9525">
            <a:solidFill>
              <a:srgbClr val="242424"/>
            </a:solidFill>
            <a:prstDash val="solid"/>
          </a:ln>
        </p:spPr>
      </p:sp>
      <p:sp>
        <p:nvSpPr>
          <p:cNvPr id="23" name="Text 17"/>
          <p:cNvSpPr txBox="1"/>
          <p:nvPr/>
        </p:nvSpPr>
        <p:spPr>
          <a:xfrm>
            <a:off x="6457789" y="3784505"/>
            <a:ext cx="4717932" cy="1269968"/>
          </a:xfrm>
          <a:prstGeom prst="rect">
            <a:avLst/>
          </a:prstGeom>
          <a:noFill/>
          <a:ln/>
        </p:spPr>
        <p:txBody>
          <a:bodyPr wrap="square" lIns="0" tIns="0" rIns="0" bIns="0" rtlCol="0" anchor="t"/>
          <a:lstStyle/>
          <a:p>
            <a:pPr indent="0" marL="0">
              <a:lnSpc>
                <a:spcPct val="115000"/>
              </a:lnSpc>
              <a:buNone/>
            </a:pPr>
            <a:r>
              <a:rPr lang="en-US" sz="1500" i="1" dirty="0">
                <a:solidFill>
                  <a:srgbClr val="FFFFFF"/>
                </a:solidFill>
                <a:latin typeface="Times New Roman" pitchFamily="34" charset="0"/>
                <a:ea typeface="Times New Roman" pitchFamily="34" charset="-122"/>
                <a:cs typeface="Times New Roman" pitchFamily="34" charset="-120"/>
              </a:rPr>
              <a:t>“Good design has always been about staying close to real people. The future of innovation is about embracing speed without losing that.”</a:t>
            </a:r>
            <a:endParaRPr lang="en-US" sz="1500" dirty="0"/>
          </a:p>
        </p:txBody>
      </p:sp>
      <p:pic>
        <p:nvPicPr>
          <p:cNvPr id="24" name="Image 4" descr="/private/tmp/claude-501/-Users-sebastiangier-Documents-Claude-Projects-FastForward-Global/e79bb229-0b18-47a3-8b64-a4a670addca8/scratchpad/pptx/img/lauren-hughes.jpg">    </p:cNvPr>
          <p:cNvPicPr>
            <a:picLocks noChangeAspect="1"/>
          </p:cNvPicPr>
          <p:nvPr/>
        </p:nvPicPr>
        <p:blipFill>
          <a:blip r:embed="rId5"/>
          <a:srcRect l="0" r="0" t="0" b="0"/>
          <a:stretch/>
        </p:blipFill>
        <p:spPr>
          <a:xfrm>
            <a:off x="6457789" y="5130672"/>
            <a:ext cx="457189" cy="457189"/>
          </a:xfrm>
          <a:prstGeom prst="ellipse">
            <a:avLst/>
          </a:prstGeom>
        </p:spPr>
      </p:pic>
      <p:sp>
        <p:nvSpPr>
          <p:cNvPr id="25" name="Text 18"/>
          <p:cNvSpPr txBox="1"/>
          <p:nvPr/>
        </p:nvSpPr>
        <p:spPr>
          <a:xfrm>
            <a:off x="7029274" y="5130672"/>
            <a:ext cx="4146446" cy="228594"/>
          </a:xfrm>
          <a:prstGeom prst="rect">
            <a:avLst/>
          </a:prstGeom>
          <a:noFill/>
          <a:ln/>
        </p:spPr>
        <p:txBody>
          <a:bodyPr wrap="square" lIns="0" tIns="0" rIns="0" bIns="0" rtlCol="0" anchor="b"/>
          <a:lstStyle/>
          <a:p>
            <a:pPr indent="0" marL="0">
              <a:buNone/>
            </a:pPr>
            <a:r>
              <a:rPr lang="en-US" sz="1100" b="1" dirty="0">
                <a:solidFill>
                  <a:srgbClr val="FFFFFF"/>
                </a:solidFill>
                <a:latin typeface="Arial" pitchFamily="34" charset="0"/>
                <a:ea typeface="Arial" pitchFamily="34" charset="-122"/>
                <a:cs typeface="Arial" pitchFamily="34" charset="-120"/>
              </a:rPr>
              <a:t>Lauren Hughes</a:t>
            </a:r>
            <a:endParaRPr lang="en-US" sz="1100" dirty="0"/>
          </a:p>
        </p:txBody>
      </p:sp>
      <p:sp>
        <p:nvSpPr>
          <p:cNvPr id="26" name="Text 19"/>
          <p:cNvSpPr txBox="1"/>
          <p:nvPr/>
        </p:nvSpPr>
        <p:spPr>
          <a:xfrm>
            <a:off x="7029274" y="5359266"/>
            <a:ext cx="4146446" cy="228594"/>
          </a:xfrm>
          <a:prstGeom prst="rect">
            <a:avLst/>
          </a:prstGeom>
          <a:noFill/>
          <a:ln/>
        </p:spPr>
        <p:txBody>
          <a:bodyPr wrap="square" lIns="0" tIns="0" rIns="0" bIns="0" rtlCol="0" anchor="t"/>
          <a:lstStyle/>
          <a:p>
            <a:pPr indent="0" marL="0">
              <a:buNone/>
            </a:pPr>
            <a:r>
              <a:rPr lang="en-US" sz="900" dirty="0">
                <a:solidFill>
                  <a:srgbClr val="9A9A9A"/>
                </a:solidFill>
                <a:latin typeface="Arial" pitchFamily="34" charset="0"/>
                <a:ea typeface="Arial" pitchFamily="34" charset="-122"/>
                <a:cs typeface="Arial" pitchFamily="34" charset="-120"/>
              </a:rPr>
              <a:t>Lead Product Designer, Dscout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14</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THE DAY</a:t>
            </a:r>
            <a:pPr indent="0" marL="0">
              <a:buNone/>
            </a:pPr>
            <a:r>
              <a:rPr lang="en-US" sz="1000" b="1" spc="500" kern="0" dirty="0">
                <a:solidFill>
                  <a:srgbClr val="A6A6A6"/>
                </a:solidFill>
                <a:latin typeface="Arial" pitchFamily="34" charset="0"/>
                <a:ea typeface="Arial" pitchFamily="34" charset="-122"/>
                <a:cs typeface="Arial" pitchFamily="34" charset="-120"/>
              </a:rPr>
              <a:t>   THURSDAY 17 SEPTEMBER 2026</a:t>
            </a:r>
            <a:endParaRPr lang="en-US" sz="1000" dirty="0"/>
          </a:p>
        </p:txBody>
      </p:sp>
      <p:sp>
        <p:nvSpPr>
          <p:cNvPr id="7" name="Text 4"/>
          <p:cNvSpPr txBox="1"/>
          <p:nvPr/>
        </p:nvSpPr>
        <p:spPr>
          <a:xfrm>
            <a:off x="761981" y="990575"/>
            <a:ext cx="2971726" cy="190495"/>
          </a:xfrm>
          <a:prstGeom prst="rect">
            <a:avLst/>
          </a:prstGeom>
          <a:noFill/>
          <a:ln/>
        </p:spPr>
        <p:txBody>
          <a:bodyPr wrap="square" lIns="0" tIns="0" rIns="0" bIns="0" rtlCol="0" anchor="b"/>
          <a:lstStyle/>
          <a:p>
            <a:pPr indent="0" marL="0">
              <a:buNone/>
            </a:pPr>
            <a:r>
              <a:rPr lang="en-US" sz="800" b="1" spc="300" kern="0" dirty="0">
                <a:solidFill>
                  <a:srgbClr val="FFF204"/>
                </a:solidFill>
                <a:latin typeface="Arial" pitchFamily="34" charset="0"/>
                <a:ea typeface="Arial" pitchFamily="34" charset="-122"/>
                <a:cs typeface="Arial" pitchFamily="34" charset="-120"/>
              </a:rPr>
              <a:t>GUGGENHEIM THEATRE</a:t>
            </a:r>
            <a:endParaRPr lang="en-US" sz="800" dirty="0"/>
          </a:p>
        </p:txBody>
      </p:sp>
      <p:sp>
        <p:nvSpPr>
          <p:cNvPr id="8" name="Shape 5"/>
          <p:cNvSpPr/>
          <p:nvPr/>
        </p:nvSpPr>
        <p:spPr>
          <a:xfrm>
            <a:off x="761981" y="1244569"/>
            <a:ext cx="2971726" cy="0"/>
          </a:xfrm>
          <a:prstGeom prst="line">
            <a:avLst/>
          </a:prstGeom>
          <a:noFill/>
          <a:ln w="9525">
            <a:solidFill>
              <a:srgbClr val="242424"/>
            </a:solidFill>
            <a:prstDash val="solid"/>
          </a:ln>
        </p:spPr>
      </p:sp>
      <p:sp>
        <p:nvSpPr>
          <p:cNvPr id="9" name="Text 6"/>
          <p:cNvSpPr txBox="1"/>
          <p:nvPr/>
        </p:nvSpPr>
        <p:spPr>
          <a:xfrm>
            <a:off x="761981" y="1320767"/>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10:00</a:t>
            </a:r>
            <a:endParaRPr lang="en-US" sz="800" dirty="0"/>
          </a:p>
        </p:txBody>
      </p:sp>
      <p:sp>
        <p:nvSpPr>
          <p:cNvPr id="10" name="Text 7"/>
          <p:cNvSpPr txBox="1"/>
          <p:nvPr/>
        </p:nvSpPr>
        <p:spPr>
          <a:xfrm>
            <a:off x="1168371" y="1320767"/>
            <a:ext cx="2565336" cy="380990"/>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Welcome
</a:t>
            </a:r>
            <a:pPr indent="0" marL="0">
              <a:lnSpc>
                <a:spcPct val="110000"/>
              </a:lnSpc>
              <a:buNone/>
            </a:pPr>
            <a:r>
              <a:rPr lang="en-US" sz="750" dirty="0">
                <a:solidFill>
                  <a:srgbClr val="9A9A9A"/>
                </a:solidFill>
                <a:latin typeface="Arial" pitchFamily="34" charset="0"/>
                <a:ea typeface="Arial" pitchFamily="34" charset="-122"/>
                <a:cs typeface="Arial" pitchFamily="34" charset="-120"/>
              </a:rPr>
              <a:t>Tad Parzen (BCCA), Sebastian Gier, Scott Robinson</a:t>
            </a:r>
            <a:endParaRPr lang="en-US" sz="850" dirty="0"/>
          </a:p>
        </p:txBody>
      </p:sp>
      <p:sp>
        <p:nvSpPr>
          <p:cNvPr id="11" name="Shape 8"/>
          <p:cNvSpPr/>
          <p:nvPr/>
        </p:nvSpPr>
        <p:spPr>
          <a:xfrm>
            <a:off x="761981" y="1714457"/>
            <a:ext cx="2971726" cy="0"/>
          </a:xfrm>
          <a:prstGeom prst="line">
            <a:avLst/>
          </a:prstGeom>
          <a:noFill/>
          <a:ln w="6350">
            <a:solidFill>
              <a:srgbClr val="1A1A1A"/>
            </a:solidFill>
            <a:prstDash val="solid"/>
          </a:ln>
        </p:spPr>
      </p:sp>
      <p:sp>
        <p:nvSpPr>
          <p:cNvPr id="12" name="Text 9"/>
          <p:cNvSpPr txBox="1"/>
          <p:nvPr/>
        </p:nvSpPr>
        <p:spPr>
          <a:xfrm>
            <a:off x="761981" y="1739857"/>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10:15</a:t>
            </a:r>
            <a:endParaRPr lang="en-US" sz="800" dirty="0"/>
          </a:p>
        </p:txBody>
      </p:sp>
      <p:sp>
        <p:nvSpPr>
          <p:cNvPr id="13" name="Text 10"/>
          <p:cNvSpPr txBox="1"/>
          <p:nvPr/>
        </p:nvSpPr>
        <p:spPr>
          <a:xfrm>
            <a:off x="1168371" y="1739857"/>
            <a:ext cx="2565336" cy="380990"/>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The State of Humanity-Centric Innovation
</a:t>
            </a:r>
            <a:pPr indent="0" marL="0">
              <a:lnSpc>
                <a:spcPct val="110000"/>
              </a:lnSpc>
              <a:buNone/>
            </a:pPr>
            <a:r>
              <a:rPr lang="en-US" sz="750" dirty="0">
                <a:solidFill>
                  <a:srgbClr val="9A9A9A"/>
                </a:solidFill>
                <a:latin typeface="Arial" pitchFamily="34" charset="0"/>
                <a:ea typeface="Arial" pitchFamily="34" charset="-122"/>
                <a:cs typeface="Arial" pitchFamily="34" charset="-120"/>
              </a:rPr>
              <a:t>Don Norman · fireside chat &amp; Q&amp;A</a:t>
            </a:r>
            <a:endParaRPr lang="en-US" sz="850" dirty="0"/>
          </a:p>
        </p:txBody>
      </p:sp>
      <p:sp>
        <p:nvSpPr>
          <p:cNvPr id="14" name="Shape 11"/>
          <p:cNvSpPr/>
          <p:nvPr/>
        </p:nvSpPr>
        <p:spPr>
          <a:xfrm>
            <a:off x="761981" y="2133547"/>
            <a:ext cx="2971726" cy="0"/>
          </a:xfrm>
          <a:prstGeom prst="line">
            <a:avLst/>
          </a:prstGeom>
          <a:noFill/>
          <a:ln w="6350">
            <a:solidFill>
              <a:srgbClr val="1A1A1A"/>
            </a:solidFill>
            <a:prstDash val="solid"/>
          </a:ln>
        </p:spPr>
      </p:sp>
      <p:sp>
        <p:nvSpPr>
          <p:cNvPr id="15" name="Text 12"/>
          <p:cNvSpPr txBox="1"/>
          <p:nvPr/>
        </p:nvSpPr>
        <p:spPr>
          <a:xfrm>
            <a:off x="761981" y="2158946"/>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10:45</a:t>
            </a:r>
            <a:endParaRPr lang="en-US" sz="800" dirty="0"/>
          </a:p>
        </p:txBody>
      </p:sp>
      <p:sp>
        <p:nvSpPr>
          <p:cNvPr id="16" name="Text 13"/>
          <p:cNvSpPr txBox="1"/>
          <p:nvPr/>
        </p:nvSpPr>
        <p:spPr>
          <a:xfrm>
            <a:off x="1168371" y="2158946"/>
            <a:ext cx="2565336" cy="380990"/>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Industry insights from the global DDX series
</a:t>
            </a:r>
            <a:pPr indent="0" marL="0">
              <a:lnSpc>
                <a:spcPct val="110000"/>
              </a:lnSpc>
              <a:buNone/>
            </a:pPr>
            <a:r>
              <a:rPr lang="en-US" sz="750" dirty="0">
                <a:solidFill>
                  <a:srgbClr val="9A9A9A"/>
                </a:solidFill>
                <a:latin typeface="Arial" pitchFamily="34" charset="0"/>
                <a:ea typeface="Arial" pitchFamily="34" charset="-122"/>
                <a:cs typeface="Arial" pitchFamily="34" charset="-120"/>
              </a:rPr>
              <a:t>Sebastian Gier</a:t>
            </a:r>
            <a:endParaRPr lang="en-US" sz="850" dirty="0"/>
          </a:p>
        </p:txBody>
      </p:sp>
      <p:sp>
        <p:nvSpPr>
          <p:cNvPr id="17" name="Shape 14"/>
          <p:cNvSpPr/>
          <p:nvPr/>
        </p:nvSpPr>
        <p:spPr>
          <a:xfrm>
            <a:off x="761981" y="2552636"/>
            <a:ext cx="2971726" cy="0"/>
          </a:xfrm>
          <a:prstGeom prst="line">
            <a:avLst/>
          </a:prstGeom>
          <a:noFill/>
          <a:ln w="6350">
            <a:solidFill>
              <a:srgbClr val="1A1A1A"/>
            </a:solidFill>
            <a:prstDash val="solid"/>
          </a:ln>
        </p:spPr>
      </p:sp>
      <p:sp>
        <p:nvSpPr>
          <p:cNvPr id="18" name="Text 15"/>
          <p:cNvSpPr txBox="1"/>
          <p:nvPr/>
        </p:nvSpPr>
        <p:spPr>
          <a:xfrm>
            <a:off x="761981" y="2578036"/>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11:30</a:t>
            </a:r>
            <a:endParaRPr lang="en-US" sz="800" dirty="0"/>
          </a:p>
        </p:txBody>
      </p:sp>
      <p:sp>
        <p:nvSpPr>
          <p:cNvPr id="19" name="Text 16"/>
          <p:cNvSpPr txBox="1"/>
          <p:nvPr/>
        </p:nvSpPr>
        <p:spPr>
          <a:xfrm>
            <a:off x="1168371" y="2578036"/>
            <a:ext cx="2565336" cy="380990"/>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F*** Productivity: Make Space for Creative Joy
</a:t>
            </a:r>
            <a:pPr indent="0" marL="0">
              <a:lnSpc>
                <a:spcPct val="110000"/>
              </a:lnSpc>
              <a:buNone/>
            </a:pPr>
            <a:r>
              <a:rPr lang="en-US" sz="750" dirty="0">
                <a:solidFill>
                  <a:srgbClr val="9A9A9A"/>
                </a:solidFill>
                <a:latin typeface="Arial" pitchFamily="34" charset="0"/>
                <a:ea typeface="Arial" pitchFamily="34" charset="-122"/>
                <a:cs typeface="Arial" pitchFamily="34" charset="-120"/>
              </a:rPr>
              <a:t>Stephanie Mencarelli, Adobe</a:t>
            </a:r>
            <a:endParaRPr lang="en-US" sz="850" dirty="0"/>
          </a:p>
        </p:txBody>
      </p:sp>
      <p:sp>
        <p:nvSpPr>
          <p:cNvPr id="20" name="Shape 17"/>
          <p:cNvSpPr/>
          <p:nvPr/>
        </p:nvSpPr>
        <p:spPr>
          <a:xfrm>
            <a:off x="761981" y="2971726"/>
            <a:ext cx="2971726" cy="0"/>
          </a:xfrm>
          <a:prstGeom prst="line">
            <a:avLst/>
          </a:prstGeom>
          <a:noFill/>
          <a:ln w="6350">
            <a:solidFill>
              <a:srgbClr val="1A1A1A"/>
            </a:solidFill>
            <a:prstDash val="solid"/>
          </a:ln>
        </p:spPr>
      </p:sp>
      <p:sp>
        <p:nvSpPr>
          <p:cNvPr id="21" name="Text 18"/>
          <p:cNvSpPr txBox="1"/>
          <p:nvPr/>
        </p:nvSpPr>
        <p:spPr>
          <a:xfrm>
            <a:off x="761981" y="2997125"/>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12:15</a:t>
            </a:r>
            <a:endParaRPr lang="en-US" sz="800" dirty="0"/>
          </a:p>
        </p:txBody>
      </p:sp>
      <p:sp>
        <p:nvSpPr>
          <p:cNvPr id="22" name="Text 19"/>
          <p:cNvSpPr txBox="1"/>
          <p:nvPr/>
        </p:nvSpPr>
        <p:spPr>
          <a:xfrm>
            <a:off x="1168371" y="2997125"/>
            <a:ext cx="2565336"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Drive, Play, Eat: designers shaping our culture
</a:t>
            </a:r>
            <a:pPr indent="0" marL="0">
              <a:lnSpc>
                <a:spcPct val="110000"/>
              </a:lnSpc>
              <a:buNone/>
            </a:pPr>
            <a:r>
              <a:rPr lang="en-US" sz="750" dirty="0">
                <a:solidFill>
                  <a:srgbClr val="9A9A9A"/>
                </a:solidFill>
                <a:latin typeface="Arial" pitchFamily="34" charset="0"/>
                <a:ea typeface="Arial" pitchFamily="34" charset="-122"/>
                <a:cs typeface="Arial" pitchFamily="34" charset="-120"/>
              </a:rPr>
              <a:t>Panel · Scott Robinson, Elizabeth Yeongmin, Diana Tobey, Kara Fitzpatrick</a:t>
            </a:r>
            <a:endParaRPr lang="en-US" sz="850" dirty="0"/>
          </a:p>
        </p:txBody>
      </p:sp>
      <p:sp>
        <p:nvSpPr>
          <p:cNvPr id="23" name="Shape 20"/>
          <p:cNvSpPr/>
          <p:nvPr/>
        </p:nvSpPr>
        <p:spPr>
          <a:xfrm>
            <a:off x="761981" y="3505112"/>
            <a:ext cx="2971726" cy="0"/>
          </a:xfrm>
          <a:prstGeom prst="line">
            <a:avLst/>
          </a:prstGeom>
          <a:noFill/>
          <a:ln w="6350">
            <a:solidFill>
              <a:srgbClr val="1A1A1A"/>
            </a:solidFill>
            <a:prstDash val="solid"/>
          </a:ln>
        </p:spPr>
      </p:sp>
      <p:sp>
        <p:nvSpPr>
          <p:cNvPr id="24" name="Text 21"/>
          <p:cNvSpPr txBox="1"/>
          <p:nvPr/>
        </p:nvSpPr>
        <p:spPr>
          <a:xfrm>
            <a:off x="761981" y="3530512"/>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14:00</a:t>
            </a:r>
            <a:endParaRPr lang="en-US" sz="800" dirty="0"/>
          </a:p>
        </p:txBody>
      </p:sp>
      <p:sp>
        <p:nvSpPr>
          <p:cNvPr id="25" name="Text 22"/>
          <p:cNvSpPr txBox="1"/>
          <p:nvPr/>
        </p:nvSpPr>
        <p:spPr>
          <a:xfrm>
            <a:off x="1168371" y="3530512"/>
            <a:ext cx="2565336"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Design Isn’t Dead, It’s Just Getting Harder to Be Great
</a:t>
            </a:r>
            <a:pPr indent="0" marL="0">
              <a:lnSpc>
                <a:spcPct val="110000"/>
              </a:lnSpc>
              <a:buNone/>
            </a:pPr>
            <a:r>
              <a:rPr lang="en-US" sz="750" dirty="0">
                <a:solidFill>
                  <a:srgbClr val="9A9A9A"/>
                </a:solidFill>
                <a:latin typeface="Arial" pitchFamily="34" charset="0"/>
                <a:ea typeface="Arial" pitchFamily="34" charset="-122"/>
                <a:cs typeface="Arial" pitchFamily="34" charset="-120"/>
              </a:rPr>
              <a:t>Richard Ward, Otter.ai</a:t>
            </a:r>
            <a:endParaRPr lang="en-US" sz="850" dirty="0"/>
          </a:p>
        </p:txBody>
      </p:sp>
      <p:sp>
        <p:nvSpPr>
          <p:cNvPr id="26" name="Shape 23"/>
          <p:cNvSpPr/>
          <p:nvPr/>
        </p:nvSpPr>
        <p:spPr>
          <a:xfrm>
            <a:off x="761981" y="4038499"/>
            <a:ext cx="2971726" cy="0"/>
          </a:xfrm>
          <a:prstGeom prst="line">
            <a:avLst/>
          </a:prstGeom>
          <a:noFill/>
          <a:ln w="6350">
            <a:solidFill>
              <a:srgbClr val="1A1A1A"/>
            </a:solidFill>
            <a:prstDash val="solid"/>
          </a:ln>
        </p:spPr>
      </p:sp>
      <p:sp>
        <p:nvSpPr>
          <p:cNvPr id="27" name="Text 24"/>
          <p:cNvSpPr txBox="1"/>
          <p:nvPr/>
        </p:nvSpPr>
        <p:spPr>
          <a:xfrm>
            <a:off x="761981" y="4063898"/>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14:30</a:t>
            </a:r>
            <a:endParaRPr lang="en-US" sz="800" dirty="0"/>
          </a:p>
        </p:txBody>
      </p:sp>
      <p:sp>
        <p:nvSpPr>
          <p:cNvPr id="28" name="Text 25"/>
          <p:cNvSpPr txBox="1"/>
          <p:nvPr/>
        </p:nvSpPr>
        <p:spPr>
          <a:xfrm>
            <a:off x="1168371" y="4063898"/>
            <a:ext cx="2565336"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Design Didn’t Change – AI Just Exposed What Was Missing
</a:t>
            </a:r>
            <a:pPr indent="0" marL="0">
              <a:lnSpc>
                <a:spcPct val="110000"/>
              </a:lnSpc>
              <a:buNone/>
            </a:pPr>
            <a:r>
              <a:rPr lang="en-US" sz="750" dirty="0">
                <a:solidFill>
                  <a:srgbClr val="9A9A9A"/>
                </a:solidFill>
                <a:latin typeface="Arial" pitchFamily="34" charset="0"/>
                <a:ea typeface="Arial" pitchFamily="34" charset="-122"/>
                <a:cs typeface="Arial" pitchFamily="34" charset="-120"/>
              </a:rPr>
              <a:t>Kevin Wong, Webflow</a:t>
            </a:r>
            <a:endParaRPr lang="en-US" sz="850" dirty="0"/>
          </a:p>
        </p:txBody>
      </p:sp>
      <p:sp>
        <p:nvSpPr>
          <p:cNvPr id="29" name="Shape 26"/>
          <p:cNvSpPr/>
          <p:nvPr/>
        </p:nvSpPr>
        <p:spPr>
          <a:xfrm>
            <a:off x="761981" y="4571886"/>
            <a:ext cx="2971726" cy="0"/>
          </a:xfrm>
          <a:prstGeom prst="line">
            <a:avLst/>
          </a:prstGeom>
          <a:noFill/>
          <a:ln w="6350">
            <a:solidFill>
              <a:srgbClr val="1A1A1A"/>
            </a:solidFill>
            <a:prstDash val="solid"/>
          </a:ln>
        </p:spPr>
      </p:sp>
      <p:sp>
        <p:nvSpPr>
          <p:cNvPr id="30" name="Text 27"/>
          <p:cNvSpPr txBox="1"/>
          <p:nvPr/>
        </p:nvSpPr>
        <p:spPr>
          <a:xfrm>
            <a:off x="761981" y="4597285"/>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15:30</a:t>
            </a:r>
            <a:endParaRPr lang="en-US" sz="800" dirty="0"/>
          </a:p>
        </p:txBody>
      </p:sp>
      <p:sp>
        <p:nvSpPr>
          <p:cNvPr id="31" name="Text 28"/>
          <p:cNvSpPr txBox="1"/>
          <p:nvPr/>
        </p:nvSpPr>
        <p:spPr>
          <a:xfrm>
            <a:off x="1168371" y="4597285"/>
            <a:ext cx="2565336" cy="380990"/>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Closing the Design-to-Dev Gap
</a:t>
            </a:r>
            <a:pPr indent="0" marL="0">
              <a:lnSpc>
                <a:spcPct val="110000"/>
              </a:lnSpc>
              <a:buNone/>
            </a:pPr>
            <a:r>
              <a:rPr lang="en-US" sz="750" dirty="0">
                <a:solidFill>
                  <a:srgbClr val="9A9A9A"/>
                </a:solidFill>
                <a:latin typeface="Arial" pitchFamily="34" charset="0"/>
                <a:ea typeface="Arial" pitchFamily="34" charset="-122"/>
                <a:cs typeface="Arial" pitchFamily="34" charset="-120"/>
              </a:rPr>
              <a:t>Scott Robinson, Alexander Danilowicz</a:t>
            </a:r>
            <a:endParaRPr lang="en-US" sz="850" dirty="0"/>
          </a:p>
        </p:txBody>
      </p:sp>
      <p:sp>
        <p:nvSpPr>
          <p:cNvPr id="32" name="Shape 29"/>
          <p:cNvSpPr/>
          <p:nvPr/>
        </p:nvSpPr>
        <p:spPr>
          <a:xfrm>
            <a:off x="761981" y="4990975"/>
            <a:ext cx="2971726" cy="0"/>
          </a:xfrm>
          <a:prstGeom prst="line">
            <a:avLst/>
          </a:prstGeom>
          <a:noFill/>
          <a:ln w="6350">
            <a:solidFill>
              <a:srgbClr val="1A1A1A"/>
            </a:solidFill>
            <a:prstDash val="solid"/>
          </a:ln>
        </p:spPr>
      </p:sp>
      <p:sp>
        <p:nvSpPr>
          <p:cNvPr id="33" name="Text 30"/>
          <p:cNvSpPr txBox="1"/>
          <p:nvPr/>
        </p:nvSpPr>
        <p:spPr>
          <a:xfrm>
            <a:off x="761981" y="5016375"/>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16:00</a:t>
            </a:r>
            <a:endParaRPr lang="en-US" sz="800" dirty="0"/>
          </a:p>
        </p:txBody>
      </p:sp>
      <p:sp>
        <p:nvSpPr>
          <p:cNvPr id="34" name="Text 31"/>
          <p:cNvSpPr txBox="1"/>
          <p:nvPr/>
        </p:nvSpPr>
        <p:spPr>
          <a:xfrm>
            <a:off x="1168371" y="5016375"/>
            <a:ext cx="2565336" cy="380990"/>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The Rise of the Experience Economy
</a:t>
            </a:r>
            <a:pPr indent="0" marL="0">
              <a:lnSpc>
                <a:spcPct val="110000"/>
              </a:lnSpc>
              <a:buNone/>
            </a:pPr>
            <a:r>
              <a:rPr lang="en-US" sz="750" dirty="0">
                <a:solidFill>
                  <a:srgbClr val="9A9A9A"/>
                </a:solidFill>
                <a:latin typeface="Arial" pitchFamily="34" charset="0"/>
                <a:ea typeface="Arial" pitchFamily="34" charset="-122"/>
                <a:cs typeface="Arial" pitchFamily="34" charset="-120"/>
              </a:rPr>
              <a:t>Panel · Ann Kostopanagiotou, Twisha Shah-Brandenburg, Diana Wolosin, Dave Rowley</a:t>
            </a:r>
            <a:endParaRPr lang="en-US" sz="850" dirty="0"/>
          </a:p>
        </p:txBody>
      </p:sp>
      <p:sp>
        <p:nvSpPr>
          <p:cNvPr id="35" name="Shape 32"/>
          <p:cNvSpPr/>
          <p:nvPr/>
        </p:nvSpPr>
        <p:spPr>
          <a:xfrm>
            <a:off x="761981" y="5410065"/>
            <a:ext cx="2971726" cy="0"/>
          </a:xfrm>
          <a:prstGeom prst="line">
            <a:avLst/>
          </a:prstGeom>
          <a:noFill/>
          <a:ln w="6350">
            <a:solidFill>
              <a:srgbClr val="1A1A1A"/>
            </a:solidFill>
            <a:prstDash val="solid"/>
          </a:ln>
        </p:spPr>
      </p:sp>
      <p:sp>
        <p:nvSpPr>
          <p:cNvPr id="36" name="Text 33"/>
          <p:cNvSpPr txBox="1"/>
          <p:nvPr/>
        </p:nvSpPr>
        <p:spPr>
          <a:xfrm>
            <a:off x="761981" y="5435464"/>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17:00</a:t>
            </a:r>
            <a:endParaRPr lang="en-US" sz="800" dirty="0"/>
          </a:p>
        </p:txBody>
      </p:sp>
      <p:sp>
        <p:nvSpPr>
          <p:cNvPr id="37" name="Text 34"/>
          <p:cNvSpPr txBox="1"/>
          <p:nvPr/>
        </p:nvSpPr>
        <p:spPr>
          <a:xfrm>
            <a:off x="1168371" y="5435464"/>
            <a:ext cx="2565336"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Expectations and realities of being an enterprise design leader today
</a:t>
            </a:r>
            <a:pPr indent="0" marL="0">
              <a:lnSpc>
                <a:spcPct val="110000"/>
              </a:lnSpc>
              <a:buNone/>
            </a:pPr>
            <a:r>
              <a:rPr lang="en-US" sz="750" dirty="0">
                <a:solidFill>
                  <a:srgbClr val="9A9A9A"/>
                </a:solidFill>
                <a:latin typeface="Arial" pitchFamily="34" charset="0"/>
                <a:ea typeface="Arial" pitchFamily="34" charset="-122"/>
                <a:cs typeface="Arial" pitchFamily="34" charset="-120"/>
              </a:rPr>
              <a:t>Panel · Lauren Hughes, Stephanie Mencarelli, Kevin Wong</a:t>
            </a:r>
            <a:endParaRPr lang="en-US" sz="850" dirty="0"/>
          </a:p>
        </p:txBody>
      </p:sp>
      <p:sp>
        <p:nvSpPr>
          <p:cNvPr id="38" name="Shape 35"/>
          <p:cNvSpPr/>
          <p:nvPr/>
        </p:nvSpPr>
        <p:spPr>
          <a:xfrm>
            <a:off x="761981" y="5943451"/>
            <a:ext cx="2971726" cy="0"/>
          </a:xfrm>
          <a:prstGeom prst="line">
            <a:avLst/>
          </a:prstGeom>
          <a:noFill/>
          <a:ln w="6350">
            <a:solidFill>
              <a:srgbClr val="1A1A1A"/>
            </a:solidFill>
            <a:prstDash val="solid"/>
          </a:ln>
        </p:spPr>
      </p:sp>
      <p:sp>
        <p:nvSpPr>
          <p:cNvPr id="39" name="Text 36"/>
          <p:cNvSpPr txBox="1"/>
          <p:nvPr/>
        </p:nvSpPr>
        <p:spPr>
          <a:xfrm>
            <a:off x="4013100" y="990575"/>
            <a:ext cx="2285943" cy="190495"/>
          </a:xfrm>
          <a:prstGeom prst="rect">
            <a:avLst/>
          </a:prstGeom>
          <a:noFill/>
          <a:ln/>
        </p:spPr>
        <p:txBody>
          <a:bodyPr wrap="square" lIns="0" tIns="0" rIns="0" bIns="0" rtlCol="0" anchor="b"/>
          <a:lstStyle/>
          <a:p>
            <a:pPr indent="0" marL="0">
              <a:buNone/>
            </a:pPr>
            <a:r>
              <a:rPr lang="en-US" sz="800" b="1" spc="300" kern="0" dirty="0">
                <a:solidFill>
                  <a:srgbClr val="FFF204"/>
                </a:solidFill>
                <a:latin typeface="Arial" pitchFamily="34" charset="0"/>
                <a:ea typeface="Arial" pitchFamily="34" charset="-122"/>
                <a:cs typeface="Arial" pitchFamily="34" charset="-120"/>
              </a:rPr>
              <a:t>FORUM SPACE</a:t>
            </a:r>
            <a:endParaRPr lang="en-US" sz="800" dirty="0"/>
          </a:p>
        </p:txBody>
      </p:sp>
      <p:sp>
        <p:nvSpPr>
          <p:cNvPr id="40" name="Shape 37"/>
          <p:cNvSpPr/>
          <p:nvPr/>
        </p:nvSpPr>
        <p:spPr>
          <a:xfrm>
            <a:off x="4013100" y="1244569"/>
            <a:ext cx="2285943" cy="0"/>
          </a:xfrm>
          <a:prstGeom prst="line">
            <a:avLst/>
          </a:prstGeom>
          <a:noFill/>
          <a:ln w="9525">
            <a:solidFill>
              <a:srgbClr val="242424"/>
            </a:solidFill>
            <a:prstDash val="solid"/>
          </a:ln>
        </p:spPr>
      </p:sp>
      <p:sp>
        <p:nvSpPr>
          <p:cNvPr id="41" name="Text 38"/>
          <p:cNvSpPr txBox="1"/>
          <p:nvPr/>
        </p:nvSpPr>
        <p:spPr>
          <a:xfrm>
            <a:off x="4013100" y="1320767"/>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11:30</a:t>
            </a:r>
            <a:endParaRPr lang="en-US" sz="800" dirty="0"/>
          </a:p>
        </p:txBody>
      </p:sp>
      <p:sp>
        <p:nvSpPr>
          <p:cNvPr id="42" name="Text 39"/>
          <p:cNvSpPr txBox="1"/>
          <p:nvPr/>
        </p:nvSpPr>
        <p:spPr>
          <a:xfrm>
            <a:off x="4419490" y="1320767"/>
            <a:ext cx="187955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The User You Designed For Doesn’t Exist
</a:t>
            </a:r>
            <a:pPr indent="0" marL="0">
              <a:lnSpc>
                <a:spcPct val="110000"/>
              </a:lnSpc>
              <a:buNone/>
            </a:pPr>
            <a:r>
              <a:rPr lang="en-US" sz="750" dirty="0">
                <a:solidFill>
                  <a:srgbClr val="9A9A9A"/>
                </a:solidFill>
                <a:latin typeface="Arial" pitchFamily="34" charset="0"/>
                <a:ea typeface="Arial" pitchFamily="34" charset="-122"/>
                <a:cs typeface="Arial" pitchFamily="34" charset="-120"/>
              </a:rPr>
              <a:t>Rowan Salama, Careem (Uber)</a:t>
            </a:r>
            <a:endParaRPr lang="en-US" sz="850" dirty="0"/>
          </a:p>
        </p:txBody>
      </p:sp>
      <p:sp>
        <p:nvSpPr>
          <p:cNvPr id="43" name="Shape 40"/>
          <p:cNvSpPr/>
          <p:nvPr/>
        </p:nvSpPr>
        <p:spPr>
          <a:xfrm>
            <a:off x="4013100" y="1828754"/>
            <a:ext cx="2285943" cy="0"/>
          </a:xfrm>
          <a:prstGeom prst="line">
            <a:avLst/>
          </a:prstGeom>
          <a:noFill/>
          <a:ln w="6350">
            <a:solidFill>
              <a:srgbClr val="1A1A1A"/>
            </a:solidFill>
            <a:prstDash val="solid"/>
          </a:ln>
        </p:spPr>
      </p:sp>
      <p:sp>
        <p:nvSpPr>
          <p:cNvPr id="44" name="Text 41"/>
          <p:cNvSpPr txBox="1"/>
          <p:nvPr/>
        </p:nvSpPr>
        <p:spPr>
          <a:xfrm>
            <a:off x="4013100" y="1854154"/>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12:15</a:t>
            </a:r>
            <a:endParaRPr lang="en-US" sz="800" dirty="0"/>
          </a:p>
        </p:txBody>
      </p:sp>
      <p:sp>
        <p:nvSpPr>
          <p:cNvPr id="45" name="Text 42"/>
          <p:cNvSpPr txBox="1"/>
          <p:nvPr/>
        </p:nvSpPr>
        <p:spPr>
          <a:xfrm>
            <a:off x="4419490" y="1854154"/>
            <a:ext cx="187955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Always-On Customer Research for the AI Era
</a:t>
            </a:r>
            <a:pPr indent="0" marL="0">
              <a:lnSpc>
                <a:spcPct val="110000"/>
              </a:lnSpc>
              <a:buNone/>
            </a:pPr>
            <a:r>
              <a:rPr lang="en-US" sz="750" dirty="0">
                <a:solidFill>
                  <a:srgbClr val="9A9A9A"/>
                </a:solidFill>
                <a:latin typeface="Arial" pitchFamily="34" charset="0"/>
                <a:ea typeface="Arial" pitchFamily="34" charset="-122"/>
                <a:cs typeface="Arial" pitchFamily="34" charset="-120"/>
              </a:rPr>
              <a:t>Prayag Narula, Marvin</a:t>
            </a:r>
            <a:endParaRPr lang="en-US" sz="850" dirty="0"/>
          </a:p>
        </p:txBody>
      </p:sp>
      <p:sp>
        <p:nvSpPr>
          <p:cNvPr id="46" name="Shape 43"/>
          <p:cNvSpPr/>
          <p:nvPr/>
        </p:nvSpPr>
        <p:spPr>
          <a:xfrm>
            <a:off x="4013100" y="2362141"/>
            <a:ext cx="2285943" cy="0"/>
          </a:xfrm>
          <a:prstGeom prst="line">
            <a:avLst/>
          </a:prstGeom>
          <a:noFill/>
          <a:ln w="6350">
            <a:solidFill>
              <a:srgbClr val="1A1A1A"/>
            </a:solidFill>
            <a:prstDash val="solid"/>
          </a:ln>
        </p:spPr>
      </p:sp>
      <p:sp>
        <p:nvSpPr>
          <p:cNvPr id="47" name="Text 44"/>
          <p:cNvSpPr txBox="1"/>
          <p:nvPr/>
        </p:nvSpPr>
        <p:spPr>
          <a:xfrm>
            <a:off x="4013100" y="2387540"/>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14:00</a:t>
            </a:r>
            <a:endParaRPr lang="en-US" sz="800" dirty="0"/>
          </a:p>
        </p:txBody>
      </p:sp>
      <p:sp>
        <p:nvSpPr>
          <p:cNvPr id="48" name="Text 45"/>
          <p:cNvSpPr txBox="1"/>
          <p:nvPr/>
        </p:nvSpPr>
        <p:spPr>
          <a:xfrm>
            <a:off x="4419490" y="2387540"/>
            <a:ext cx="187955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From AI Experimentation to Agentic Transformation
</a:t>
            </a:r>
            <a:pPr indent="0" marL="0">
              <a:lnSpc>
                <a:spcPct val="110000"/>
              </a:lnSpc>
              <a:buNone/>
            </a:pPr>
            <a:r>
              <a:rPr lang="en-US" sz="750" dirty="0">
                <a:solidFill>
                  <a:srgbClr val="9A9A9A"/>
                </a:solidFill>
                <a:latin typeface="Arial" pitchFamily="34" charset="0"/>
                <a:ea typeface="Arial" pitchFamily="34" charset="-122"/>
                <a:cs typeface="Arial" pitchFamily="34" charset="-120"/>
              </a:rPr>
              <a:t>Brandon Burlington, Google</a:t>
            </a:r>
            <a:endParaRPr lang="en-US" sz="850" dirty="0"/>
          </a:p>
        </p:txBody>
      </p:sp>
      <p:sp>
        <p:nvSpPr>
          <p:cNvPr id="49" name="Shape 46"/>
          <p:cNvSpPr/>
          <p:nvPr/>
        </p:nvSpPr>
        <p:spPr>
          <a:xfrm>
            <a:off x="4013100" y="2895528"/>
            <a:ext cx="2285943" cy="0"/>
          </a:xfrm>
          <a:prstGeom prst="line">
            <a:avLst/>
          </a:prstGeom>
          <a:noFill/>
          <a:ln w="6350">
            <a:solidFill>
              <a:srgbClr val="1A1A1A"/>
            </a:solidFill>
            <a:prstDash val="solid"/>
          </a:ln>
        </p:spPr>
      </p:sp>
      <p:sp>
        <p:nvSpPr>
          <p:cNvPr id="50" name="Text 47"/>
          <p:cNvSpPr txBox="1"/>
          <p:nvPr/>
        </p:nvSpPr>
        <p:spPr>
          <a:xfrm>
            <a:off x="4013100" y="2920927"/>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14:30</a:t>
            </a:r>
            <a:endParaRPr lang="en-US" sz="800" dirty="0"/>
          </a:p>
        </p:txBody>
      </p:sp>
      <p:sp>
        <p:nvSpPr>
          <p:cNvPr id="51" name="Text 48"/>
          <p:cNvSpPr txBox="1"/>
          <p:nvPr/>
        </p:nvSpPr>
        <p:spPr>
          <a:xfrm>
            <a:off x="4419490" y="2920927"/>
            <a:ext cx="187955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Ship an AI feature that actually works for your users
</a:t>
            </a:r>
            <a:pPr indent="0" marL="0">
              <a:lnSpc>
                <a:spcPct val="110000"/>
              </a:lnSpc>
              <a:buNone/>
            </a:pPr>
            <a:r>
              <a:rPr lang="en-US" sz="750" dirty="0">
                <a:solidFill>
                  <a:srgbClr val="9A9A9A"/>
                </a:solidFill>
                <a:latin typeface="Arial" pitchFamily="34" charset="0"/>
                <a:ea typeface="Arial" pitchFamily="34" charset="-122"/>
                <a:cs typeface="Arial" pitchFamily="34" charset="-120"/>
              </a:rPr>
              <a:t>Harriet Swan (GAIN), Katie Niles (TaylorMade)</a:t>
            </a:r>
            <a:endParaRPr lang="en-US" sz="850" dirty="0"/>
          </a:p>
        </p:txBody>
      </p:sp>
      <p:sp>
        <p:nvSpPr>
          <p:cNvPr id="52" name="Shape 49"/>
          <p:cNvSpPr/>
          <p:nvPr/>
        </p:nvSpPr>
        <p:spPr>
          <a:xfrm>
            <a:off x="4013100" y="3428914"/>
            <a:ext cx="2285943" cy="0"/>
          </a:xfrm>
          <a:prstGeom prst="line">
            <a:avLst/>
          </a:prstGeom>
          <a:noFill/>
          <a:ln w="6350">
            <a:solidFill>
              <a:srgbClr val="1A1A1A"/>
            </a:solidFill>
            <a:prstDash val="solid"/>
          </a:ln>
        </p:spPr>
      </p:sp>
      <p:sp>
        <p:nvSpPr>
          <p:cNvPr id="53" name="Text 50"/>
          <p:cNvSpPr txBox="1"/>
          <p:nvPr/>
        </p:nvSpPr>
        <p:spPr>
          <a:xfrm>
            <a:off x="4013100" y="3454314"/>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15:30</a:t>
            </a:r>
            <a:endParaRPr lang="en-US" sz="800" dirty="0"/>
          </a:p>
        </p:txBody>
      </p:sp>
      <p:sp>
        <p:nvSpPr>
          <p:cNvPr id="54" name="Text 51"/>
          <p:cNvSpPr txBox="1"/>
          <p:nvPr/>
        </p:nvSpPr>
        <p:spPr>
          <a:xfrm>
            <a:off x="4419490" y="3454314"/>
            <a:ext cx="187955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Stop Designing Screens. Start Designing Decisions.
</a:t>
            </a:r>
            <a:pPr indent="0" marL="0">
              <a:lnSpc>
                <a:spcPct val="110000"/>
              </a:lnSpc>
              <a:buNone/>
            </a:pPr>
            <a:r>
              <a:rPr lang="en-US" sz="750" dirty="0">
                <a:solidFill>
                  <a:srgbClr val="9A9A9A"/>
                </a:solidFill>
                <a:latin typeface="Arial" pitchFamily="34" charset="0"/>
                <a:ea typeface="Arial" pitchFamily="34" charset="-122"/>
                <a:cs typeface="Arial" pitchFamily="34" charset="-120"/>
              </a:rPr>
              <a:t>Chris Gielow · workshop</a:t>
            </a:r>
            <a:endParaRPr lang="en-US" sz="850" dirty="0"/>
          </a:p>
        </p:txBody>
      </p:sp>
      <p:sp>
        <p:nvSpPr>
          <p:cNvPr id="55" name="Shape 52"/>
          <p:cNvSpPr/>
          <p:nvPr/>
        </p:nvSpPr>
        <p:spPr>
          <a:xfrm>
            <a:off x="4013100" y="3962301"/>
            <a:ext cx="2285943" cy="0"/>
          </a:xfrm>
          <a:prstGeom prst="line">
            <a:avLst/>
          </a:prstGeom>
          <a:noFill/>
          <a:ln w="6350">
            <a:solidFill>
              <a:srgbClr val="1A1A1A"/>
            </a:solidFill>
            <a:prstDash val="solid"/>
          </a:ln>
        </p:spPr>
      </p:sp>
      <p:sp>
        <p:nvSpPr>
          <p:cNvPr id="56" name="Text 53"/>
          <p:cNvSpPr txBox="1"/>
          <p:nvPr/>
        </p:nvSpPr>
        <p:spPr>
          <a:xfrm>
            <a:off x="6578436" y="990575"/>
            <a:ext cx="2285943" cy="190495"/>
          </a:xfrm>
          <a:prstGeom prst="rect">
            <a:avLst/>
          </a:prstGeom>
          <a:noFill/>
          <a:ln/>
        </p:spPr>
        <p:txBody>
          <a:bodyPr wrap="square" lIns="0" tIns="0" rIns="0" bIns="0" rtlCol="0" anchor="b"/>
          <a:lstStyle/>
          <a:p>
            <a:pPr indent="0" marL="0">
              <a:buNone/>
            </a:pPr>
            <a:r>
              <a:rPr lang="en-US" sz="800" b="1" spc="300" kern="0" dirty="0">
                <a:solidFill>
                  <a:srgbClr val="FFF204"/>
                </a:solidFill>
                <a:latin typeface="Arial" pitchFamily="34" charset="0"/>
                <a:ea typeface="Arial" pitchFamily="34" charset="-122"/>
                <a:cs typeface="Arial" pitchFamily="34" charset="-120"/>
              </a:rPr>
              <a:t>EXECUTIVE SPACE</a:t>
            </a:r>
            <a:endParaRPr lang="en-US" sz="800" dirty="0"/>
          </a:p>
        </p:txBody>
      </p:sp>
      <p:sp>
        <p:nvSpPr>
          <p:cNvPr id="57" name="Shape 54"/>
          <p:cNvSpPr/>
          <p:nvPr/>
        </p:nvSpPr>
        <p:spPr>
          <a:xfrm>
            <a:off x="6578436" y="1244569"/>
            <a:ext cx="2285943" cy="0"/>
          </a:xfrm>
          <a:prstGeom prst="line">
            <a:avLst/>
          </a:prstGeom>
          <a:noFill/>
          <a:ln w="9525">
            <a:solidFill>
              <a:srgbClr val="242424"/>
            </a:solidFill>
            <a:prstDash val="solid"/>
          </a:ln>
        </p:spPr>
      </p:sp>
      <p:sp>
        <p:nvSpPr>
          <p:cNvPr id="58" name="Text 55"/>
          <p:cNvSpPr txBox="1"/>
          <p:nvPr/>
        </p:nvSpPr>
        <p:spPr>
          <a:xfrm>
            <a:off x="6578436" y="1320767"/>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11:30</a:t>
            </a:r>
            <a:endParaRPr lang="en-US" sz="800" dirty="0"/>
          </a:p>
        </p:txBody>
      </p:sp>
      <p:sp>
        <p:nvSpPr>
          <p:cNvPr id="59" name="Text 56"/>
          <p:cNvSpPr txBox="1"/>
          <p:nvPr/>
        </p:nvSpPr>
        <p:spPr>
          <a:xfrm>
            <a:off x="6984825" y="1320767"/>
            <a:ext cx="1879553" cy="380990"/>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Service Design / Service Jam
</a:t>
            </a:r>
            <a:pPr indent="0" marL="0">
              <a:lnSpc>
                <a:spcPct val="110000"/>
              </a:lnSpc>
              <a:buNone/>
            </a:pPr>
            <a:r>
              <a:rPr lang="en-US" sz="750" dirty="0">
                <a:solidFill>
                  <a:srgbClr val="9A9A9A"/>
                </a:solidFill>
                <a:latin typeface="Arial" pitchFamily="34" charset="0"/>
                <a:ea typeface="Arial" pitchFamily="34" charset="-122"/>
                <a:cs typeface="Arial" pitchFamily="34" charset="-120"/>
              </a:rPr>
              <a:t>Brian LeDuc, Grace Rieger LeDuc · workshop</a:t>
            </a:r>
            <a:endParaRPr lang="en-US" sz="850" dirty="0"/>
          </a:p>
        </p:txBody>
      </p:sp>
      <p:sp>
        <p:nvSpPr>
          <p:cNvPr id="60" name="Shape 57"/>
          <p:cNvSpPr/>
          <p:nvPr/>
        </p:nvSpPr>
        <p:spPr>
          <a:xfrm>
            <a:off x="6578436" y="1714457"/>
            <a:ext cx="2285943" cy="0"/>
          </a:xfrm>
          <a:prstGeom prst="line">
            <a:avLst/>
          </a:prstGeom>
          <a:noFill/>
          <a:ln w="6350">
            <a:solidFill>
              <a:srgbClr val="1A1A1A"/>
            </a:solidFill>
            <a:prstDash val="solid"/>
          </a:ln>
        </p:spPr>
      </p:sp>
      <p:sp>
        <p:nvSpPr>
          <p:cNvPr id="61" name="Text 58"/>
          <p:cNvSpPr txBox="1"/>
          <p:nvPr/>
        </p:nvSpPr>
        <p:spPr>
          <a:xfrm>
            <a:off x="6578436" y="1739857"/>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15:30</a:t>
            </a:r>
            <a:endParaRPr lang="en-US" sz="800" dirty="0"/>
          </a:p>
        </p:txBody>
      </p:sp>
      <p:sp>
        <p:nvSpPr>
          <p:cNvPr id="62" name="Text 59"/>
          <p:cNvSpPr txBox="1"/>
          <p:nvPr/>
        </p:nvSpPr>
        <p:spPr>
          <a:xfrm>
            <a:off x="6984825" y="1739857"/>
            <a:ext cx="187955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Playful Career Experiments for Thriving in the AI Era
</a:t>
            </a:r>
            <a:pPr indent="0" marL="0">
              <a:lnSpc>
                <a:spcPct val="110000"/>
              </a:lnSpc>
              <a:buNone/>
            </a:pPr>
            <a:r>
              <a:rPr lang="en-US" sz="750" dirty="0">
                <a:solidFill>
                  <a:srgbClr val="9A9A9A"/>
                </a:solidFill>
                <a:latin typeface="Arial" pitchFamily="34" charset="0"/>
                <a:ea typeface="Arial" pitchFamily="34" charset="-122"/>
                <a:cs typeface="Arial" pitchFamily="34" charset="-120"/>
              </a:rPr>
              <a:t>Diana Tobey, IDEO · workshop</a:t>
            </a:r>
            <a:endParaRPr lang="en-US" sz="850" dirty="0"/>
          </a:p>
        </p:txBody>
      </p:sp>
      <p:sp>
        <p:nvSpPr>
          <p:cNvPr id="63" name="Shape 60"/>
          <p:cNvSpPr/>
          <p:nvPr/>
        </p:nvSpPr>
        <p:spPr>
          <a:xfrm>
            <a:off x="6578436" y="2247844"/>
            <a:ext cx="2285943" cy="0"/>
          </a:xfrm>
          <a:prstGeom prst="line">
            <a:avLst/>
          </a:prstGeom>
          <a:noFill/>
          <a:ln w="6350">
            <a:solidFill>
              <a:srgbClr val="1A1A1A"/>
            </a:solidFill>
            <a:prstDash val="solid"/>
          </a:ln>
        </p:spPr>
      </p:sp>
      <p:sp>
        <p:nvSpPr>
          <p:cNvPr id="64" name="Text 61"/>
          <p:cNvSpPr txBox="1"/>
          <p:nvPr/>
        </p:nvSpPr>
        <p:spPr>
          <a:xfrm>
            <a:off x="6578436" y="2273243"/>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17:00</a:t>
            </a:r>
            <a:endParaRPr lang="en-US" sz="800" dirty="0"/>
          </a:p>
        </p:txBody>
      </p:sp>
      <p:sp>
        <p:nvSpPr>
          <p:cNvPr id="65" name="Text 62"/>
          <p:cNvSpPr txBox="1"/>
          <p:nvPr/>
        </p:nvSpPr>
        <p:spPr>
          <a:xfrm>
            <a:off x="6984825" y="2273243"/>
            <a:ext cx="187955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From Optimizing Interfaces to Designing Organizations
</a:t>
            </a:r>
            <a:pPr indent="0" marL="0">
              <a:lnSpc>
                <a:spcPct val="110000"/>
              </a:lnSpc>
              <a:buNone/>
            </a:pPr>
            <a:r>
              <a:rPr lang="en-US" sz="750" dirty="0">
                <a:solidFill>
                  <a:srgbClr val="9A9A9A"/>
                </a:solidFill>
                <a:latin typeface="Arial" pitchFamily="34" charset="0"/>
                <a:ea typeface="Arial" pitchFamily="34" charset="-122"/>
                <a:cs typeface="Arial" pitchFamily="34" charset="-120"/>
              </a:rPr>
              <a:t>Twisha Shah-Brandenburg, Target · workshop</a:t>
            </a:r>
            <a:endParaRPr lang="en-US" sz="850" dirty="0"/>
          </a:p>
        </p:txBody>
      </p:sp>
      <p:sp>
        <p:nvSpPr>
          <p:cNvPr id="66" name="Shape 63"/>
          <p:cNvSpPr/>
          <p:nvPr/>
        </p:nvSpPr>
        <p:spPr>
          <a:xfrm>
            <a:off x="6578436" y="2781230"/>
            <a:ext cx="2285943" cy="0"/>
          </a:xfrm>
          <a:prstGeom prst="line">
            <a:avLst/>
          </a:prstGeom>
          <a:noFill/>
          <a:ln w="6350">
            <a:solidFill>
              <a:srgbClr val="1A1A1A"/>
            </a:solidFill>
            <a:prstDash val="solid"/>
          </a:ln>
        </p:spPr>
      </p:sp>
      <p:sp>
        <p:nvSpPr>
          <p:cNvPr id="67" name="Text 64"/>
          <p:cNvSpPr txBox="1"/>
          <p:nvPr/>
        </p:nvSpPr>
        <p:spPr>
          <a:xfrm>
            <a:off x="6578436" y="2806630"/>
            <a:ext cx="406390" cy="152396"/>
          </a:xfrm>
          <a:prstGeom prst="rect">
            <a:avLst/>
          </a:prstGeom>
          <a:noFill/>
          <a:ln/>
        </p:spPr>
        <p:txBody>
          <a:bodyPr wrap="square" lIns="0" tIns="0" rIns="0" bIns="0" rtlCol="0" anchor="ctr"/>
          <a:lstStyle/>
          <a:p>
            <a:pPr indent="0" marL="0">
              <a:buNone/>
            </a:pPr>
            <a:r>
              <a:rPr lang="en-US" sz="800" dirty="0">
                <a:solidFill>
                  <a:srgbClr val="9A9A9A"/>
                </a:solidFill>
                <a:latin typeface="Arial" pitchFamily="34" charset="0"/>
                <a:ea typeface="Arial" pitchFamily="34" charset="-122"/>
                <a:cs typeface="Arial" pitchFamily="34" charset="-120"/>
              </a:rPr>
              <a:t>18:00</a:t>
            </a:r>
            <a:endParaRPr lang="en-US" sz="800" dirty="0"/>
          </a:p>
        </p:txBody>
      </p:sp>
      <p:sp>
        <p:nvSpPr>
          <p:cNvPr id="68" name="Text 65"/>
          <p:cNvSpPr txBox="1"/>
          <p:nvPr/>
        </p:nvSpPr>
        <p:spPr>
          <a:xfrm>
            <a:off x="6984825" y="2806630"/>
            <a:ext cx="1879553" cy="380990"/>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Happy Hour
</a:t>
            </a:r>
            <a:pPr indent="0" marL="0">
              <a:lnSpc>
                <a:spcPct val="110000"/>
              </a:lnSpc>
              <a:buNone/>
            </a:pPr>
            <a:r>
              <a:rPr lang="en-US" sz="750" dirty="0">
                <a:solidFill>
                  <a:srgbClr val="9A9A9A"/>
                </a:solidFill>
                <a:latin typeface="Arial" pitchFamily="34" charset="0"/>
                <a:ea typeface="Arial" pitchFamily="34" charset="-122"/>
                <a:cs typeface="Arial" pitchFamily="34" charset="-120"/>
              </a:rPr>
              <a:t>Hosted by Marvin &amp; Dscout · Lobby</a:t>
            </a:r>
            <a:endParaRPr lang="en-US" sz="850" dirty="0"/>
          </a:p>
        </p:txBody>
      </p:sp>
      <p:sp>
        <p:nvSpPr>
          <p:cNvPr id="69" name="Shape 66"/>
          <p:cNvSpPr/>
          <p:nvPr/>
        </p:nvSpPr>
        <p:spPr>
          <a:xfrm>
            <a:off x="6578436" y="3200320"/>
            <a:ext cx="2285943" cy="0"/>
          </a:xfrm>
          <a:prstGeom prst="line">
            <a:avLst/>
          </a:prstGeom>
          <a:noFill/>
          <a:ln w="6350">
            <a:solidFill>
              <a:srgbClr val="1A1A1A"/>
            </a:solidFill>
            <a:prstDash val="solid"/>
          </a:ln>
        </p:spPr>
      </p:sp>
      <p:sp>
        <p:nvSpPr>
          <p:cNvPr id="70" name="Text 67"/>
          <p:cNvSpPr txBox="1"/>
          <p:nvPr/>
        </p:nvSpPr>
        <p:spPr>
          <a:xfrm>
            <a:off x="9143771" y="990575"/>
            <a:ext cx="2285943" cy="190495"/>
          </a:xfrm>
          <a:prstGeom prst="rect">
            <a:avLst/>
          </a:prstGeom>
          <a:noFill/>
          <a:ln/>
        </p:spPr>
        <p:txBody>
          <a:bodyPr wrap="square" lIns="0" tIns="0" rIns="0" bIns="0" rtlCol="0" anchor="b"/>
          <a:lstStyle/>
          <a:p>
            <a:pPr indent="0" marL="0">
              <a:buNone/>
            </a:pPr>
            <a:r>
              <a:rPr lang="en-US" sz="800" b="1" spc="300" kern="0" dirty="0">
                <a:solidFill>
                  <a:srgbClr val="FFF204"/>
                </a:solidFill>
                <a:latin typeface="Arial" pitchFamily="34" charset="0"/>
                <a:ea typeface="Arial" pitchFamily="34" charset="-122"/>
                <a:cs typeface="Arial" pitchFamily="34" charset="-120"/>
              </a:rPr>
              <a:t>TABLE TALKS IN THE BREAKS</a:t>
            </a:r>
            <a:endParaRPr lang="en-US" sz="800" dirty="0"/>
          </a:p>
        </p:txBody>
      </p:sp>
      <p:sp>
        <p:nvSpPr>
          <p:cNvPr id="71" name="Shape 68"/>
          <p:cNvSpPr/>
          <p:nvPr/>
        </p:nvSpPr>
        <p:spPr>
          <a:xfrm>
            <a:off x="9143771" y="1244569"/>
            <a:ext cx="2285943" cy="0"/>
          </a:xfrm>
          <a:prstGeom prst="line">
            <a:avLst/>
          </a:prstGeom>
          <a:noFill/>
          <a:ln w="9525">
            <a:solidFill>
              <a:srgbClr val="242424"/>
            </a:solidFill>
            <a:prstDash val="solid"/>
          </a:ln>
        </p:spPr>
      </p:sp>
      <p:sp>
        <p:nvSpPr>
          <p:cNvPr id="72" name="Text 69"/>
          <p:cNvSpPr txBox="1"/>
          <p:nvPr/>
        </p:nvSpPr>
        <p:spPr>
          <a:xfrm>
            <a:off x="9143771" y="1320767"/>
            <a:ext cx="2285943" cy="380990"/>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Your Customer Is Not Human
</a:t>
            </a:r>
            <a:pPr indent="0" marL="0">
              <a:lnSpc>
                <a:spcPct val="110000"/>
              </a:lnSpc>
              <a:buNone/>
            </a:pPr>
            <a:r>
              <a:rPr lang="en-US" sz="750" dirty="0">
                <a:solidFill>
                  <a:srgbClr val="9A9A9A"/>
                </a:solidFill>
                <a:latin typeface="Arial" pitchFamily="34" charset="0"/>
                <a:ea typeface="Arial" pitchFamily="34" charset="-122"/>
                <a:cs typeface="Arial" pitchFamily="34" charset="-120"/>
              </a:rPr>
              <a:t>Scott Robinson, FreshForm · 11:00</a:t>
            </a:r>
            <a:endParaRPr lang="en-US" sz="850" dirty="0"/>
          </a:p>
        </p:txBody>
      </p:sp>
      <p:sp>
        <p:nvSpPr>
          <p:cNvPr id="73" name="Shape 70"/>
          <p:cNvSpPr/>
          <p:nvPr/>
        </p:nvSpPr>
        <p:spPr>
          <a:xfrm>
            <a:off x="9143771" y="1714457"/>
            <a:ext cx="2285943" cy="0"/>
          </a:xfrm>
          <a:prstGeom prst="line">
            <a:avLst/>
          </a:prstGeom>
          <a:noFill/>
          <a:ln w="6350">
            <a:solidFill>
              <a:srgbClr val="1A1A1A"/>
            </a:solidFill>
            <a:prstDash val="solid"/>
          </a:ln>
        </p:spPr>
      </p:sp>
      <p:sp>
        <p:nvSpPr>
          <p:cNvPr id="74" name="Text 71"/>
          <p:cNvSpPr txBox="1"/>
          <p:nvPr/>
        </p:nvSpPr>
        <p:spPr>
          <a:xfrm>
            <a:off x="9143771" y="1739857"/>
            <a:ext cx="2285943" cy="380990"/>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The Rise of Context Engineers
</a:t>
            </a:r>
            <a:pPr indent="0" marL="0">
              <a:lnSpc>
                <a:spcPct val="110000"/>
              </a:lnSpc>
              <a:buNone/>
            </a:pPr>
            <a:r>
              <a:rPr lang="en-US" sz="750" dirty="0">
                <a:solidFill>
                  <a:srgbClr val="9A9A9A"/>
                </a:solidFill>
                <a:latin typeface="Arial" pitchFamily="34" charset="0"/>
                <a:ea typeface="Arial" pitchFamily="34" charset="-122"/>
                <a:cs typeface="Arial" pitchFamily="34" charset="-120"/>
              </a:rPr>
              <a:t>Diana Wolosin, Netflix · 11:00</a:t>
            </a:r>
            <a:endParaRPr lang="en-US" sz="850" dirty="0"/>
          </a:p>
        </p:txBody>
      </p:sp>
      <p:sp>
        <p:nvSpPr>
          <p:cNvPr id="75" name="Shape 72"/>
          <p:cNvSpPr/>
          <p:nvPr/>
        </p:nvSpPr>
        <p:spPr>
          <a:xfrm>
            <a:off x="9143771" y="2133547"/>
            <a:ext cx="2285943" cy="0"/>
          </a:xfrm>
          <a:prstGeom prst="line">
            <a:avLst/>
          </a:prstGeom>
          <a:noFill/>
          <a:ln w="6350">
            <a:solidFill>
              <a:srgbClr val="1A1A1A"/>
            </a:solidFill>
            <a:prstDash val="solid"/>
          </a:ln>
        </p:spPr>
      </p:sp>
      <p:sp>
        <p:nvSpPr>
          <p:cNvPr id="76" name="Text 73"/>
          <p:cNvSpPr txBox="1"/>
          <p:nvPr/>
        </p:nvSpPr>
        <p:spPr>
          <a:xfrm>
            <a:off x="9143771" y="2158946"/>
            <a:ext cx="228594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AI: Enhancing Experiences or Adding Complexity?
</a:t>
            </a:r>
            <a:pPr indent="0" marL="0">
              <a:lnSpc>
                <a:spcPct val="110000"/>
              </a:lnSpc>
              <a:buNone/>
            </a:pPr>
            <a:r>
              <a:rPr lang="en-US" sz="750" dirty="0">
                <a:solidFill>
                  <a:srgbClr val="9A9A9A"/>
                </a:solidFill>
                <a:latin typeface="Arial" pitchFamily="34" charset="0"/>
                <a:ea typeface="Arial" pitchFamily="34" charset="-122"/>
                <a:cs typeface="Arial" pitchFamily="34" charset="-120"/>
              </a:rPr>
              <a:t>Brianna Koch, SDXD · 11:00</a:t>
            </a:r>
            <a:endParaRPr lang="en-US" sz="850" dirty="0"/>
          </a:p>
        </p:txBody>
      </p:sp>
      <p:sp>
        <p:nvSpPr>
          <p:cNvPr id="77" name="Shape 74"/>
          <p:cNvSpPr/>
          <p:nvPr/>
        </p:nvSpPr>
        <p:spPr>
          <a:xfrm>
            <a:off x="9143771" y="2666933"/>
            <a:ext cx="2285943" cy="0"/>
          </a:xfrm>
          <a:prstGeom prst="line">
            <a:avLst/>
          </a:prstGeom>
          <a:noFill/>
          <a:ln w="6350">
            <a:solidFill>
              <a:srgbClr val="1A1A1A"/>
            </a:solidFill>
            <a:prstDash val="solid"/>
          </a:ln>
        </p:spPr>
      </p:sp>
      <p:sp>
        <p:nvSpPr>
          <p:cNvPr id="78" name="Text 75"/>
          <p:cNvSpPr txBox="1"/>
          <p:nvPr/>
        </p:nvSpPr>
        <p:spPr>
          <a:xfrm>
            <a:off x="9143771" y="2692333"/>
            <a:ext cx="228594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Are Relationships Part of the Work?
</a:t>
            </a:r>
            <a:pPr indent="0" marL="0">
              <a:lnSpc>
                <a:spcPct val="110000"/>
              </a:lnSpc>
              <a:buNone/>
            </a:pPr>
            <a:r>
              <a:rPr lang="en-US" sz="750" dirty="0">
                <a:solidFill>
                  <a:srgbClr val="9A9A9A"/>
                </a:solidFill>
                <a:latin typeface="Arial" pitchFamily="34" charset="0"/>
                <a:ea typeface="Arial" pitchFamily="34" charset="-122"/>
                <a:cs typeface="Arial" pitchFamily="34" charset="-120"/>
              </a:rPr>
              <a:t>Alex Diener, Dexcom · 15:00</a:t>
            </a:r>
            <a:endParaRPr lang="en-US" sz="850" dirty="0"/>
          </a:p>
        </p:txBody>
      </p:sp>
      <p:sp>
        <p:nvSpPr>
          <p:cNvPr id="79" name="Shape 76"/>
          <p:cNvSpPr/>
          <p:nvPr/>
        </p:nvSpPr>
        <p:spPr>
          <a:xfrm>
            <a:off x="9143771" y="3200320"/>
            <a:ext cx="2285943" cy="0"/>
          </a:xfrm>
          <a:prstGeom prst="line">
            <a:avLst/>
          </a:prstGeom>
          <a:noFill/>
          <a:ln w="6350">
            <a:solidFill>
              <a:srgbClr val="1A1A1A"/>
            </a:solidFill>
            <a:prstDash val="solid"/>
          </a:ln>
        </p:spPr>
      </p:sp>
      <p:sp>
        <p:nvSpPr>
          <p:cNvPr id="80" name="Text 77"/>
          <p:cNvSpPr txBox="1"/>
          <p:nvPr/>
        </p:nvSpPr>
        <p:spPr>
          <a:xfrm>
            <a:off x="9143771" y="3225719"/>
            <a:ext cx="228594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AI Interviews: Hype or Here to Stay?
</a:t>
            </a:r>
            <a:pPr indent="0" marL="0">
              <a:lnSpc>
                <a:spcPct val="110000"/>
              </a:lnSpc>
              <a:buNone/>
            </a:pPr>
            <a:r>
              <a:rPr lang="en-US" sz="750" dirty="0">
                <a:solidFill>
                  <a:srgbClr val="9A9A9A"/>
                </a:solidFill>
                <a:latin typeface="Arial" pitchFamily="34" charset="0"/>
                <a:ea typeface="Arial" pitchFamily="34" charset="-122"/>
                <a:cs typeface="Arial" pitchFamily="34" charset="-120"/>
              </a:rPr>
              <a:t>Prayag Narula, Marvin · 15:00</a:t>
            </a:r>
            <a:endParaRPr lang="en-US" sz="850" dirty="0"/>
          </a:p>
        </p:txBody>
      </p:sp>
      <p:sp>
        <p:nvSpPr>
          <p:cNvPr id="81" name="Shape 78"/>
          <p:cNvSpPr/>
          <p:nvPr/>
        </p:nvSpPr>
        <p:spPr>
          <a:xfrm>
            <a:off x="9143771" y="3733707"/>
            <a:ext cx="2285943" cy="0"/>
          </a:xfrm>
          <a:prstGeom prst="line">
            <a:avLst/>
          </a:prstGeom>
          <a:noFill/>
          <a:ln w="6350">
            <a:solidFill>
              <a:srgbClr val="1A1A1A"/>
            </a:solidFill>
            <a:prstDash val="solid"/>
          </a:ln>
        </p:spPr>
      </p:sp>
      <p:sp>
        <p:nvSpPr>
          <p:cNvPr id="82" name="Text 79"/>
          <p:cNvSpPr txBox="1"/>
          <p:nvPr/>
        </p:nvSpPr>
        <p:spPr>
          <a:xfrm>
            <a:off x="9143771" y="3759106"/>
            <a:ext cx="228594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Shipping AI features that work for users and business
</a:t>
            </a:r>
            <a:pPr indent="0" marL="0">
              <a:lnSpc>
                <a:spcPct val="110000"/>
              </a:lnSpc>
              <a:buNone/>
            </a:pPr>
            <a:r>
              <a:rPr lang="en-US" sz="750" dirty="0">
                <a:solidFill>
                  <a:srgbClr val="9A9A9A"/>
                </a:solidFill>
                <a:latin typeface="Arial" pitchFamily="34" charset="0"/>
                <a:ea typeface="Arial" pitchFamily="34" charset="-122"/>
                <a:cs typeface="Arial" pitchFamily="34" charset="-120"/>
              </a:rPr>
              <a:t>Jaleesa Chagan, GAIN · 15:00</a:t>
            </a:r>
            <a:endParaRPr lang="en-US" sz="850" dirty="0"/>
          </a:p>
        </p:txBody>
      </p:sp>
      <p:sp>
        <p:nvSpPr>
          <p:cNvPr id="83" name="Shape 80"/>
          <p:cNvSpPr/>
          <p:nvPr/>
        </p:nvSpPr>
        <p:spPr>
          <a:xfrm>
            <a:off x="9143771" y="4267093"/>
            <a:ext cx="2285943" cy="0"/>
          </a:xfrm>
          <a:prstGeom prst="line">
            <a:avLst/>
          </a:prstGeom>
          <a:noFill/>
          <a:ln w="6350">
            <a:solidFill>
              <a:srgbClr val="1A1A1A"/>
            </a:solidFill>
            <a:prstDash val="solid"/>
          </a:ln>
        </p:spPr>
      </p:sp>
      <p:sp>
        <p:nvSpPr>
          <p:cNvPr id="84" name="Text 81"/>
          <p:cNvSpPr txBox="1"/>
          <p:nvPr/>
        </p:nvSpPr>
        <p:spPr>
          <a:xfrm>
            <a:off x="9143771" y="4292493"/>
            <a:ext cx="228594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Play Your Hand: an MCP Roundtable
</a:t>
            </a:r>
            <a:pPr indent="0" marL="0">
              <a:lnSpc>
                <a:spcPct val="110000"/>
              </a:lnSpc>
              <a:buNone/>
            </a:pPr>
            <a:r>
              <a:rPr lang="en-US" sz="750" dirty="0">
                <a:solidFill>
                  <a:srgbClr val="9A9A9A"/>
                </a:solidFill>
                <a:latin typeface="Arial" pitchFamily="34" charset="0"/>
                <a:ea typeface="Arial" pitchFamily="34" charset="-122"/>
                <a:cs typeface="Arial" pitchFamily="34" charset="-120"/>
              </a:rPr>
              <a:t>AJ Azzi, Askable · 16:30</a:t>
            </a:r>
            <a:endParaRPr lang="en-US" sz="850" dirty="0"/>
          </a:p>
        </p:txBody>
      </p:sp>
      <p:sp>
        <p:nvSpPr>
          <p:cNvPr id="85" name="Shape 82"/>
          <p:cNvSpPr/>
          <p:nvPr/>
        </p:nvSpPr>
        <p:spPr>
          <a:xfrm>
            <a:off x="9143771" y="4800480"/>
            <a:ext cx="2285943" cy="0"/>
          </a:xfrm>
          <a:prstGeom prst="line">
            <a:avLst/>
          </a:prstGeom>
          <a:noFill/>
          <a:ln w="6350">
            <a:solidFill>
              <a:srgbClr val="1A1A1A"/>
            </a:solidFill>
            <a:prstDash val="solid"/>
          </a:ln>
        </p:spPr>
      </p:sp>
      <p:sp>
        <p:nvSpPr>
          <p:cNvPr id="86" name="Text 83"/>
          <p:cNvSpPr txBox="1"/>
          <p:nvPr/>
        </p:nvSpPr>
        <p:spPr>
          <a:xfrm>
            <a:off x="9143771" y="4825879"/>
            <a:ext cx="228594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Human-Centered Design in the Age of AI
</a:t>
            </a:r>
            <a:pPr indent="0" marL="0">
              <a:lnSpc>
                <a:spcPct val="110000"/>
              </a:lnSpc>
              <a:buNone/>
            </a:pPr>
            <a:r>
              <a:rPr lang="en-US" sz="750" dirty="0">
                <a:solidFill>
                  <a:srgbClr val="9A9A9A"/>
                </a:solidFill>
                <a:latin typeface="Arial" pitchFamily="34" charset="0"/>
                <a:ea typeface="Arial" pitchFamily="34" charset="-122"/>
                <a:cs typeface="Arial" pitchFamily="34" charset="-120"/>
              </a:rPr>
              <a:t>Jordi Morillo, Insulet · 16:30</a:t>
            </a:r>
            <a:endParaRPr lang="en-US" sz="850" dirty="0"/>
          </a:p>
        </p:txBody>
      </p:sp>
      <p:sp>
        <p:nvSpPr>
          <p:cNvPr id="87" name="Shape 84"/>
          <p:cNvSpPr/>
          <p:nvPr/>
        </p:nvSpPr>
        <p:spPr>
          <a:xfrm>
            <a:off x="9143771" y="5333867"/>
            <a:ext cx="2285943" cy="0"/>
          </a:xfrm>
          <a:prstGeom prst="line">
            <a:avLst/>
          </a:prstGeom>
          <a:noFill/>
          <a:ln w="6350">
            <a:solidFill>
              <a:srgbClr val="1A1A1A"/>
            </a:solidFill>
            <a:prstDash val="solid"/>
          </a:ln>
        </p:spPr>
      </p:sp>
      <p:sp>
        <p:nvSpPr>
          <p:cNvPr id="88" name="Text 85"/>
          <p:cNvSpPr txBox="1"/>
          <p:nvPr/>
        </p:nvSpPr>
        <p:spPr>
          <a:xfrm>
            <a:off x="9143771" y="5359266"/>
            <a:ext cx="2285943" cy="495288"/>
          </a:xfrm>
          <a:prstGeom prst="rect">
            <a:avLst/>
          </a:prstGeom>
          <a:noFill/>
          <a:ln/>
        </p:spPr>
        <p:txBody>
          <a:bodyPr wrap="square" lIns="0" tIns="0" rIns="0" bIns="0" rtlCol="0" anchor="t"/>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AI Moves Fast. Research Still Has to Lead.
</a:t>
            </a:r>
            <a:pPr indent="0" marL="0">
              <a:lnSpc>
                <a:spcPct val="110000"/>
              </a:lnSpc>
              <a:buNone/>
            </a:pPr>
            <a:r>
              <a:rPr lang="en-US" sz="750" dirty="0">
                <a:solidFill>
                  <a:srgbClr val="9A9A9A"/>
                </a:solidFill>
                <a:latin typeface="Arial" pitchFamily="34" charset="0"/>
                <a:ea typeface="Arial" pitchFamily="34" charset="-122"/>
                <a:cs typeface="Arial" pitchFamily="34" charset="-120"/>
              </a:rPr>
              <a:t>Bhavik Gandecha, Dscout · 16:30</a:t>
            </a:r>
            <a:endParaRPr lang="en-US" sz="850" dirty="0"/>
          </a:p>
        </p:txBody>
      </p:sp>
      <p:sp>
        <p:nvSpPr>
          <p:cNvPr id="89" name="Shape 86"/>
          <p:cNvSpPr/>
          <p:nvPr/>
        </p:nvSpPr>
        <p:spPr>
          <a:xfrm>
            <a:off x="9143771" y="5867253"/>
            <a:ext cx="2285943" cy="0"/>
          </a:xfrm>
          <a:prstGeom prst="line">
            <a:avLst/>
          </a:prstGeom>
          <a:noFill/>
          <a:ln w="6350">
            <a:solidFill>
              <a:srgbClr val="1A1A1A"/>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15</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MADE POSSIBLE BY</a:t>
            </a:r>
            <a:endParaRPr lang="en-US" sz="1000" dirty="0"/>
          </a:p>
        </p:txBody>
      </p:sp>
      <p:pic>
        <p:nvPicPr>
          <p:cNvPr id="7" name="Image 1" descr="/private/tmp/claude-501/-Users-sebastiangier-Documents-Claude-Projects-FastForward-Global/e79bb229-0b18-47a3-8b64-a4a670addca8/scratchpad/pptx/img/freshform.png">    </p:cNvPr>
          <p:cNvPicPr>
            <a:picLocks noChangeAspect="1"/>
          </p:cNvPicPr>
          <p:nvPr/>
        </p:nvPicPr>
        <p:blipFill>
          <a:blip r:embed="rId2"/>
          <a:stretch>
            <a:fillRect/>
          </a:stretch>
        </p:blipFill>
        <p:spPr>
          <a:xfrm>
            <a:off x="761981" y="1054074"/>
            <a:ext cx="1218376" cy="253994"/>
          </a:xfrm>
          <a:prstGeom prst="rect">
            <a:avLst/>
          </a:prstGeom>
        </p:spPr>
      </p:pic>
      <p:pic>
        <p:nvPicPr>
          <p:cNvPr id="8" name="Image 2" descr="/private/tmp/claude-501/-Users-sebastiangier-Documents-Claude-Projects-FastForward-Global/e79bb229-0b18-47a3-8b64-a4a670addca8/scratchpad/pptx/img/bcca.png">    </p:cNvPr>
          <p:cNvPicPr>
            <a:picLocks noChangeAspect="1"/>
          </p:cNvPicPr>
          <p:nvPr/>
        </p:nvPicPr>
        <p:blipFill>
          <a:blip r:embed="rId3"/>
          <a:stretch>
            <a:fillRect/>
          </a:stretch>
        </p:blipFill>
        <p:spPr>
          <a:xfrm>
            <a:off x="2361347" y="971526"/>
            <a:ext cx="798817" cy="419090"/>
          </a:xfrm>
          <a:prstGeom prst="rect">
            <a:avLst/>
          </a:prstGeom>
        </p:spPr>
      </p:pic>
      <p:pic>
        <p:nvPicPr>
          <p:cNvPr id="9" name="Image 3" descr="/private/tmp/claude-501/-Users-sebastiangier-Documents-Claude-Projects-FastForward-Global/e79bb229-0b18-47a3-8b64-a4a670addca8/scratchpad/pptx/img/sd-design-week.png">    </p:cNvPr>
          <p:cNvPicPr>
            <a:picLocks noChangeAspect="1"/>
          </p:cNvPicPr>
          <p:nvPr/>
        </p:nvPicPr>
        <p:blipFill>
          <a:blip r:embed="rId4"/>
          <a:stretch>
            <a:fillRect/>
          </a:stretch>
        </p:blipFill>
        <p:spPr>
          <a:xfrm>
            <a:off x="3541155" y="971526"/>
            <a:ext cx="427713" cy="419090"/>
          </a:xfrm>
          <a:prstGeom prst="rect">
            <a:avLst/>
          </a:prstGeom>
        </p:spPr>
      </p:pic>
      <p:pic>
        <p:nvPicPr>
          <p:cNvPr id="10" name="Image 4" descr="/private/tmp/claude-501/-Users-sebastiangier-Documents-Claude-Projects-FastForward-Global/e79bb229-0b18-47a3-8b64-a4a670addca8/scratchpad/pptx/img/dscout.png">    </p:cNvPr>
          <p:cNvPicPr>
            <a:picLocks noChangeAspect="1"/>
          </p:cNvPicPr>
          <p:nvPr/>
        </p:nvPicPr>
        <p:blipFill>
          <a:blip r:embed="rId5"/>
          <a:stretch>
            <a:fillRect/>
          </a:stretch>
        </p:blipFill>
        <p:spPr>
          <a:xfrm>
            <a:off x="4349858" y="1079473"/>
            <a:ext cx="1062866" cy="203195"/>
          </a:xfrm>
          <a:prstGeom prst="rect">
            <a:avLst/>
          </a:prstGeom>
        </p:spPr>
      </p:pic>
      <p:pic>
        <p:nvPicPr>
          <p:cNvPr id="11" name="Image 5" descr="/private/tmp/claude-501/-Users-sebastiangier-Documents-Claude-Projects-FastForward-Global/e79bb229-0b18-47a3-8b64-a4a670addca8/scratchpad/pptx/img/gain.png">    </p:cNvPr>
          <p:cNvPicPr>
            <a:picLocks noChangeAspect="1"/>
          </p:cNvPicPr>
          <p:nvPr/>
        </p:nvPicPr>
        <p:blipFill>
          <a:blip r:embed="rId6"/>
          <a:stretch>
            <a:fillRect/>
          </a:stretch>
        </p:blipFill>
        <p:spPr>
          <a:xfrm>
            <a:off x="5793714" y="1079473"/>
            <a:ext cx="1430180" cy="203195"/>
          </a:xfrm>
          <a:prstGeom prst="rect">
            <a:avLst/>
          </a:prstGeom>
        </p:spPr>
      </p:pic>
      <p:pic>
        <p:nvPicPr>
          <p:cNvPr id="12" name="Image 6" descr="/private/tmp/claude-501/-Users-sebastiangier-Documents-Claude-Projects-FastForward-Global/e79bb229-0b18-47a3-8b64-a4a670addca8/scratchpad/pptx/img/marvin.png">    </p:cNvPr>
          <p:cNvPicPr>
            <a:picLocks noChangeAspect="1"/>
          </p:cNvPicPr>
          <p:nvPr/>
        </p:nvPicPr>
        <p:blipFill>
          <a:blip r:embed="rId7"/>
          <a:stretch>
            <a:fillRect/>
          </a:stretch>
        </p:blipFill>
        <p:spPr>
          <a:xfrm>
            <a:off x="7604884" y="1054074"/>
            <a:ext cx="927278" cy="253994"/>
          </a:xfrm>
          <a:prstGeom prst="rect">
            <a:avLst/>
          </a:prstGeom>
        </p:spPr>
      </p:pic>
      <p:pic>
        <p:nvPicPr>
          <p:cNvPr id="13" name="Image 7" descr="/private/tmp/claude-501/-Users-sebastiangier-Documents-Claude-Projects-FastForward-Global/e79bb229-0b18-47a3-8b64-a4a670addca8/scratchpad/pptx/img/askable.png">    </p:cNvPr>
          <p:cNvPicPr>
            <a:picLocks noChangeAspect="1"/>
          </p:cNvPicPr>
          <p:nvPr/>
        </p:nvPicPr>
        <p:blipFill>
          <a:blip r:embed="rId8"/>
          <a:stretch>
            <a:fillRect/>
          </a:stretch>
        </p:blipFill>
        <p:spPr>
          <a:xfrm>
            <a:off x="8913153" y="1079473"/>
            <a:ext cx="886861" cy="203195"/>
          </a:xfrm>
          <a:prstGeom prst="rect">
            <a:avLst/>
          </a:prstGeom>
        </p:spPr>
      </p:pic>
      <p:pic>
        <p:nvPicPr>
          <p:cNvPr id="14" name="Image 8" descr="/private/tmp/claude-501/-Users-sebastiangier-Documents-Claude-Projects-FastForward-Global/e79bb229-0b18-47a3-8b64-a4a670addca8/scratchpad/pptx/img/mondo-robot.png">    </p:cNvPr>
          <p:cNvPicPr>
            <a:picLocks noChangeAspect="1"/>
          </p:cNvPicPr>
          <p:nvPr/>
        </p:nvPicPr>
        <p:blipFill>
          <a:blip r:embed="rId9"/>
          <a:stretch>
            <a:fillRect/>
          </a:stretch>
        </p:blipFill>
        <p:spPr>
          <a:xfrm>
            <a:off x="10181005" y="1054074"/>
            <a:ext cx="638735" cy="253994"/>
          </a:xfrm>
          <a:prstGeom prst="rect">
            <a:avLst/>
          </a:prstGeom>
        </p:spPr>
      </p:pic>
      <p:sp>
        <p:nvSpPr>
          <p:cNvPr id="15" name="Shape 4"/>
          <p:cNvSpPr/>
          <p:nvPr/>
        </p:nvSpPr>
        <p:spPr>
          <a:xfrm>
            <a:off x="761981" y="1689058"/>
            <a:ext cx="1958926" cy="317492"/>
          </a:xfrm>
          <a:prstGeom prst="rect">
            <a:avLst/>
          </a:prstGeom>
          <a:solidFill>
            <a:srgbClr val="050505"/>
          </a:solidFill>
          <a:ln w="9525">
            <a:solidFill>
              <a:srgbClr val="242424"/>
            </a:solidFill>
            <a:prstDash val="solid"/>
          </a:ln>
        </p:spPr>
      </p:sp>
      <p:sp>
        <p:nvSpPr>
          <p:cNvPr id="16" name="Text 5"/>
          <p:cNvSpPr txBox="1"/>
          <p:nvPr/>
        </p:nvSpPr>
        <p:spPr>
          <a:xfrm>
            <a:off x="761981" y="1689058"/>
            <a:ext cx="1958926" cy="317492"/>
          </a:xfrm>
          <a:prstGeom prst="rect">
            <a:avLst/>
          </a:prstGeom>
          <a:noFill/>
          <a:ln/>
        </p:spPr>
        <p:txBody>
          <a:bodyPr wrap="square" lIns="0" tIns="0" rIns="0" bIns="0" rtlCol="0" anchor="ctr"/>
          <a:lstStyle/>
          <a:p>
            <a:pPr algn="ctr" indent="0" marL="0">
              <a:buNone/>
            </a:pPr>
            <a:r>
              <a:rPr lang="en-US" sz="1000" dirty="0">
                <a:solidFill>
                  <a:srgbClr val="D9D9D9"/>
                </a:solidFill>
                <a:latin typeface="Arial" pitchFamily="34" charset="0"/>
                <a:ea typeface="Arial" pitchFamily="34" charset="-122"/>
                <a:cs typeface="Arial" pitchFamily="34" charset="-120"/>
              </a:rPr>
              <a:t>Don Norman Design Award</a:t>
            </a:r>
            <a:endParaRPr lang="en-US" sz="1000" dirty="0"/>
          </a:p>
        </p:txBody>
      </p:sp>
      <p:sp>
        <p:nvSpPr>
          <p:cNvPr id="17" name="Shape 6"/>
          <p:cNvSpPr/>
          <p:nvPr/>
        </p:nvSpPr>
        <p:spPr>
          <a:xfrm>
            <a:off x="2797105" y="1689058"/>
            <a:ext cx="936602" cy="317492"/>
          </a:xfrm>
          <a:prstGeom prst="rect">
            <a:avLst/>
          </a:prstGeom>
          <a:solidFill>
            <a:srgbClr val="050505"/>
          </a:solidFill>
          <a:ln w="9525">
            <a:solidFill>
              <a:srgbClr val="242424"/>
            </a:solidFill>
            <a:prstDash val="solid"/>
          </a:ln>
        </p:spPr>
      </p:sp>
      <p:sp>
        <p:nvSpPr>
          <p:cNvPr id="18" name="Text 7"/>
          <p:cNvSpPr txBox="1"/>
          <p:nvPr/>
        </p:nvSpPr>
        <p:spPr>
          <a:xfrm>
            <a:off x="2797105" y="1689058"/>
            <a:ext cx="936602" cy="317492"/>
          </a:xfrm>
          <a:prstGeom prst="rect">
            <a:avLst/>
          </a:prstGeom>
          <a:noFill/>
          <a:ln/>
        </p:spPr>
        <p:txBody>
          <a:bodyPr wrap="square" lIns="0" tIns="0" rIns="0" bIns="0" rtlCol="0" anchor="ctr"/>
          <a:lstStyle/>
          <a:p>
            <a:pPr algn="ctr" indent="0" marL="0">
              <a:buNone/>
            </a:pPr>
            <a:r>
              <a:rPr lang="en-US" sz="1000" dirty="0">
                <a:solidFill>
                  <a:srgbClr val="D9D9D9"/>
                </a:solidFill>
                <a:latin typeface="Arial" pitchFamily="34" charset="0"/>
                <a:ea typeface="Arial" pitchFamily="34" charset="-122"/>
                <a:cs typeface="Arial" pitchFamily="34" charset="-120"/>
              </a:rPr>
              <a:t>J.S. Held</a:t>
            </a:r>
            <a:endParaRPr lang="en-US" sz="1000" dirty="0"/>
          </a:p>
        </p:txBody>
      </p:sp>
      <p:sp>
        <p:nvSpPr>
          <p:cNvPr id="19" name="Shape 8"/>
          <p:cNvSpPr/>
          <p:nvPr/>
        </p:nvSpPr>
        <p:spPr>
          <a:xfrm>
            <a:off x="3809905" y="1689058"/>
            <a:ext cx="1374741" cy="317492"/>
          </a:xfrm>
          <a:prstGeom prst="rect">
            <a:avLst/>
          </a:prstGeom>
          <a:solidFill>
            <a:srgbClr val="050505"/>
          </a:solidFill>
          <a:ln w="9525">
            <a:solidFill>
              <a:srgbClr val="242424"/>
            </a:solidFill>
            <a:prstDash val="solid"/>
          </a:ln>
        </p:spPr>
      </p:sp>
      <p:sp>
        <p:nvSpPr>
          <p:cNvPr id="20" name="Text 9"/>
          <p:cNvSpPr txBox="1"/>
          <p:nvPr/>
        </p:nvSpPr>
        <p:spPr>
          <a:xfrm>
            <a:off x="3809905" y="1689058"/>
            <a:ext cx="1374741" cy="317492"/>
          </a:xfrm>
          <a:prstGeom prst="rect">
            <a:avLst/>
          </a:prstGeom>
          <a:noFill/>
          <a:ln/>
        </p:spPr>
        <p:txBody>
          <a:bodyPr wrap="square" lIns="0" tIns="0" rIns="0" bIns="0" rtlCol="0" anchor="ctr"/>
          <a:lstStyle/>
          <a:p>
            <a:pPr algn="ctr" indent="0" marL="0">
              <a:buNone/>
            </a:pPr>
            <a:r>
              <a:rPr lang="en-US" sz="1000" dirty="0">
                <a:solidFill>
                  <a:srgbClr val="D9D9D9"/>
                </a:solidFill>
                <a:latin typeface="Arial" pitchFamily="34" charset="0"/>
                <a:ea typeface="Arial" pitchFamily="34" charset="-122"/>
                <a:cs typeface="Arial" pitchFamily="34" charset="-120"/>
              </a:rPr>
              <a:t>Edenspiekermann</a:t>
            </a:r>
            <a:endParaRPr lang="en-US" sz="1000" dirty="0"/>
          </a:p>
        </p:txBody>
      </p:sp>
      <p:sp>
        <p:nvSpPr>
          <p:cNvPr id="21" name="Shape 10"/>
          <p:cNvSpPr/>
          <p:nvPr/>
        </p:nvSpPr>
        <p:spPr>
          <a:xfrm>
            <a:off x="5260843" y="1689058"/>
            <a:ext cx="1082648" cy="317492"/>
          </a:xfrm>
          <a:prstGeom prst="rect">
            <a:avLst/>
          </a:prstGeom>
          <a:solidFill>
            <a:srgbClr val="050505"/>
          </a:solidFill>
          <a:ln w="9525">
            <a:solidFill>
              <a:srgbClr val="242424"/>
            </a:solidFill>
            <a:prstDash val="solid"/>
          </a:ln>
        </p:spPr>
      </p:sp>
      <p:sp>
        <p:nvSpPr>
          <p:cNvPr id="22" name="Text 11"/>
          <p:cNvSpPr txBox="1"/>
          <p:nvPr/>
        </p:nvSpPr>
        <p:spPr>
          <a:xfrm>
            <a:off x="5260843" y="1689058"/>
            <a:ext cx="1082648" cy="317492"/>
          </a:xfrm>
          <a:prstGeom prst="rect">
            <a:avLst/>
          </a:prstGeom>
          <a:noFill/>
          <a:ln/>
        </p:spPr>
        <p:txBody>
          <a:bodyPr wrap="square" lIns="0" tIns="0" rIns="0" bIns="0" rtlCol="0" anchor="ctr"/>
          <a:lstStyle/>
          <a:p>
            <a:pPr algn="ctr" indent="0" marL="0">
              <a:buNone/>
            </a:pPr>
            <a:r>
              <a:rPr lang="en-US" sz="1000" dirty="0">
                <a:solidFill>
                  <a:srgbClr val="D9D9D9"/>
                </a:solidFill>
                <a:latin typeface="Arial" pitchFamily="34" charset="0"/>
                <a:ea typeface="Arial" pitchFamily="34" charset="-122"/>
                <a:cs typeface="Arial" pitchFamily="34" charset="-120"/>
              </a:rPr>
              <a:t>Appsfactory</a:t>
            </a:r>
            <a:endParaRPr lang="en-US" sz="1000" dirty="0"/>
          </a:p>
        </p:txBody>
      </p:sp>
      <p:sp>
        <p:nvSpPr>
          <p:cNvPr id="23" name="Shape 12"/>
          <p:cNvSpPr/>
          <p:nvPr/>
        </p:nvSpPr>
        <p:spPr>
          <a:xfrm>
            <a:off x="6419690" y="1689058"/>
            <a:ext cx="1812880" cy="317492"/>
          </a:xfrm>
          <a:prstGeom prst="rect">
            <a:avLst/>
          </a:prstGeom>
          <a:solidFill>
            <a:srgbClr val="050505"/>
          </a:solidFill>
          <a:ln w="9525">
            <a:solidFill>
              <a:srgbClr val="242424"/>
            </a:solidFill>
            <a:prstDash val="solid"/>
          </a:ln>
        </p:spPr>
      </p:sp>
      <p:sp>
        <p:nvSpPr>
          <p:cNvPr id="24" name="Text 13"/>
          <p:cNvSpPr txBox="1"/>
          <p:nvPr/>
        </p:nvSpPr>
        <p:spPr>
          <a:xfrm>
            <a:off x="6419690" y="1689058"/>
            <a:ext cx="1812880" cy="317492"/>
          </a:xfrm>
          <a:prstGeom prst="rect">
            <a:avLst/>
          </a:prstGeom>
          <a:noFill/>
          <a:ln/>
        </p:spPr>
        <p:txBody>
          <a:bodyPr wrap="square" lIns="0" tIns="0" rIns="0" bIns="0" rtlCol="0" anchor="ctr"/>
          <a:lstStyle/>
          <a:p>
            <a:pPr algn="ctr" indent="0" marL="0">
              <a:buNone/>
            </a:pPr>
            <a:r>
              <a:rPr lang="en-US" sz="1000" dirty="0">
                <a:solidFill>
                  <a:srgbClr val="D9D9D9"/>
                </a:solidFill>
                <a:latin typeface="Arial" pitchFamily="34" charset="0"/>
                <a:ea typeface="Arial" pitchFamily="34" charset="-122"/>
                <a:cs typeface="Arial" pitchFamily="34" charset="-120"/>
              </a:rPr>
              <a:t>San Diego Design Week</a:t>
            </a:r>
            <a:endParaRPr lang="en-US" sz="1000" dirty="0"/>
          </a:p>
        </p:txBody>
      </p:sp>
      <p:sp>
        <p:nvSpPr>
          <p:cNvPr id="25" name="Shape 14"/>
          <p:cNvSpPr/>
          <p:nvPr/>
        </p:nvSpPr>
        <p:spPr>
          <a:xfrm>
            <a:off x="8308767" y="1689058"/>
            <a:ext cx="2177996" cy="317492"/>
          </a:xfrm>
          <a:prstGeom prst="rect">
            <a:avLst/>
          </a:prstGeom>
          <a:solidFill>
            <a:srgbClr val="050505"/>
          </a:solidFill>
          <a:ln w="9525">
            <a:solidFill>
              <a:srgbClr val="242424"/>
            </a:solidFill>
            <a:prstDash val="solid"/>
          </a:ln>
        </p:spPr>
      </p:sp>
      <p:sp>
        <p:nvSpPr>
          <p:cNvPr id="26" name="Text 15"/>
          <p:cNvSpPr txBox="1"/>
          <p:nvPr/>
        </p:nvSpPr>
        <p:spPr>
          <a:xfrm>
            <a:off x="8308767" y="1689058"/>
            <a:ext cx="2177996" cy="317492"/>
          </a:xfrm>
          <a:prstGeom prst="rect">
            <a:avLst/>
          </a:prstGeom>
          <a:noFill/>
          <a:ln/>
        </p:spPr>
        <p:txBody>
          <a:bodyPr wrap="square" lIns="0" tIns="0" rIns="0" bIns="0" rtlCol="0" anchor="ctr"/>
          <a:lstStyle/>
          <a:p>
            <a:pPr algn="ctr" indent="0" marL="0">
              <a:buNone/>
            </a:pPr>
            <a:r>
              <a:rPr lang="en-US" sz="1000" dirty="0">
                <a:solidFill>
                  <a:srgbClr val="D9D9D9"/>
                </a:solidFill>
                <a:latin typeface="Arial" pitchFamily="34" charset="0"/>
                <a:ea typeface="Arial" pitchFamily="34" charset="-122"/>
                <a:cs typeface="Arial" pitchFamily="34" charset="-120"/>
              </a:rPr>
              <a:t>Friends of Figma San Diego</a:t>
            </a:r>
            <a:endParaRPr lang="en-US" sz="1000" dirty="0"/>
          </a:p>
        </p:txBody>
      </p:sp>
      <p:sp>
        <p:nvSpPr>
          <p:cNvPr id="27" name="Shape 16"/>
          <p:cNvSpPr/>
          <p:nvPr/>
        </p:nvSpPr>
        <p:spPr>
          <a:xfrm>
            <a:off x="10562961" y="1689058"/>
            <a:ext cx="571486" cy="317492"/>
          </a:xfrm>
          <a:prstGeom prst="rect">
            <a:avLst/>
          </a:prstGeom>
          <a:solidFill>
            <a:srgbClr val="050505"/>
          </a:solidFill>
          <a:ln w="9525">
            <a:solidFill>
              <a:srgbClr val="242424"/>
            </a:solidFill>
            <a:prstDash val="solid"/>
          </a:ln>
        </p:spPr>
      </p:sp>
      <p:sp>
        <p:nvSpPr>
          <p:cNvPr id="28" name="Text 17"/>
          <p:cNvSpPr txBox="1"/>
          <p:nvPr/>
        </p:nvSpPr>
        <p:spPr>
          <a:xfrm>
            <a:off x="10562961" y="1689058"/>
            <a:ext cx="571486" cy="317492"/>
          </a:xfrm>
          <a:prstGeom prst="rect">
            <a:avLst/>
          </a:prstGeom>
          <a:noFill/>
          <a:ln/>
        </p:spPr>
        <p:txBody>
          <a:bodyPr wrap="square" lIns="0" tIns="0" rIns="0" bIns="0" rtlCol="0" anchor="ctr"/>
          <a:lstStyle/>
          <a:p>
            <a:pPr algn="ctr" indent="0" marL="0">
              <a:buNone/>
            </a:pPr>
            <a:r>
              <a:rPr lang="en-US" sz="1000" dirty="0">
                <a:solidFill>
                  <a:srgbClr val="D9D9D9"/>
                </a:solidFill>
                <a:latin typeface="Arial" pitchFamily="34" charset="0"/>
                <a:ea typeface="Arial" pitchFamily="34" charset="-122"/>
                <a:cs typeface="Arial" pitchFamily="34" charset="-120"/>
              </a:rPr>
              <a:t>SDXD</a:t>
            </a:r>
            <a:endParaRPr lang="en-US" sz="1000" dirty="0"/>
          </a:p>
        </p:txBody>
      </p:sp>
      <p:sp>
        <p:nvSpPr>
          <p:cNvPr id="29" name="Shape 18"/>
          <p:cNvSpPr/>
          <p:nvPr/>
        </p:nvSpPr>
        <p:spPr>
          <a:xfrm>
            <a:off x="761981" y="2082748"/>
            <a:ext cx="1155671" cy="317492"/>
          </a:xfrm>
          <a:prstGeom prst="rect">
            <a:avLst/>
          </a:prstGeom>
          <a:solidFill>
            <a:srgbClr val="050505"/>
          </a:solidFill>
          <a:ln w="9525">
            <a:solidFill>
              <a:srgbClr val="242424"/>
            </a:solidFill>
            <a:prstDash val="solid"/>
          </a:ln>
        </p:spPr>
      </p:sp>
      <p:sp>
        <p:nvSpPr>
          <p:cNvPr id="30" name="Text 19"/>
          <p:cNvSpPr txBox="1"/>
          <p:nvPr/>
        </p:nvSpPr>
        <p:spPr>
          <a:xfrm>
            <a:off x="761981" y="2082748"/>
            <a:ext cx="1155671" cy="317492"/>
          </a:xfrm>
          <a:prstGeom prst="rect">
            <a:avLst/>
          </a:prstGeom>
          <a:noFill/>
          <a:ln/>
        </p:spPr>
        <p:txBody>
          <a:bodyPr wrap="square" lIns="0" tIns="0" rIns="0" bIns="0" rtlCol="0" anchor="ctr"/>
          <a:lstStyle/>
          <a:p>
            <a:pPr algn="ctr" indent="0" marL="0">
              <a:buNone/>
            </a:pPr>
            <a:r>
              <a:rPr lang="en-US" sz="1000" dirty="0">
                <a:solidFill>
                  <a:srgbClr val="D9D9D9"/>
                </a:solidFill>
                <a:latin typeface="Arial" pitchFamily="34" charset="0"/>
                <a:ea typeface="Arial" pitchFamily="34" charset="-122"/>
                <a:cs typeface="Arial" pitchFamily="34" charset="-120"/>
              </a:rPr>
              <a:t>UX Speakeasy</a:t>
            </a:r>
            <a:endParaRPr lang="en-US" sz="1000" dirty="0"/>
          </a:p>
        </p:txBody>
      </p:sp>
      <p:sp>
        <p:nvSpPr>
          <p:cNvPr id="31" name="Shape 20"/>
          <p:cNvSpPr/>
          <p:nvPr/>
        </p:nvSpPr>
        <p:spPr>
          <a:xfrm>
            <a:off x="761981" y="2762181"/>
            <a:ext cx="190495" cy="19050"/>
          </a:xfrm>
          <a:prstGeom prst="rect">
            <a:avLst/>
          </a:prstGeom>
          <a:solidFill>
            <a:srgbClr val="FFF204"/>
          </a:solidFill>
          <a:ln w="12700">
            <a:solidFill>
              <a:srgbClr val="FFF204"/>
            </a:solidFill>
            <a:prstDash val="solid"/>
          </a:ln>
        </p:spPr>
      </p:sp>
      <p:sp>
        <p:nvSpPr>
          <p:cNvPr id="32" name="Text 21"/>
          <p:cNvSpPr txBox="1"/>
          <p:nvPr/>
        </p:nvSpPr>
        <p:spPr>
          <a:xfrm>
            <a:off x="1041374" y="2705032"/>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THE SERIES CONTINUES</a:t>
            </a:r>
            <a:endParaRPr lang="en-US" sz="1000" dirty="0"/>
          </a:p>
        </p:txBody>
      </p:sp>
      <p:sp>
        <p:nvSpPr>
          <p:cNvPr id="33" name="Text 22"/>
          <p:cNvSpPr txBox="1"/>
          <p:nvPr/>
        </p:nvSpPr>
        <p:spPr>
          <a:xfrm>
            <a:off x="761981" y="2959026"/>
            <a:ext cx="10667733" cy="1109952"/>
          </a:xfrm>
          <a:prstGeom prst="rect">
            <a:avLst/>
          </a:prstGeom>
          <a:noFill/>
          <a:ln/>
        </p:spPr>
        <p:txBody>
          <a:bodyPr wrap="square" lIns="0" tIns="0" rIns="0" bIns="0" rtlCol="0" anchor="t"/>
          <a:lstStyle/>
          <a:p>
            <a:pPr indent="0" marL="0">
              <a:lnSpc>
                <a:spcPct val="92000"/>
              </a:lnSpc>
              <a:buNone/>
            </a:pPr>
            <a:r>
              <a:rPr lang="en-US" sz="4600" b="1" spc="-400" kern="0" dirty="0">
                <a:solidFill>
                  <a:srgbClr val="FFFFFF"/>
                </a:solidFill>
                <a:latin typeface="Arial" pitchFamily="34" charset="0"/>
                <a:ea typeface="Arial" pitchFamily="34" charset="-122"/>
                <a:cs typeface="Arial" pitchFamily="34" charset="-120"/>
              </a:rPr>
              <a:t>SAME EXCHANGE, NEXT CITY</a:t>
            </a:r>
            <a:endParaRPr lang="en-US" sz="4600" dirty="0"/>
          </a:p>
        </p:txBody>
      </p:sp>
      <p:sp>
        <p:nvSpPr>
          <p:cNvPr id="34" name="Shape 23"/>
          <p:cNvSpPr/>
          <p:nvPr/>
        </p:nvSpPr>
        <p:spPr>
          <a:xfrm>
            <a:off x="761981" y="4825879"/>
            <a:ext cx="3555911" cy="1333467"/>
          </a:xfrm>
          <a:prstGeom prst="rect">
            <a:avLst/>
          </a:prstGeom>
          <a:solidFill>
            <a:srgbClr val="050505"/>
          </a:solidFill>
          <a:ln w="9525">
            <a:solidFill>
              <a:srgbClr val="242424"/>
            </a:solidFill>
            <a:prstDash val="solid"/>
          </a:ln>
        </p:spPr>
      </p:sp>
      <p:sp>
        <p:nvSpPr>
          <p:cNvPr id="35" name="Text 24"/>
          <p:cNvSpPr txBox="1"/>
          <p:nvPr/>
        </p:nvSpPr>
        <p:spPr>
          <a:xfrm>
            <a:off x="952476" y="5016375"/>
            <a:ext cx="3238419" cy="634984"/>
          </a:xfrm>
          <a:prstGeom prst="rect">
            <a:avLst/>
          </a:prstGeom>
          <a:noFill/>
          <a:ln/>
        </p:spPr>
        <p:txBody>
          <a:bodyPr wrap="square" lIns="0" tIns="0" rIns="0" bIns="0" rtlCol="0" anchor="t"/>
          <a:lstStyle/>
          <a:p>
            <a:pPr indent="0" marL="0">
              <a:buNone/>
            </a:pPr>
            <a:r>
              <a:rPr lang="en-US" sz="2200" b="1" spc="-100" kern="0" dirty="0">
                <a:solidFill>
                  <a:srgbClr val="FFFFFF"/>
                </a:solidFill>
                <a:latin typeface="Arial" pitchFamily="34" charset="0"/>
                <a:ea typeface="Arial" pitchFamily="34" charset="-122"/>
                <a:cs typeface="Arial" pitchFamily="34" charset="-120"/>
              </a:rPr>
              <a:t>DUBAI</a:t>
            </a:r>
            <a:endParaRPr lang="en-US" sz="2200" dirty="0"/>
          </a:p>
        </p:txBody>
      </p:sp>
      <p:sp>
        <p:nvSpPr>
          <p:cNvPr id="36" name="Text 25"/>
          <p:cNvSpPr txBox="1"/>
          <p:nvPr/>
        </p:nvSpPr>
        <p:spPr>
          <a:xfrm>
            <a:off x="952476" y="5683108"/>
            <a:ext cx="3238419" cy="380990"/>
          </a:xfrm>
          <a:prstGeom prst="rect">
            <a:avLst/>
          </a:prstGeom>
          <a:noFill/>
          <a:ln/>
        </p:spPr>
        <p:txBody>
          <a:bodyPr wrap="square" lIns="0" tIns="0" rIns="0" bIns="0" rtlCol="0" anchor="t"/>
          <a:lstStyle/>
          <a:p>
            <a:pPr indent="0" marL="0">
              <a:buNone/>
            </a:pPr>
            <a:r>
              <a:rPr lang="en-US" sz="950" dirty="0">
                <a:solidFill>
                  <a:srgbClr val="9A9A9A"/>
                </a:solidFill>
                <a:latin typeface="Arial" pitchFamily="34" charset="0"/>
                <a:ea typeface="Arial" pitchFamily="34" charset="-122"/>
                <a:cs typeface="Arial" pitchFamily="34" charset="-120"/>
              </a:rPr>
              <a:t>27–28 January 2027</a:t>
            </a:r>
            <a:endParaRPr lang="en-US" sz="950" dirty="0"/>
          </a:p>
        </p:txBody>
      </p:sp>
      <p:sp>
        <p:nvSpPr>
          <p:cNvPr id="37" name="Shape 26"/>
          <p:cNvSpPr/>
          <p:nvPr/>
        </p:nvSpPr>
        <p:spPr>
          <a:xfrm>
            <a:off x="4317892" y="4825879"/>
            <a:ext cx="3555911" cy="1333467"/>
          </a:xfrm>
          <a:prstGeom prst="rect">
            <a:avLst/>
          </a:prstGeom>
          <a:solidFill>
            <a:srgbClr val="050505"/>
          </a:solidFill>
          <a:ln w="9525">
            <a:solidFill>
              <a:srgbClr val="242424"/>
            </a:solidFill>
            <a:prstDash val="solid"/>
          </a:ln>
        </p:spPr>
      </p:sp>
      <p:sp>
        <p:nvSpPr>
          <p:cNvPr id="38" name="Text 27"/>
          <p:cNvSpPr txBox="1"/>
          <p:nvPr/>
        </p:nvSpPr>
        <p:spPr>
          <a:xfrm>
            <a:off x="4508387" y="5016375"/>
            <a:ext cx="3238419" cy="634984"/>
          </a:xfrm>
          <a:prstGeom prst="rect">
            <a:avLst/>
          </a:prstGeom>
          <a:noFill/>
          <a:ln/>
        </p:spPr>
        <p:txBody>
          <a:bodyPr wrap="square" lIns="0" tIns="0" rIns="0" bIns="0" rtlCol="0" anchor="t"/>
          <a:lstStyle/>
          <a:p>
            <a:pPr indent="0" marL="0">
              <a:buNone/>
            </a:pPr>
            <a:r>
              <a:rPr lang="en-US" sz="2200" b="1" spc="-100" kern="0" dirty="0">
                <a:solidFill>
                  <a:srgbClr val="FFFFFF"/>
                </a:solidFill>
                <a:latin typeface="Arial" pitchFamily="34" charset="0"/>
                <a:ea typeface="Arial" pitchFamily="34" charset="-122"/>
                <a:cs typeface="Arial" pitchFamily="34" charset="-120"/>
              </a:rPr>
              <a:t>TOKYO</a:t>
            </a:r>
            <a:endParaRPr lang="en-US" sz="2200" dirty="0"/>
          </a:p>
        </p:txBody>
      </p:sp>
      <p:sp>
        <p:nvSpPr>
          <p:cNvPr id="39" name="Text 28"/>
          <p:cNvSpPr txBox="1"/>
          <p:nvPr/>
        </p:nvSpPr>
        <p:spPr>
          <a:xfrm>
            <a:off x="4508387" y="5683108"/>
            <a:ext cx="3238419" cy="380990"/>
          </a:xfrm>
          <a:prstGeom prst="rect">
            <a:avLst/>
          </a:prstGeom>
          <a:noFill/>
          <a:ln/>
        </p:spPr>
        <p:txBody>
          <a:bodyPr wrap="square" lIns="0" tIns="0" rIns="0" bIns="0" rtlCol="0" anchor="t"/>
          <a:lstStyle/>
          <a:p>
            <a:pPr indent="0" marL="0">
              <a:buNone/>
            </a:pPr>
            <a:r>
              <a:rPr lang="en-US" sz="950" dirty="0">
                <a:solidFill>
                  <a:srgbClr val="9A9A9A"/>
                </a:solidFill>
                <a:latin typeface="Arial" pitchFamily="34" charset="0"/>
                <a:ea typeface="Arial" pitchFamily="34" charset="-122"/>
                <a:cs typeface="Arial" pitchFamily="34" charset="-120"/>
              </a:rPr>
              <a:t>12 February 2027</a:t>
            </a:r>
            <a:endParaRPr lang="en-US" sz="950" dirty="0"/>
          </a:p>
        </p:txBody>
      </p:sp>
      <p:sp>
        <p:nvSpPr>
          <p:cNvPr id="40" name="Shape 29"/>
          <p:cNvSpPr/>
          <p:nvPr/>
        </p:nvSpPr>
        <p:spPr>
          <a:xfrm>
            <a:off x="7873803" y="4825879"/>
            <a:ext cx="3555911" cy="1333467"/>
          </a:xfrm>
          <a:prstGeom prst="rect">
            <a:avLst/>
          </a:prstGeom>
          <a:solidFill>
            <a:srgbClr val="FFF204"/>
          </a:solidFill>
          <a:ln w="9525">
            <a:solidFill>
              <a:srgbClr val="FFF204"/>
            </a:solidFill>
            <a:prstDash val="solid"/>
          </a:ln>
        </p:spPr>
      </p:sp>
      <p:sp>
        <p:nvSpPr>
          <p:cNvPr id="41" name="Text 30"/>
          <p:cNvSpPr txBox="1"/>
          <p:nvPr/>
        </p:nvSpPr>
        <p:spPr>
          <a:xfrm>
            <a:off x="8064298" y="5016375"/>
            <a:ext cx="3238419" cy="634984"/>
          </a:xfrm>
          <a:prstGeom prst="rect">
            <a:avLst/>
          </a:prstGeom>
          <a:noFill/>
          <a:ln/>
        </p:spPr>
        <p:txBody>
          <a:bodyPr wrap="square" lIns="0" tIns="0" rIns="0" bIns="0" rtlCol="0" anchor="t"/>
          <a:lstStyle/>
          <a:p>
            <a:pPr indent="0" marL="0">
              <a:buNone/>
            </a:pPr>
            <a:r>
              <a:rPr lang="en-US" sz="2200" b="1" spc="-100" kern="0" dirty="0">
                <a:solidFill>
                  <a:srgbClr val="000000"/>
                </a:solidFill>
                <a:latin typeface="Arial" pitchFamily="34" charset="0"/>
                <a:ea typeface="Arial" pitchFamily="34" charset="-122"/>
                <a:cs typeface="Arial" pitchFamily="34" charset="-120"/>
              </a:rPr>
              <a:t>SAN DIEGO ’27</a:t>
            </a:r>
            <a:endParaRPr lang="en-US" sz="2200" dirty="0"/>
          </a:p>
        </p:txBody>
      </p:sp>
      <p:sp>
        <p:nvSpPr>
          <p:cNvPr id="42" name="Text 31"/>
          <p:cNvSpPr txBox="1"/>
          <p:nvPr/>
        </p:nvSpPr>
        <p:spPr>
          <a:xfrm>
            <a:off x="8064298" y="5683108"/>
            <a:ext cx="3238419" cy="380990"/>
          </a:xfrm>
          <a:prstGeom prst="rect">
            <a:avLst/>
          </a:prstGeom>
          <a:noFill/>
          <a:ln/>
        </p:spPr>
        <p:txBody>
          <a:bodyPr wrap="square" lIns="0" tIns="0" rIns="0" bIns="0" rtlCol="0" anchor="t"/>
          <a:lstStyle/>
          <a:p>
            <a:pPr indent="0" marL="0">
              <a:buNone/>
            </a:pPr>
            <a:r>
              <a:rPr lang="en-US" sz="950" dirty="0">
                <a:solidFill>
                  <a:srgbClr val="404000"/>
                </a:solidFill>
                <a:latin typeface="Arial" pitchFamily="34" charset="0"/>
                <a:ea typeface="Arial" pitchFamily="34" charset="-122"/>
                <a:cs typeface="Arial" pitchFamily="34" charset="-120"/>
              </a:rPr>
              <a:t>Early-bird tickets: luma.com/ddx-sd27</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505"/>
        </a:solidFill>
      </p:bgPr>
    </p:bg>
    <p:spTree>
      <p:nvGrpSpPr>
        <p:cNvPr id="1" name=""/>
        <p:cNvGrpSpPr/>
        <p:nvPr/>
      </p:nvGrpSpPr>
      <p:grpSpPr>
        <a:xfrm>
          <a:off x="0" y="0"/>
          <a:ext cx="0" cy="0"/>
          <a:chOff x="0" y="0"/>
          <a:chExt cx="0" cy="0"/>
        </a:xfrm>
      </p:grpSpPr>
      <p:pic>
        <p:nvPicPr>
          <p:cNvPr id="2" name="Image 0" descr="/private/tmp/claude-501/-Users-sebastiangier-Documents-Claude-Projects-FastForward-Global/e79bb229-0b18-47a3-8b64-a4a670addca8/scratchpad/pptx/img/ddx-wordmark.png">    </p:cNvPr>
          <p:cNvPicPr>
            <a:picLocks noChangeAspect="1"/>
          </p:cNvPicPr>
          <p:nvPr/>
        </p:nvPicPr>
        <p:blipFill>
          <a:blip r:embed="rId1"/>
          <a:stretch>
            <a:fillRect/>
          </a:stretch>
        </p:blipFill>
        <p:spPr>
          <a:xfrm>
            <a:off x="761981" y="6451610"/>
            <a:ext cx="406390" cy="176433"/>
          </a:xfrm>
          <a:prstGeom prst="rect">
            <a:avLst/>
          </a:prstGeom>
        </p:spPr>
      </p:pic>
      <p:sp>
        <p:nvSpPr>
          <p:cNvPr id="3" name="Text 0"/>
          <p:cNvSpPr txBox="1"/>
          <p:nvPr/>
        </p:nvSpPr>
        <p:spPr>
          <a:xfrm>
            <a:off x="4267048" y="6413511"/>
            <a:ext cx="3657600" cy="190495"/>
          </a:xfrm>
          <a:prstGeom prst="rect">
            <a:avLst/>
          </a:prstGeom>
          <a:noFill/>
          <a:ln/>
        </p:spPr>
        <p:txBody>
          <a:bodyPr wrap="square" lIns="0" tIns="0" rIns="0" bIns="0" rtlCol="0" anchor="ctr"/>
          <a:lstStyle/>
          <a:p>
            <a:pPr algn="ctr" indent="0" marL="0">
              <a:buNone/>
            </a:pPr>
            <a:r>
              <a:rPr lang="en-US" sz="800" spc="300" kern="0" dirty="0">
                <a:solidFill>
                  <a:srgbClr val="5C5C5C"/>
                </a:solidFill>
                <a:latin typeface="Arial" pitchFamily="34" charset="0"/>
                <a:ea typeface="Arial" pitchFamily="34" charset="-122"/>
                <a:cs typeface="Arial" pitchFamily="34" charset="-120"/>
              </a:rPr>
              <a:t>DDX’26 SAN DIEGO · RECAP</a:t>
            </a:r>
            <a:endParaRPr lang="en-US" sz="800" dirty="0"/>
          </a:p>
        </p:txBody>
      </p:sp>
      <p:sp>
        <p:nvSpPr>
          <p:cNvPr id="4" name="Text 1"/>
          <p:cNvSpPr txBox="1"/>
          <p:nvPr/>
        </p:nvSpPr>
        <p:spPr>
          <a:xfrm>
            <a:off x="10515314" y="6413511"/>
            <a:ext cx="914400" cy="190495"/>
          </a:xfrm>
          <a:prstGeom prst="rect">
            <a:avLst/>
          </a:prstGeom>
          <a:noFill/>
          <a:ln/>
        </p:spPr>
        <p:txBody>
          <a:bodyPr wrap="square" lIns="0" tIns="0" rIns="0" bIns="0" rtlCol="0" anchor="ctr"/>
          <a:lstStyle/>
          <a:p>
            <a:pPr algn="r" indent="0" marL="0">
              <a:buNone/>
            </a:pPr>
            <a:r>
              <a:rPr lang="en-US" sz="800" spc="300" kern="0" dirty="0">
                <a:solidFill>
                  <a:srgbClr val="5C5C5C"/>
                </a:solidFill>
                <a:latin typeface="Arial" pitchFamily="34" charset="0"/>
                <a:ea typeface="Arial" pitchFamily="34" charset="-122"/>
                <a:cs typeface="Arial" pitchFamily="34" charset="-120"/>
              </a:rPr>
              <a:t>16</a:t>
            </a:r>
            <a:endParaRPr lang="en-US" sz="800" dirty="0"/>
          </a:p>
        </p:txBody>
      </p:sp>
      <p:sp>
        <p:nvSpPr>
          <p:cNvPr id="5" name="Shape 2"/>
          <p:cNvSpPr/>
          <p:nvPr/>
        </p:nvSpPr>
        <p:spPr>
          <a:xfrm>
            <a:off x="761981" y="666733"/>
            <a:ext cx="190495" cy="19050"/>
          </a:xfrm>
          <a:prstGeom prst="rect">
            <a:avLst/>
          </a:prstGeom>
          <a:solidFill>
            <a:srgbClr val="FFF204"/>
          </a:solidFill>
          <a:ln w="12700">
            <a:solidFill>
              <a:srgbClr val="FFF204"/>
            </a:solidFill>
            <a:prstDash val="solid"/>
          </a:ln>
        </p:spPr>
      </p:sp>
      <p:sp>
        <p:nvSpPr>
          <p:cNvPr id="6" name="Text 3"/>
          <p:cNvSpPr txBox="1"/>
          <p:nvPr/>
        </p:nvSpPr>
        <p:spPr>
          <a:xfrm>
            <a:off x="1041374" y="609585"/>
            <a:ext cx="10388340" cy="152396"/>
          </a:xfrm>
          <a:prstGeom prst="rect">
            <a:avLst/>
          </a:prstGeom>
          <a:noFill/>
          <a:ln/>
        </p:spPr>
        <p:txBody>
          <a:bodyPr wrap="square" lIns="0" tIns="0" rIns="0" bIns="0" rtlCol="0" anchor="ctr"/>
          <a:lstStyle/>
          <a:p>
            <a:pPr indent="0" marL="0">
              <a:buNone/>
            </a:pPr>
            <a:r>
              <a:rPr lang="en-US" sz="1000" b="1" spc="500" kern="0" dirty="0">
                <a:solidFill>
                  <a:srgbClr val="FFF204"/>
                </a:solidFill>
                <a:latin typeface="Arial" pitchFamily="34" charset="0"/>
                <a:ea typeface="Arial" pitchFamily="34" charset="-122"/>
                <a:cs typeface="Arial" pitchFamily="34" charset="-120"/>
              </a:rPr>
              <a:t>SOURCES</a:t>
            </a:r>
            <a:pPr indent="0" marL="0">
              <a:buNone/>
            </a:pPr>
            <a:r>
              <a:rPr lang="en-US" sz="1000" b="1" spc="500" kern="0" dirty="0">
                <a:solidFill>
                  <a:srgbClr val="A6A6A6"/>
                </a:solidFill>
                <a:latin typeface="Arial" pitchFamily="34" charset="0"/>
                <a:ea typeface="Arial" pitchFamily="34" charset="-122"/>
                <a:cs typeface="Arial" pitchFamily="34" charset="-120"/>
              </a:rPr>
              <a:t>   ALL EXTERNAL FIGURES PUBLISHED IN 2026</a:t>
            </a:r>
            <a:endParaRPr lang="en-US" sz="1000" dirty="0"/>
          </a:p>
        </p:txBody>
      </p:sp>
      <p:sp>
        <p:nvSpPr>
          <p:cNvPr id="7" name="Text 4"/>
          <p:cNvSpPr txBox="1"/>
          <p:nvPr/>
        </p:nvSpPr>
        <p:spPr>
          <a:xfrm>
            <a:off x="761981" y="1117572"/>
            <a:ext cx="5079873" cy="546086"/>
          </a:xfrm>
          <a:prstGeom prst="rect">
            <a:avLst/>
          </a:prstGeom>
          <a:noFill/>
          <a:ln/>
        </p:spPr>
        <p:txBody>
          <a:bodyPr wrap="square" lIns="0" tIns="0" rIns="0" bIns="0" rtlCol="0" anchor="t"/>
          <a:lstStyle/>
          <a:p>
            <a:pPr indent="0" marL="0">
              <a:lnSpc>
                <a:spcPct val="115000"/>
              </a:lnSpc>
              <a:buNone/>
            </a:pPr>
            <a:r>
              <a:rPr lang="en-US" sz="950" b="1" dirty="0">
                <a:solidFill>
                  <a:srgbClr val="FFFFFF"/>
                </a:solidFill>
                <a:latin typeface="Arial" pitchFamily="34" charset="0"/>
                <a:ea typeface="Arial" pitchFamily="34" charset="-122"/>
                <a:cs typeface="Arial" pitchFamily="34" charset="-120"/>
              </a:rPr>
              <a:t>Designer Fund &amp; Foundation Capital, </a:t>
            </a:r>
            <a:pPr indent="0" marL="0">
              <a:lnSpc>
                <a:spcPct val="115000"/>
              </a:lnSpc>
              <a:buNone/>
            </a:pPr>
            <a:r>
              <a:rPr lang="en-US" sz="950" dirty="0">
                <a:solidFill>
                  <a:srgbClr val="C4C4C4"/>
                </a:solidFill>
                <a:latin typeface="Arial" pitchFamily="34" charset="0"/>
                <a:ea typeface="Arial" pitchFamily="34" charset="-122"/>
                <a:cs typeface="Arial" pitchFamily="34" charset="-120"/>
              </a:rPr>
              <a:t>AI in Design 2026: The Inflection Point Is Here, May 2026
</a:t>
            </a:r>
            <a:pPr indent="0" marL="0">
              <a:lnSpc>
                <a:spcPct val="115000"/>
              </a:lnSpc>
              <a:buNone/>
            </a:pPr>
            <a:r>
              <a:rPr lang="en-US" sz="750" dirty="0">
                <a:solidFill>
                  <a:srgbClr val="5C5C5C"/>
                </a:solidFill>
                <a:latin typeface="Arial" pitchFamily="34" charset="0"/>
                <a:ea typeface="Arial" pitchFamily="34" charset="-122"/>
                <a:cs typeface="Arial" pitchFamily="34" charset="-120"/>
              </a:rPr>
              <a:t>designerfund.substack.com/p/ai-in-design-2026-the-inflection</a:t>
            </a:r>
            <a:endParaRPr lang="en-US" sz="950" dirty="0"/>
          </a:p>
        </p:txBody>
      </p:sp>
      <p:sp>
        <p:nvSpPr>
          <p:cNvPr id="8" name="Shape 5"/>
          <p:cNvSpPr/>
          <p:nvPr/>
        </p:nvSpPr>
        <p:spPr>
          <a:xfrm>
            <a:off x="761981" y="1689058"/>
            <a:ext cx="5079873" cy="0"/>
          </a:xfrm>
          <a:prstGeom prst="line">
            <a:avLst/>
          </a:prstGeom>
          <a:noFill/>
          <a:ln w="6350">
            <a:solidFill>
              <a:srgbClr val="1A1A1A"/>
            </a:solidFill>
            <a:prstDash val="solid"/>
          </a:ln>
        </p:spPr>
      </p:sp>
      <p:sp>
        <p:nvSpPr>
          <p:cNvPr id="9" name="Text 6"/>
          <p:cNvSpPr txBox="1"/>
          <p:nvPr/>
        </p:nvSpPr>
        <p:spPr>
          <a:xfrm>
            <a:off x="761981" y="1727157"/>
            <a:ext cx="5079873" cy="546086"/>
          </a:xfrm>
          <a:prstGeom prst="rect">
            <a:avLst/>
          </a:prstGeom>
          <a:noFill/>
          <a:ln/>
        </p:spPr>
        <p:txBody>
          <a:bodyPr wrap="square" lIns="0" tIns="0" rIns="0" bIns="0" rtlCol="0" anchor="t"/>
          <a:lstStyle/>
          <a:p>
            <a:pPr indent="0" marL="0">
              <a:lnSpc>
                <a:spcPct val="115000"/>
              </a:lnSpc>
              <a:buNone/>
            </a:pPr>
            <a:r>
              <a:rPr lang="en-US" sz="950" b="1" dirty="0">
                <a:solidFill>
                  <a:srgbClr val="FFFFFF"/>
                </a:solidFill>
                <a:latin typeface="Arial" pitchFamily="34" charset="0"/>
                <a:ea typeface="Arial" pitchFamily="34" charset="-122"/>
                <a:cs typeface="Arial" pitchFamily="34" charset="-120"/>
              </a:rPr>
              <a:t>Figma, </a:t>
            </a:r>
            <a:pPr indent="0" marL="0">
              <a:lnSpc>
                <a:spcPct val="115000"/>
              </a:lnSpc>
              <a:buNone/>
            </a:pPr>
            <a:r>
              <a:rPr lang="en-US" sz="950" dirty="0">
                <a:solidFill>
                  <a:srgbClr val="C4C4C4"/>
                </a:solidFill>
                <a:latin typeface="Arial" pitchFamily="34" charset="0"/>
                <a:ea typeface="Arial" pitchFamily="34" charset="-122"/>
                <a:cs typeface="Arial" pitchFamily="34" charset="-120"/>
              </a:rPr>
              <a:t>Figma’s 2026 AI Report, June 2026
</a:t>
            </a:r>
            <a:pPr indent="0" marL="0">
              <a:lnSpc>
                <a:spcPct val="115000"/>
              </a:lnSpc>
              <a:buNone/>
            </a:pPr>
            <a:r>
              <a:rPr lang="en-US" sz="750" dirty="0">
                <a:solidFill>
                  <a:srgbClr val="5C5C5C"/>
                </a:solidFill>
                <a:latin typeface="Arial" pitchFamily="34" charset="0"/>
                <a:ea typeface="Arial" pitchFamily="34" charset="-122"/>
                <a:cs typeface="Arial" pitchFamily="34" charset="-120"/>
              </a:rPr>
              <a:t>figma.com/blog/2026-ai-report</a:t>
            </a:r>
            <a:endParaRPr lang="en-US" sz="950" dirty="0"/>
          </a:p>
        </p:txBody>
      </p:sp>
      <p:sp>
        <p:nvSpPr>
          <p:cNvPr id="10" name="Shape 7"/>
          <p:cNvSpPr/>
          <p:nvPr/>
        </p:nvSpPr>
        <p:spPr>
          <a:xfrm>
            <a:off x="761981" y="2298643"/>
            <a:ext cx="5079873" cy="0"/>
          </a:xfrm>
          <a:prstGeom prst="line">
            <a:avLst/>
          </a:prstGeom>
          <a:noFill/>
          <a:ln w="6350">
            <a:solidFill>
              <a:srgbClr val="1A1A1A"/>
            </a:solidFill>
            <a:prstDash val="solid"/>
          </a:ln>
        </p:spPr>
      </p:sp>
      <p:sp>
        <p:nvSpPr>
          <p:cNvPr id="11" name="Text 8"/>
          <p:cNvSpPr txBox="1"/>
          <p:nvPr/>
        </p:nvSpPr>
        <p:spPr>
          <a:xfrm>
            <a:off x="761981" y="2336742"/>
            <a:ext cx="5079873" cy="546086"/>
          </a:xfrm>
          <a:prstGeom prst="rect">
            <a:avLst/>
          </a:prstGeom>
          <a:noFill/>
          <a:ln/>
        </p:spPr>
        <p:txBody>
          <a:bodyPr wrap="square" lIns="0" tIns="0" rIns="0" bIns="0" rtlCol="0" anchor="t"/>
          <a:lstStyle/>
          <a:p>
            <a:pPr indent="0" marL="0">
              <a:lnSpc>
                <a:spcPct val="115000"/>
              </a:lnSpc>
              <a:buNone/>
            </a:pPr>
            <a:r>
              <a:rPr lang="en-US" sz="950" b="1" dirty="0">
                <a:solidFill>
                  <a:srgbClr val="FFFFFF"/>
                </a:solidFill>
                <a:latin typeface="Arial" pitchFamily="34" charset="0"/>
                <a:ea typeface="Arial" pitchFamily="34" charset="-122"/>
                <a:cs typeface="Arial" pitchFamily="34" charset="-120"/>
              </a:rPr>
              <a:t>Maze, </a:t>
            </a:r>
            <a:pPr indent="0" marL="0">
              <a:lnSpc>
                <a:spcPct val="115000"/>
              </a:lnSpc>
              <a:buNone/>
            </a:pPr>
            <a:r>
              <a:rPr lang="en-US" sz="950" dirty="0">
                <a:solidFill>
                  <a:srgbClr val="C4C4C4"/>
                </a:solidFill>
                <a:latin typeface="Arial" pitchFamily="34" charset="0"/>
                <a:ea typeface="Arial" pitchFamily="34" charset="-122"/>
                <a:cs typeface="Arial" pitchFamily="34" charset="-120"/>
              </a:rPr>
              <a:t>The Future of User Research Report 2026, March 2026
</a:t>
            </a:r>
            <a:pPr indent="0" marL="0">
              <a:lnSpc>
                <a:spcPct val="115000"/>
              </a:lnSpc>
              <a:buNone/>
            </a:pPr>
            <a:r>
              <a:rPr lang="en-US" sz="750" dirty="0">
                <a:solidFill>
                  <a:srgbClr val="5C5C5C"/>
                </a:solidFill>
                <a:latin typeface="Arial" pitchFamily="34" charset="0"/>
                <a:ea typeface="Arial" pitchFamily="34" charset="-122"/>
                <a:cs typeface="Arial" pitchFamily="34" charset="-120"/>
              </a:rPr>
              <a:t>maze.co/blog/future-user-research-2026</a:t>
            </a:r>
            <a:endParaRPr lang="en-US" sz="950" dirty="0"/>
          </a:p>
        </p:txBody>
      </p:sp>
      <p:sp>
        <p:nvSpPr>
          <p:cNvPr id="12" name="Shape 9"/>
          <p:cNvSpPr/>
          <p:nvPr/>
        </p:nvSpPr>
        <p:spPr>
          <a:xfrm>
            <a:off x="761981" y="2908227"/>
            <a:ext cx="5079873" cy="0"/>
          </a:xfrm>
          <a:prstGeom prst="line">
            <a:avLst/>
          </a:prstGeom>
          <a:noFill/>
          <a:ln w="6350">
            <a:solidFill>
              <a:srgbClr val="1A1A1A"/>
            </a:solidFill>
            <a:prstDash val="solid"/>
          </a:ln>
        </p:spPr>
      </p:sp>
      <p:sp>
        <p:nvSpPr>
          <p:cNvPr id="13" name="Text 10"/>
          <p:cNvSpPr txBox="1"/>
          <p:nvPr/>
        </p:nvSpPr>
        <p:spPr>
          <a:xfrm>
            <a:off x="761981" y="2946326"/>
            <a:ext cx="5079873" cy="546086"/>
          </a:xfrm>
          <a:prstGeom prst="rect">
            <a:avLst/>
          </a:prstGeom>
          <a:noFill/>
          <a:ln/>
        </p:spPr>
        <p:txBody>
          <a:bodyPr wrap="square" lIns="0" tIns="0" rIns="0" bIns="0" rtlCol="0" anchor="t"/>
          <a:lstStyle/>
          <a:p>
            <a:pPr indent="0" marL="0">
              <a:lnSpc>
                <a:spcPct val="115000"/>
              </a:lnSpc>
              <a:buNone/>
            </a:pPr>
            <a:r>
              <a:rPr lang="en-US" sz="950" b="1" dirty="0">
                <a:solidFill>
                  <a:srgbClr val="FFFFFF"/>
                </a:solidFill>
                <a:latin typeface="Arial" pitchFamily="34" charset="0"/>
                <a:ea typeface="Arial" pitchFamily="34" charset="-122"/>
                <a:cs typeface="Arial" pitchFamily="34" charset="-120"/>
              </a:rPr>
              <a:t>McKinsey &amp; QuantumBlack, </a:t>
            </a:r>
            <a:pPr indent="0" marL="0">
              <a:lnSpc>
                <a:spcPct val="115000"/>
              </a:lnSpc>
              <a:buNone/>
            </a:pPr>
            <a:r>
              <a:rPr lang="en-US" sz="950" dirty="0">
                <a:solidFill>
                  <a:srgbClr val="C4C4C4"/>
                </a:solidFill>
                <a:latin typeface="Arial" pitchFamily="34" charset="0"/>
                <a:ea typeface="Arial" pitchFamily="34" charset="-122"/>
                <a:cs typeface="Arial" pitchFamily="34" charset="-120"/>
              </a:rPr>
              <a:t>The State of AI in 2026: On the Road to ROI, August 2026
</a:t>
            </a:r>
            <a:pPr indent="0" marL="0">
              <a:lnSpc>
                <a:spcPct val="115000"/>
              </a:lnSpc>
              <a:buNone/>
            </a:pPr>
            <a:r>
              <a:rPr lang="en-US" sz="750" dirty="0">
                <a:solidFill>
                  <a:srgbClr val="5C5C5C"/>
                </a:solidFill>
                <a:latin typeface="Arial" pitchFamily="34" charset="0"/>
                <a:ea typeface="Arial" pitchFamily="34" charset="-122"/>
                <a:cs typeface="Arial" pitchFamily="34" charset="-120"/>
              </a:rPr>
              <a:t>mckinsey.com/capabilities/quantumblack/our-insights/the-state-of-ai</a:t>
            </a:r>
            <a:endParaRPr lang="en-US" sz="950" dirty="0"/>
          </a:p>
        </p:txBody>
      </p:sp>
      <p:sp>
        <p:nvSpPr>
          <p:cNvPr id="14" name="Shape 11"/>
          <p:cNvSpPr/>
          <p:nvPr/>
        </p:nvSpPr>
        <p:spPr>
          <a:xfrm>
            <a:off x="761981" y="3517812"/>
            <a:ext cx="5079873" cy="0"/>
          </a:xfrm>
          <a:prstGeom prst="line">
            <a:avLst/>
          </a:prstGeom>
          <a:noFill/>
          <a:ln w="6350">
            <a:solidFill>
              <a:srgbClr val="1A1A1A"/>
            </a:solidFill>
            <a:prstDash val="solid"/>
          </a:ln>
        </p:spPr>
      </p:sp>
      <p:sp>
        <p:nvSpPr>
          <p:cNvPr id="15" name="Text 12"/>
          <p:cNvSpPr txBox="1"/>
          <p:nvPr/>
        </p:nvSpPr>
        <p:spPr>
          <a:xfrm>
            <a:off x="761981" y="3555911"/>
            <a:ext cx="5079873" cy="546086"/>
          </a:xfrm>
          <a:prstGeom prst="rect">
            <a:avLst/>
          </a:prstGeom>
          <a:noFill/>
          <a:ln/>
        </p:spPr>
        <p:txBody>
          <a:bodyPr wrap="square" lIns="0" tIns="0" rIns="0" bIns="0" rtlCol="0" anchor="t"/>
          <a:lstStyle/>
          <a:p>
            <a:pPr indent="0" marL="0">
              <a:lnSpc>
                <a:spcPct val="115000"/>
              </a:lnSpc>
              <a:buNone/>
            </a:pPr>
            <a:r>
              <a:rPr lang="en-US" sz="950" b="1" dirty="0">
                <a:solidFill>
                  <a:srgbClr val="FFFFFF"/>
                </a:solidFill>
                <a:latin typeface="Arial" pitchFamily="34" charset="0"/>
                <a:ea typeface="Arial" pitchFamily="34" charset="-122"/>
                <a:cs typeface="Arial" pitchFamily="34" charset="-120"/>
              </a:rPr>
              <a:t>Gartner, </a:t>
            </a:r>
            <a:pPr indent="0" marL="0">
              <a:lnSpc>
                <a:spcPct val="115000"/>
              </a:lnSpc>
              <a:buNone/>
            </a:pPr>
            <a:r>
              <a:rPr lang="en-US" sz="950" dirty="0">
                <a:solidFill>
                  <a:srgbClr val="C4C4C4"/>
                </a:solidFill>
                <a:latin typeface="Arial" pitchFamily="34" charset="0"/>
                <a:ea typeface="Arial" pitchFamily="34" charset="-122"/>
                <a:cs typeface="Arial" pitchFamily="34" charset="-120"/>
              </a:rPr>
              <a:t>Consumer surveys on GenAI in brand content, March and June 2026
</a:t>
            </a:r>
            <a:pPr indent="0" marL="0">
              <a:lnSpc>
                <a:spcPct val="115000"/>
              </a:lnSpc>
              <a:buNone/>
            </a:pPr>
            <a:r>
              <a:rPr lang="en-US" sz="750" dirty="0">
                <a:solidFill>
                  <a:srgbClr val="5C5C5C"/>
                </a:solidFill>
                <a:latin typeface="Arial" pitchFamily="34" charset="0"/>
                <a:ea typeface="Arial" pitchFamily="34" charset="-122"/>
                <a:cs typeface="Arial" pitchFamily="34" charset="-120"/>
              </a:rPr>
              <a:t>gartner.com/en/newsroom</a:t>
            </a:r>
            <a:endParaRPr lang="en-US" sz="950" dirty="0"/>
          </a:p>
        </p:txBody>
      </p:sp>
      <p:sp>
        <p:nvSpPr>
          <p:cNvPr id="16" name="Shape 13"/>
          <p:cNvSpPr/>
          <p:nvPr/>
        </p:nvSpPr>
        <p:spPr>
          <a:xfrm>
            <a:off x="761981" y="4127397"/>
            <a:ext cx="5079873" cy="0"/>
          </a:xfrm>
          <a:prstGeom prst="line">
            <a:avLst/>
          </a:prstGeom>
          <a:noFill/>
          <a:ln w="6350">
            <a:solidFill>
              <a:srgbClr val="1A1A1A"/>
            </a:solidFill>
            <a:prstDash val="solid"/>
          </a:ln>
        </p:spPr>
      </p:sp>
      <p:sp>
        <p:nvSpPr>
          <p:cNvPr id="17" name="Text 14"/>
          <p:cNvSpPr txBox="1"/>
          <p:nvPr/>
        </p:nvSpPr>
        <p:spPr>
          <a:xfrm>
            <a:off x="6349841" y="1117572"/>
            <a:ext cx="5079873" cy="546086"/>
          </a:xfrm>
          <a:prstGeom prst="rect">
            <a:avLst/>
          </a:prstGeom>
          <a:noFill/>
          <a:ln/>
        </p:spPr>
        <p:txBody>
          <a:bodyPr wrap="square" lIns="0" tIns="0" rIns="0" bIns="0" rtlCol="0" anchor="t"/>
          <a:lstStyle/>
          <a:p>
            <a:pPr indent="0" marL="0">
              <a:lnSpc>
                <a:spcPct val="115000"/>
              </a:lnSpc>
              <a:buNone/>
            </a:pPr>
            <a:r>
              <a:rPr lang="en-US" sz="950" b="1" dirty="0">
                <a:solidFill>
                  <a:srgbClr val="FFFFFF"/>
                </a:solidFill>
                <a:latin typeface="Arial" pitchFamily="34" charset="0"/>
                <a:ea typeface="Arial" pitchFamily="34" charset="-122"/>
                <a:cs typeface="Arial" pitchFamily="34" charset="-120"/>
              </a:rPr>
              <a:t>BCG, </a:t>
            </a:r>
            <a:pPr indent="0" marL="0">
              <a:lnSpc>
                <a:spcPct val="115000"/>
              </a:lnSpc>
              <a:buNone/>
            </a:pPr>
            <a:r>
              <a:rPr lang="en-US" sz="950" dirty="0">
                <a:solidFill>
                  <a:srgbClr val="C4C4C4"/>
                </a:solidFill>
                <a:latin typeface="Arial" pitchFamily="34" charset="0"/>
                <a:ea typeface="Arial" pitchFamily="34" charset="-122"/>
                <a:cs typeface="Arial" pitchFamily="34" charset="-120"/>
              </a:rPr>
              <a:t>AI Radar 2026: As AI Investments Surge, CEOs Take the Lead, January 2026
</a:t>
            </a:r>
            <a:pPr indent="0" marL="0">
              <a:lnSpc>
                <a:spcPct val="115000"/>
              </a:lnSpc>
              <a:buNone/>
            </a:pPr>
            <a:r>
              <a:rPr lang="en-US" sz="750" dirty="0">
                <a:solidFill>
                  <a:srgbClr val="5C5C5C"/>
                </a:solidFill>
                <a:latin typeface="Arial" pitchFamily="34" charset="0"/>
                <a:ea typeface="Arial" pitchFamily="34" charset="-122"/>
                <a:cs typeface="Arial" pitchFamily="34" charset="-120"/>
              </a:rPr>
              <a:t>bcg.com/publications/2026/as-ai-investments-surge-ceos-take-the-lead</a:t>
            </a:r>
            <a:endParaRPr lang="en-US" sz="950" dirty="0"/>
          </a:p>
        </p:txBody>
      </p:sp>
      <p:sp>
        <p:nvSpPr>
          <p:cNvPr id="18" name="Shape 15"/>
          <p:cNvSpPr/>
          <p:nvPr/>
        </p:nvSpPr>
        <p:spPr>
          <a:xfrm>
            <a:off x="6349841" y="1689058"/>
            <a:ext cx="5079873" cy="0"/>
          </a:xfrm>
          <a:prstGeom prst="line">
            <a:avLst/>
          </a:prstGeom>
          <a:noFill/>
          <a:ln w="6350">
            <a:solidFill>
              <a:srgbClr val="1A1A1A"/>
            </a:solidFill>
            <a:prstDash val="solid"/>
          </a:ln>
        </p:spPr>
      </p:sp>
      <p:sp>
        <p:nvSpPr>
          <p:cNvPr id="19" name="Text 16"/>
          <p:cNvSpPr txBox="1"/>
          <p:nvPr/>
        </p:nvSpPr>
        <p:spPr>
          <a:xfrm>
            <a:off x="6349841" y="1727157"/>
            <a:ext cx="5079873" cy="546086"/>
          </a:xfrm>
          <a:prstGeom prst="rect">
            <a:avLst/>
          </a:prstGeom>
          <a:noFill/>
          <a:ln/>
        </p:spPr>
        <p:txBody>
          <a:bodyPr wrap="square" lIns="0" tIns="0" rIns="0" bIns="0" rtlCol="0" anchor="t"/>
          <a:lstStyle/>
          <a:p>
            <a:pPr indent="0" marL="0">
              <a:lnSpc>
                <a:spcPct val="115000"/>
              </a:lnSpc>
              <a:buNone/>
            </a:pPr>
            <a:r>
              <a:rPr lang="en-US" sz="950" b="1" dirty="0">
                <a:solidFill>
                  <a:srgbClr val="FFFFFF"/>
                </a:solidFill>
                <a:latin typeface="Arial" pitchFamily="34" charset="0"/>
                <a:ea typeface="Arial" pitchFamily="34" charset="-122"/>
                <a:cs typeface="Arial" pitchFamily="34" charset="-120"/>
              </a:rPr>
              <a:t>Stanford HAI, </a:t>
            </a:r>
            <a:pPr indent="0" marL="0">
              <a:lnSpc>
                <a:spcPct val="115000"/>
              </a:lnSpc>
              <a:buNone/>
            </a:pPr>
            <a:r>
              <a:rPr lang="en-US" sz="950" dirty="0">
                <a:solidFill>
                  <a:srgbClr val="C4C4C4"/>
                </a:solidFill>
                <a:latin typeface="Arial" pitchFamily="34" charset="0"/>
                <a:ea typeface="Arial" pitchFamily="34" charset="-122"/>
                <a:cs typeface="Arial" pitchFamily="34" charset="-120"/>
              </a:rPr>
              <a:t>The 2026 AI Index Report, April 2026
</a:t>
            </a:r>
            <a:pPr indent="0" marL="0">
              <a:lnSpc>
                <a:spcPct val="115000"/>
              </a:lnSpc>
              <a:buNone/>
            </a:pPr>
            <a:r>
              <a:rPr lang="en-US" sz="750" dirty="0">
                <a:solidFill>
                  <a:srgbClr val="5C5C5C"/>
                </a:solidFill>
                <a:latin typeface="Arial" pitchFamily="34" charset="0"/>
                <a:ea typeface="Arial" pitchFamily="34" charset="-122"/>
                <a:cs typeface="Arial" pitchFamily="34" charset="-120"/>
              </a:rPr>
              <a:t>hai.stanford.edu/news/inside-the-ai-index-12-takeaways-from-the-2026-report</a:t>
            </a:r>
            <a:endParaRPr lang="en-US" sz="950" dirty="0"/>
          </a:p>
        </p:txBody>
      </p:sp>
      <p:sp>
        <p:nvSpPr>
          <p:cNvPr id="20" name="Shape 17"/>
          <p:cNvSpPr/>
          <p:nvPr/>
        </p:nvSpPr>
        <p:spPr>
          <a:xfrm>
            <a:off x="6349841" y="2298643"/>
            <a:ext cx="5079873" cy="0"/>
          </a:xfrm>
          <a:prstGeom prst="line">
            <a:avLst/>
          </a:prstGeom>
          <a:noFill/>
          <a:ln w="6350">
            <a:solidFill>
              <a:srgbClr val="1A1A1A"/>
            </a:solidFill>
            <a:prstDash val="solid"/>
          </a:ln>
        </p:spPr>
      </p:sp>
      <p:sp>
        <p:nvSpPr>
          <p:cNvPr id="21" name="Text 18"/>
          <p:cNvSpPr txBox="1"/>
          <p:nvPr/>
        </p:nvSpPr>
        <p:spPr>
          <a:xfrm>
            <a:off x="6349841" y="2336742"/>
            <a:ext cx="5079873" cy="546086"/>
          </a:xfrm>
          <a:prstGeom prst="rect">
            <a:avLst/>
          </a:prstGeom>
          <a:noFill/>
          <a:ln/>
        </p:spPr>
        <p:txBody>
          <a:bodyPr wrap="square" lIns="0" tIns="0" rIns="0" bIns="0" rtlCol="0" anchor="t"/>
          <a:lstStyle/>
          <a:p>
            <a:pPr indent="0" marL="0">
              <a:lnSpc>
                <a:spcPct val="115000"/>
              </a:lnSpc>
              <a:buNone/>
            </a:pPr>
            <a:r>
              <a:rPr lang="en-US" sz="950" b="1" dirty="0">
                <a:solidFill>
                  <a:srgbClr val="FFFFFF"/>
                </a:solidFill>
                <a:latin typeface="Arial" pitchFamily="34" charset="0"/>
                <a:ea typeface="Arial" pitchFamily="34" charset="-122"/>
                <a:cs typeface="Arial" pitchFamily="34" charset="-120"/>
              </a:rPr>
              <a:t>Adobe, </a:t>
            </a:r>
            <a:pPr indent="0" marL="0">
              <a:lnSpc>
                <a:spcPct val="115000"/>
              </a:lnSpc>
              <a:buNone/>
            </a:pPr>
            <a:r>
              <a:rPr lang="en-US" sz="950" dirty="0">
                <a:solidFill>
                  <a:srgbClr val="C4C4C4"/>
                </a:solidFill>
                <a:latin typeface="Arial" pitchFamily="34" charset="0"/>
                <a:ea typeface="Arial" pitchFamily="34" charset="-122"/>
                <a:cs typeface="Arial" pitchFamily="34" charset="-120"/>
              </a:rPr>
              <a:t>2026 AI and Digital Trends Report, February 2026
</a:t>
            </a:r>
            <a:pPr indent="0" marL="0">
              <a:lnSpc>
                <a:spcPct val="115000"/>
              </a:lnSpc>
              <a:buNone/>
            </a:pPr>
            <a:r>
              <a:rPr lang="en-US" sz="750" dirty="0">
                <a:solidFill>
                  <a:srgbClr val="5C5C5C"/>
                </a:solidFill>
                <a:latin typeface="Arial" pitchFamily="34" charset="0"/>
                <a:ea typeface="Arial" pitchFamily="34" charset="-122"/>
                <a:cs typeface="Arial" pitchFamily="34" charset="-120"/>
              </a:rPr>
              <a:t>business.adobe.com/resources/digital-trends-report.html</a:t>
            </a:r>
            <a:endParaRPr lang="en-US" sz="950" dirty="0"/>
          </a:p>
        </p:txBody>
      </p:sp>
      <p:sp>
        <p:nvSpPr>
          <p:cNvPr id="22" name="Shape 19"/>
          <p:cNvSpPr/>
          <p:nvPr/>
        </p:nvSpPr>
        <p:spPr>
          <a:xfrm>
            <a:off x="6349841" y="2908227"/>
            <a:ext cx="5079873" cy="0"/>
          </a:xfrm>
          <a:prstGeom prst="line">
            <a:avLst/>
          </a:prstGeom>
          <a:noFill/>
          <a:ln w="6350">
            <a:solidFill>
              <a:srgbClr val="1A1A1A"/>
            </a:solidFill>
            <a:prstDash val="solid"/>
          </a:ln>
        </p:spPr>
      </p:sp>
      <p:sp>
        <p:nvSpPr>
          <p:cNvPr id="23" name="Text 20"/>
          <p:cNvSpPr txBox="1"/>
          <p:nvPr/>
        </p:nvSpPr>
        <p:spPr>
          <a:xfrm>
            <a:off x="6349841" y="2946326"/>
            <a:ext cx="5079873" cy="546086"/>
          </a:xfrm>
          <a:prstGeom prst="rect">
            <a:avLst/>
          </a:prstGeom>
          <a:noFill/>
          <a:ln/>
        </p:spPr>
        <p:txBody>
          <a:bodyPr wrap="square" lIns="0" tIns="0" rIns="0" bIns="0" rtlCol="0" anchor="t"/>
          <a:lstStyle/>
          <a:p>
            <a:pPr indent="0" marL="0">
              <a:lnSpc>
                <a:spcPct val="115000"/>
              </a:lnSpc>
              <a:buNone/>
            </a:pPr>
            <a:r>
              <a:rPr lang="en-US" sz="950" b="1" dirty="0">
                <a:solidFill>
                  <a:srgbClr val="FFFFFF"/>
                </a:solidFill>
                <a:latin typeface="Arial" pitchFamily="34" charset="0"/>
                <a:ea typeface="Arial" pitchFamily="34" charset="-122"/>
                <a:cs typeface="Arial" pitchFamily="34" charset="-120"/>
              </a:rPr>
              <a:t>DDX, </a:t>
            </a:r>
            <a:pPr indent="0" marL="0">
              <a:lnSpc>
                <a:spcPct val="115000"/>
              </a:lnSpc>
              <a:buNone/>
            </a:pPr>
            <a:r>
              <a:rPr lang="en-US" sz="950" dirty="0">
                <a:solidFill>
                  <a:srgbClr val="C4C4C4"/>
                </a:solidFill>
                <a:latin typeface="Arial" pitchFamily="34" charset="0"/>
                <a:ea typeface="Arial" pitchFamily="34" charset="-122"/>
                <a:cs typeface="Arial" pitchFamily="34" charset="-120"/>
              </a:rPr>
              <a:t>Programme and roles as published at ddxconference.com/sd-agenda; speaker statements from their DDX submissions.
</a:t>
            </a:r>
            <a:pPr indent="0" marL="0">
              <a:lnSpc>
                <a:spcPct val="115000"/>
              </a:lnSpc>
              <a:buNone/>
            </a:pPr>
            <a:endParaRPr lang="en-US" sz="950" dirty="0"/>
          </a:p>
        </p:txBody>
      </p:sp>
      <p:sp>
        <p:nvSpPr>
          <p:cNvPr id="24" name="Shape 21"/>
          <p:cNvSpPr/>
          <p:nvPr/>
        </p:nvSpPr>
        <p:spPr>
          <a:xfrm>
            <a:off x="6349841" y="3517812"/>
            <a:ext cx="5079873" cy="0"/>
          </a:xfrm>
          <a:prstGeom prst="line">
            <a:avLst/>
          </a:prstGeom>
          <a:noFill/>
          <a:ln w="6350">
            <a:solidFill>
              <a:srgbClr val="1A1A1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DDX'26 San Diego — Recap</dc:title>
  <dc:subject>PptxGenJS Presentation</dc:subject>
  <dc:creator>FastForward Global</dc:creator>
  <cp:lastModifiedBy>FastForward Global</cp:lastModifiedBy>
  <cp:revision>1</cp:revision>
  <dcterms:created xsi:type="dcterms:W3CDTF">2026-09-28T01:15:31Z</dcterms:created>
  <dcterms:modified xsi:type="dcterms:W3CDTF">2026-09-28T01:15:31Z</dcterms:modified>
</cp:coreProperties>
</file>